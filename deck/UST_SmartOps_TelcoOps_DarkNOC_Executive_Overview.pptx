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  <p:sldMasterId id="2147483770" r:id="rId3"/>
  </p:sldMasterIdLst>
  <p:notesMasterIdLst>
    <p:notesMasterId r:id="rId17"/>
  </p:notesMasterIdLst>
  <p:sldIdLst>
    <p:sldId id="53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53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4EB2B-E88F-464D-8A24-8C83D9EA0649}" v="19" dt="2026-08-26T04:19:12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Ramkumar(UST,IN)" userId="327432a4-1ff0-49be-8be9-5a9acd033f81" providerId="ADAL" clId="{9D980648-C01E-4771-9E5D-04953EF3C2D8}"/>
    <pc:docChg chg="custSel mod addSld delSld modSld modMainMaster">
      <pc:chgData name="Sandeep Ramkumar(UST,IN)" userId="327432a4-1ff0-49be-8be9-5a9acd033f81" providerId="ADAL" clId="{9D980648-C01E-4771-9E5D-04953EF3C2D8}" dt="2026-08-26T04:20:10.062" v="86" actId="20577"/>
      <pc:docMkLst>
        <pc:docMk/>
      </pc:docMkLst>
      <pc:sldChg chg="modSp del mod">
        <pc:chgData name="Sandeep Ramkumar(UST,IN)" userId="327432a4-1ff0-49be-8be9-5a9acd033f81" providerId="ADAL" clId="{9D980648-C01E-4771-9E5D-04953EF3C2D8}" dt="2026-08-26T04:16:43.807" v="40" actId="47"/>
        <pc:sldMkLst>
          <pc:docMk/>
          <pc:sldMk cId="0" sldId="256"/>
        </pc:sldMkLst>
        <pc:spChg chg="mod">
          <ac:chgData name="Sandeep Ramkumar(UST,IN)" userId="327432a4-1ff0-49be-8be9-5a9acd033f81" providerId="ADAL" clId="{9D980648-C01E-4771-9E5D-04953EF3C2D8}" dt="2026-08-26T04:10:22.285" v="23" actId="14100"/>
          <ac:spMkLst>
            <pc:docMk/>
            <pc:sldMk cId="0" sldId="256"/>
            <ac:spMk id="7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7:15.022" v="43" actId="478"/>
        <pc:sldMkLst>
          <pc:docMk/>
          <pc:sldMk cId="0" sldId="257"/>
        </pc:sldMkLst>
        <pc:spChg chg="del">
          <ac:chgData name="Sandeep Ramkumar(UST,IN)" userId="327432a4-1ff0-49be-8be9-5a9acd033f81" providerId="ADAL" clId="{9D980648-C01E-4771-9E5D-04953EF3C2D8}" dt="2026-08-26T04:17:10.933" v="42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7:15.022" v="43" actId="478"/>
          <ac:spMkLst>
            <pc:docMk/>
            <pc:sldMk cId="0" sldId="257"/>
            <ac:spMk id="23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38.062" v="63" actId="478"/>
        <pc:sldMkLst>
          <pc:docMk/>
          <pc:sldMk cId="0" sldId="258"/>
        </pc:sldMkLst>
        <pc:spChg chg="del">
          <ac:chgData name="Sandeep Ramkumar(UST,IN)" userId="327432a4-1ff0-49be-8be9-5a9acd033f81" providerId="ADAL" clId="{9D980648-C01E-4771-9E5D-04953EF3C2D8}" dt="2026-08-26T04:18:38.062" v="63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38.062" v="63" actId="478"/>
          <ac:spMkLst>
            <pc:docMk/>
            <pc:sldMk cId="0" sldId="258"/>
            <ac:spMk id="31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32.354" v="62" actId="478"/>
        <pc:sldMkLst>
          <pc:docMk/>
          <pc:sldMk cId="0" sldId="259"/>
        </pc:sldMkLst>
        <pc:spChg chg="del">
          <ac:chgData name="Sandeep Ramkumar(UST,IN)" userId="327432a4-1ff0-49be-8be9-5a9acd033f81" providerId="ADAL" clId="{9D980648-C01E-4771-9E5D-04953EF3C2D8}" dt="2026-08-26T04:18:32.354" v="62" actId="478"/>
          <ac:spMkLst>
            <pc:docMk/>
            <pc:sldMk cId="0" sldId="259"/>
            <ac:spMk id="50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32.354" v="62" actId="478"/>
          <ac:spMkLst>
            <pc:docMk/>
            <pc:sldMk cId="0" sldId="259"/>
            <ac:spMk id="51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28.284" v="61" actId="478"/>
        <pc:sldMkLst>
          <pc:docMk/>
          <pc:sldMk cId="0" sldId="260"/>
        </pc:sldMkLst>
        <pc:spChg chg="del">
          <ac:chgData name="Sandeep Ramkumar(UST,IN)" userId="327432a4-1ff0-49be-8be9-5a9acd033f81" providerId="ADAL" clId="{9D980648-C01E-4771-9E5D-04953EF3C2D8}" dt="2026-08-26T04:18:28.284" v="61" actId="478"/>
          <ac:spMkLst>
            <pc:docMk/>
            <pc:sldMk cId="0" sldId="260"/>
            <ac:spMk id="46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28.284" v="61" actId="478"/>
          <ac:spMkLst>
            <pc:docMk/>
            <pc:sldMk cId="0" sldId="260"/>
            <ac:spMk id="47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24.251" v="60" actId="478"/>
        <pc:sldMkLst>
          <pc:docMk/>
          <pc:sldMk cId="0" sldId="261"/>
        </pc:sldMkLst>
        <pc:spChg chg="del">
          <ac:chgData name="Sandeep Ramkumar(UST,IN)" userId="327432a4-1ff0-49be-8be9-5a9acd033f81" providerId="ADAL" clId="{9D980648-C01E-4771-9E5D-04953EF3C2D8}" dt="2026-08-26T04:18:24.251" v="60" actId="478"/>
          <ac:spMkLst>
            <pc:docMk/>
            <pc:sldMk cId="0" sldId="261"/>
            <ac:spMk id="50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24.251" v="60" actId="478"/>
          <ac:spMkLst>
            <pc:docMk/>
            <pc:sldMk cId="0" sldId="261"/>
            <ac:spMk id="51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16.745" v="59" actId="478"/>
        <pc:sldMkLst>
          <pc:docMk/>
          <pc:sldMk cId="0" sldId="262"/>
        </pc:sldMkLst>
        <pc:spChg chg="del">
          <ac:chgData name="Sandeep Ramkumar(UST,IN)" userId="327432a4-1ff0-49be-8be9-5a9acd033f81" providerId="ADAL" clId="{9D980648-C01E-4771-9E5D-04953EF3C2D8}" dt="2026-08-26T04:18:16.745" v="59" actId="478"/>
          <ac:spMkLst>
            <pc:docMk/>
            <pc:sldMk cId="0" sldId="262"/>
            <ac:spMk id="50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16.745" v="59" actId="478"/>
          <ac:spMkLst>
            <pc:docMk/>
            <pc:sldMk cId="0" sldId="262"/>
            <ac:spMk id="51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12.209" v="58" actId="478"/>
        <pc:sldMkLst>
          <pc:docMk/>
          <pc:sldMk cId="0" sldId="263"/>
        </pc:sldMkLst>
        <pc:spChg chg="del">
          <ac:chgData name="Sandeep Ramkumar(UST,IN)" userId="327432a4-1ff0-49be-8be9-5a9acd033f81" providerId="ADAL" clId="{9D980648-C01E-4771-9E5D-04953EF3C2D8}" dt="2026-08-26T04:18:12.209" v="58" actId="478"/>
          <ac:spMkLst>
            <pc:docMk/>
            <pc:sldMk cId="0" sldId="263"/>
            <ac:spMk id="48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12.209" v="58" actId="478"/>
          <ac:spMkLst>
            <pc:docMk/>
            <pc:sldMk cId="0" sldId="263"/>
            <ac:spMk id="49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06.651" v="57" actId="478"/>
        <pc:sldMkLst>
          <pc:docMk/>
          <pc:sldMk cId="0" sldId="264"/>
        </pc:sldMkLst>
        <pc:spChg chg="del">
          <ac:chgData name="Sandeep Ramkumar(UST,IN)" userId="327432a4-1ff0-49be-8be9-5a9acd033f81" providerId="ADAL" clId="{9D980648-C01E-4771-9E5D-04953EF3C2D8}" dt="2026-08-26T04:18:06.651" v="57" actId="478"/>
          <ac:spMkLst>
            <pc:docMk/>
            <pc:sldMk cId="0" sldId="264"/>
            <ac:spMk id="50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06.651" v="57" actId="478"/>
          <ac:spMkLst>
            <pc:docMk/>
            <pc:sldMk cId="0" sldId="264"/>
            <ac:spMk id="51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8:01.771" v="56" actId="478"/>
        <pc:sldMkLst>
          <pc:docMk/>
          <pc:sldMk cId="0" sldId="265"/>
        </pc:sldMkLst>
        <pc:spChg chg="del">
          <ac:chgData name="Sandeep Ramkumar(UST,IN)" userId="327432a4-1ff0-49be-8be9-5a9acd033f81" providerId="ADAL" clId="{9D980648-C01E-4771-9E5D-04953EF3C2D8}" dt="2026-08-26T04:18:01.771" v="56" actId="478"/>
          <ac:spMkLst>
            <pc:docMk/>
            <pc:sldMk cId="0" sldId="265"/>
            <ac:spMk id="46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8:01.771" v="56" actId="478"/>
          <ac:spMkLst>
            <pc:docMk/>
            <pc:sldMk cId="0" sldId="265"/>
            <ac:spMk id="47" creationId="{00000000-0000-0000-0000-000000000000}"/>
          </ac:spMkLst>
        </pc:spChg>
      </pc:sldChg>
      <pc:sldChg chg="delSp mod setBg">
        <pc:chgData name="Sandeep Ramkumar(UST,IN)" userId="327432a4-1ff0-49be-8be9-5a9acd033f81" providerId="ADAL" clId="{9D980648-C01E-4771-9E5D-04953EF3C2D8}" dt="2026-08-26T04:17:57.042" v="55" actId="478"/>
        <pc:sldMkLst>
          <pc:docMk/>
          <pc:sldMk cId="0" sldId="266"/>
        </pc:sldMkLst>
        <pc:spChg chg="del">
          <ac:chgData name="Sandeep Ramkumar(UST,IN)" userId="327432a4-1ff0-49be-8be9-5a9acd033f81" providerId="ADAL" clId="{9D980648-C01E-4771-9E5D-04953EF3C2D8}" dt="2026-08-26T04:17:57.042" v="55" actId="478"/>
          <ac:spMkLst>
            <pc:docMk/>
            <pc:sldMk cId="0" sldId="266"/>
            <ac:spMk id="38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7:57.042" v="55" actId="478"/>
          <ac:spMkLst>
            <pc:docMk/>
            <pc:sldMk cId="0" sldId="266"/>
            <ac:spMk id="39" creationId="{00000000-0000-0000-0000-000000000000}"/>
          </ac:spMkLst>
        </pc:spChg>
      </pc:sldChg>
      <pc:sldChg chg="addSp delSp modSp mod setBg">
        <pc:chgData name="Sandeep Ramkumar(UST,IN)" userId="327432a4-1ff0-49be-8be9-5a9acd033f81" providerId="ADAL" clId="{9D980648-C01E-4771-9E5D-04953EF3C2D8}" dt="2026-08-26T04:17:52.440" v="54" actId="478"/>
        <pc:sldMkLst>
          <pc:docMk/>
          <pc:sldMk cId="0" sldId="267"/>
        </pc:sldMkLst>
        <pc:spChg chg="del">
          <ac:chgData name="Sandeep Ramkumar(UST,IN)" userId="327432a4-1ff0-49be-8be9-5a9acd033f81" providerId="ADAL" clId="{9D980648-C01E-4771-9E5D-04953EF3C2D8}" dt="2026-08-26T04:17:52.440" v="54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Sandeep Ramkumar(UST,IN)" userId="327432a4-1ff0-49be-8be9-5a9acd033f81" providerId="ADAL" clId="{9D980648-C01E-4771-9E5D-04953EF3C2D8}" dt="2026-08-26T04:17:52.440" v="54" actId="478"/>
          <ac:spMkLst>
            <pc:docMk/>
            <pc:sldMk cId="0" sldId="267"/>
            <ac:spMk id="6" creationId="{00000000-0000-0000-0000-000000000000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9" creationId="{9E4EB12E-BC39-226F-ADA6-993C0B4B7BDE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01" creationId="{D8A30DD4-E404-AD9B-A9EE-E2D120827452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08" creationId="{703C7F07-39DA-4CFF-31EC-1CA62D01CAB4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10" creationId="{E96CB6E4-6B37-9DDF-F862-BF131BCE6CB1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12" creationId="{35120E4F-B063-5A96-266A-5A951C00C12C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22" creationId="{9DFCE9BE-B097-8667-6B7A-CFE618B11ED4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36" creationId="{486800FC-1B18-059F-9C92-30F3CF25C6EF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37" creationId="{F6760552-D3CE-72A2-07E1-49298DA0B198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46" creationId="{9BBC3785-1E01-88B8-C18F-DBBB0D13EE1E}"/>
          </ac:spMkLst>
        </pc:spChg>
        <pc:spChg chg="mod">
          <ac:chgData name="Sandeep Ramkumar(UST,IN)" userId="327432a4-1ff0-49be-8be9-5a9acd033f81" providerId="ADAL" clId="{9D980648-C01E-4771-9E5D-04953EF3C2D8}" dt="2026-08-26T04:11:57.665" v="26"/>
          <ac:spMkLst>
            <pc:docMk/>
            <pc:sldMk cId="0" sldId="267"/>
            <ac:spMk id="151" creationId="{C76F772A-CAA8-E9BB-BFF0-7443427E67C0}"/>
          </ac:spMkLst>
        </pc:spChg>
        <pc:grpChg chg="mod">
          <ac:chgData name="Sandeep Ramkumar(UST,IN)" userId="327432a4-1ff0-49be-8be9-5a9acd033f81" providerId="ADAL" clId="{9D980648-C01E-4771-9E5D-04953EF3C2D8}" dt="2026-08-26T04:12:06.222" v="27" actId="1076"/>
          <ac:grpSpMkLst>
            <pc:docMk/>
            <pc:sldMk cId="0" sldId="267"/>
            <ac:grpSpMk id="7" creationId="{C592E270-CB01-A668-5CC9-4CCBCED35DEB}"/>
          </ac:grpSpMkLst>
        </pc:grpChg>
        <pc:picChg chg="del">
          <ac:chgData name="Sandeep Ramkumar(UST,IN)" userId="327432a4-1ff0-49be-8be9-5a9acd033f81" providerId="ADAL" clId="{9D980648-C01E-4771-9E5D-04953EF3C2D8}" dt="2026-08-26T04:11:43.875" v="24" actId="478"/>
          <ac:picMkLst>
            <pc:docMk/>
            <pc:sldMk cId="0" sldId="267"/>
            <ac:picMk id="2" creationId="{00000000-0000-0000-0000-000000000000}"/>
          </ac:picMkLst>
        </pc:picChg>
      </pc:sldChg>
      <pc:sldChg chg="add del">
        <pc:chgData name="Sandeep Ramkumar(UST,IN)" userId="327432a4-1ff0-49be-8be9-5a9acd033f81" providerId="ADAL" clId="{9D980648-C01E-4771-9E5D-04953EF3C2D8}" dt="2026-08-26T04:12:10.834" v="28" actId="47"/>
        <pc:sldMkLst>
          <pc:docMk/>
          <pc:sldMk cId="0" sldId="268"/>
        </pc:sldMkLst>
      </pc:sldChg>
      <pc:sldChg chg="modSp add mod">
        <pc:chgData name="Sandeep Ramkumar(UST,IN)" userId="327432a4-1ff0-49be-8be9-5a9acd033f81" providerId="ADAL" clId="{9D980648-C01E-4771-9E5D-04953EF3C2D8}" dt="2026-08-26T04:20:10.062" v="86" actId="20577"/>
        <pc:sldMkLst>
          <pc:docMk/>
          <pc:sldMk cId="1351620829" sldId="537"/>
        </pc:sldMkLst>
        <pc:spChg chg="mod">
          <ac:chgData name="Sandeep Ramkumar(UST,IN)" userId="327432a4-1ff0-49be-8be9-5a9acd033f81" providerId="ADAL" clId="{9D980648-C01E-4771-9E5D-04953EF3C2D8}" dt="2026-08-26T04:20:10.062" v="86" actId="20577"/>
          <ac:spMkLst>
            <pc:docMk/>
            <pc:sldMk cId="1351620829" sldId="537"/>
            <ac:spMk id="2" creationId="{5D0BA211-68A0-48D6-9E7F-4E1EB4D3136F}"/>
          </ac:spMkLst>
        </pc:spChg>
      </pc:sldChg>
      <pc:sldChg chg="modSp add mod">
        <pc:chgData name="Sandeep Ramkumar(UST,IN)" userId="327432a4-1ff0-49be-8be9-5a9acd033f81" providerId="ADAL" clId="{9D980648-C01E-4771-9E5D-04953EF3C2D8}" dt="2026-08-26T04:16:28.905" v="39"/>
        <pc:sldMkLst>
          <pc:docMk/>
          <pc:sldMk cId="1452255833" sldId="538"/>
        </pc:sldMkLst>
        <pc:spChg chg="mod">
          <ac:chgData name="Sandeep Ramkumar(UST,IN)" userId="327432a4-1ff0-49be-8be9-5a9acd033f81" providerId="ADAL" clId="{9D980648-C01E-4771-9E5D-04953EF3C2D8}" dt="2026-08-26T04:15:56.587" v="31"/>
          <ac:spMkLst>
            <pc:docMk/>
            <pc:sldMk cId="1452255833" sldId="538"/>
            <ac:spMk id="3" creationId="{18076B2A-1B35-0BEF-FA39-386E31137650}"/>
          </ac:spMkLst>
        </pc:spChg>
        <pc:spChg chg="mod">
          <ac:chgData name="Sandeep Ramkumar(UST,IN)" userId="327432a4-1ff0-49be-8be9-5a9acd033f81" providerId="ADAL" clId="{9D980648-C01E-4771-9E5D-04953EF3C2D8}" dt="2026-08-26T04:16:15.936" v="38" actId="20577"/>
          <ac:spMkLst>
            <pc:docMk/>
            <pc:sldMk cId="1452255833" sldId="538"/>
            <ac:spMk id="4" creationId="{84576FC3-6715-C015-4331-811AFEDB24B0}"/>
          </ac:spMkLst>
        </pc:spChg>
        <pc:spChg chg="mod">
          <ac:chgData name="Sandeep Ramkumar(UST,IN)" userId="327432a4-1ff0-49be-8be9-5a9acd033f81" providerId="ADAL" clId="{9D980648-C01E-4771-9E5D-04953EF3C2D8}" dt="2026-08-26T04:16:28.905" v="39"/>
          <ac:spMkLst>
            <pc:docMk/>
            <pc:sldMk cId="1452255833" sldId="538"/>
            <ac:spMk id="5" creationId="{38532694-F018-8DEE-9AC9-6B0521C51B81}"/>
          </ac:spMkLst>
        </pc:spChg>
      </pc:sldChg>
      <pc:sldMasterChg chg="modSp mod modSldLayout">
        <pc:chgData name="Sandeep Ramkumar(UST,IN)" userId="327432a4-1ff0-49be-8be9-5a9acd033f81" providerId="ADAL" clId="{9D980648-C01E-4771-9E5D-04953EF3C2D8}" dt="2026-08-26T04:19:26.214" v="67" actId="20577"/>
        <pc:sldMasterMkLst>
          <pc:docMk/>
          <pc:sldMasterMk cId="3638078871" sldId="2147483770"/>
        </pc:sldMasterMkLst>
        <pc:spChg chg="mod">
          <ac:chgData name="Sandeep Ramkumar(UST,IN)" userId="327432a4-1ff0-49be-8be9-5a9acd033f81" providerId="ADAL" clId="{9D980648-C01E-4771-9E5D-04953EF3C2D8}" dt="2026-08-26T04:19:26.214" v="67" actId="20577"/>
          <ac:spMkLst>
            <pc:docMk/>
            <pc:sldMasterMk cId="3638078871" sldId="2147483770"/>
            <ac:spMk id="8" creationId="{4CF0DBC0-0449-664B-8AD9-C52EDB6E5938}"/>
          </ac:spMkLst>
        </pc:spChg>
        <pc:sldLayoutChg chg="addSp">
          <pc:chgData name="Sandeep Ramkumar(UST,IN)" userId="327432a4-1ff0-49be-8be9-5a9acd033f81" providerId="ADAL" clId="{9D980648-C01E-4771-9E5D-04953EF3C2D8}" dt="2026-08-26T04:17:06.761" v="41"/>
          <pc:sldLayoutMkLst>
            <pc:docMk/>
            <pc:sldMasterMk cId="3638078871" sldId="2147483770"/>
            <pc:sldLayoutMk cId="4293020345" sldId="2147483885"/>
          </pc:sldLayoutMkLst>
          <pc:spChg chg="add">
            <ac:chgData name="Sandeep Ramkumar(UST,IN)" userId="327432a4-1ff0-49be-8be9-5a9acd033f81" providerId="ADAL" clId="{9D980648-C01E-4771-9E5D-04953EF3C2D8}" dt="2026-08-26T04:17:06.761" v="41"/>
            <ac:spMkLst>
              <pc:docMk/>
              <pc:sldMasterMk cId="3638078871" sldId="2147483770"/>
              <pc:sldLayoutMk cId="4293020345" sldId="2147483885"/>
              <ac:spMk id="2" creationId="{3127B9E4-E383-624F-4C27-9F8604298BEA}"/>
            </ac:spMkLst>
          </pc:spChg>
          <pc:spChg chg="add">
            <ac:chgData name="Sandeep Ramkumar(UST,IN)" userId="327432a4-1ff0-49be-8be9-5a9acd033f81" providerId="ADAL" clId="{9D980648-C01E-4771-9E5D-04953EF3C2D8}" dt="2026-08-26T04:17:06.761" v="41"/>
            <ac:spMkLst>
              <pc:docMk/>
              <pc:sldMasterMk cId="3638078871" sldId="2147483770"/>
              <pc:sldLayoutMk cId="4293020345" sldId="2147483885"/>
              <ac:spMk id="3" creationId="{0C23266B-AF5D-14B8-6937-846CF5D32502}"/>
            </ac:spMkLst>
          </pc:spChg>
          <pc:spChg chg="add">
            <ac:chgData name="Sandeep Ramkumar(UST,IN)" userId="327432a4-1ff0-49be-8be9-5a9acd033f81" providerId="ADAL" clId="{9D980648-C01E-4771-9E5D-04953EF3C2D8}" dt="2026-08-26T04:17:06.761" v="41"/>
            <ac:spMkLst>
              <pc:docMk/>
              <pc:sldMasterMk cId="3638078871" sldId="2147483770"/>
              <pc:sldLayoutMk cId="4293020345" sldId="2147483885"/>
              <ac:spMk id="5" creationId="{4A4A561C-FF90-09E9-02D3-4BD6E97BDF1C}"/>
            </ac:spMkLst>
          </pc:spChg>
          <pc:spChg chg="add">
            <ac:chgData name="Sandeep Ramkumar(UST,IN)" userId="327432a4-1ff0-49be-8be9-5a9acd033f81" providerId="ADAL" clId="{9D980648-C01E-4771-9E5D-04953EF3C2D8}" dt="2026-08-26T04:17:06.761" v="41"/>
            <ac:spMkLst>
              <pc:docMk/>
              <pc:sldMasterMk cId="3638078871" sldId="2147483770"/>
              <pc:sldLayoutMk cId="4293020345" sldId="2147483885"/>
              <ac:spMk id="7" creationId="{ECC26D6C-0A0F-090C-C839-1C6AF5C947FF}"/>
            </ac:spMkLst>
          </pc:spChg>
        </pc:sldLayoutChg>
        <pc:sldLayoutChg chg="addSp delSp modSp">
          <pc:chgData name="Sandeep Ramkumar(UST,IN)" userId="327432a4-1ff0-49be-8be9-5a9acd033f81" providerId="ADAL" clId="{9D980648-C01E-4771-9E5D-04953EF3C2D8}" dt="2026-08-26T04:19:12.534" v="65"/>
          <pc:sldLayoutMkLst>
            <pc:docMk/>
            <pc:sldMasterMk cId="3638078871" sldId="2147483770"/>
            <pc:sldLayoutMk cId="942147074" sldId="2147483889"/>
          </pc:sldLayoutMkLst>
          <pc:spChg chg="add del mod">
            <ac:chgData name="Sandeep Ramkumar(UST,IN)" userId="327432a4-1ff0-49be-8be9-5a9acd033f81" providerId="ADAL" clId="{9D980648-C01E-4771-9E5D-04953EF3C2D8}" dt="2026-08-26T04:19:12.534" v="65"/>
            <ac:spMkLst>
              <pc:docMk/>
              <pc:sldMasterMk cId="3638078871" sldId="2147483770"/>
              <pc:sldLayoutMk cId="942147074" sldId="2147483889"/>
              <ac:spMk id="2" creationId="{1611903E-8D82-F68E-00CB-76D39230FB9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7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788C-A49E-AEB4-31D5-0C9E3FC9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A92C8-7FB6-CE15-A171-29F666AC4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86AEC-F4B4-69BB-5976-6DCE154F4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4B060-36A1-2315-7E5D-5070CAC23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6EE164-10BF-4F78-9525-55D79454E6E5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64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mailto:mailto:brand@ust.com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ust.com/" TargetMode="Externa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ust.com/" TargetMode="Externa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s://ust.com/" TargetMode="Externa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s://ust.com/" TargetMode="Externa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7FA7D119-7ED9-8543-A4BE-CCA60CA4A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188720" y="1234440"/>
            <a:ext cx="11003279" cy="5623559"/>
          </a:xfrm>
          <a:prstGeom prst="rect">
            <a:avLst/>
          </a:prstGeom>
          <a:solidFill>
            <a:srgbClr val="006E74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Aptos Light" panose="020B0004020202020204" pitchFamily="34" charset="0"/>
            </a:endParaRPr>
          </a:p>
        </p:txBody>
      </p:sp>
      <p:sp>
        <p:nvSpPr>
          <p:cNvPr id="4" name="UST" descr="UST">
            <a:extLst>
              <a:ext uri="{FF2B5EF4-FFF2-40B4-BE49-F238E27FC236}">
                <a16:creationId xmlns:a16="http://schemas.microsoft.com/office/drawing/2014/main" id="{6524CCB4-9AB2-A248-A0DC-6590BB8A0F7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9" name="Thank You">
            <a:extLst>
              <a:ext uri="{FF2B5EF4-FFF2-40B4-BE49-F238E27FC236}">
                <a16:creationId xmlns:a16="http://schemas.microsoft.com/office/drawing/2014/main" id="{3B3D034D-06BF-E34D-97D9-E1FB041EDECA}"/>
              </a:ext>
            </a:extLst>
          </p:cNvPr>
          <p:cNvSpPr txBox="1">
            <a:spLocks/>
          </p:cNvSpPr>
          <p:nvPr userDrawn="1"/>
        </p:nvSpPr>
        <p:spPr>
          <a:xfrm>
            <a:off x="1702053" y="1585468"/>
            <a:ext cx="7178422" cy="210501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kern="1200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ptos Light" panose="020B0004020202020204" pitchFamily="34" charset="0"/>
              </a:rPr>
              <a:t>Thank you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30CA0A7-AB3D-9640-8F81-41F4E103F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2053" y="4893617"/>
            <a:ext cx="7178422" cy="15986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9pPr>
          </a:lstStyle>
          <a:p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brand@ust.com</a:t>
            </a:r>
          </a:p>
        </p:txBody>
      </p:sp>
      <p:sp>
        <p:nvSpPr>
          <p:cNvPr id="18" name="URL">
            <a:extLst>
              <a:ext uri="{FF2B5EF4-FFF2-40B4-BE49-F238E27FC236}">
                <a16:creationId xmlns:a16="http://schemas.microsoft.com/office/drawing/2014/main" id="{2B56852A-13EA-DC41-9045-334298984C85}"/>
              </a:ext>
            </a:extLst>
          </p:cNvPr>
          <p:cNvSpPr txBox="1"/>
          <p:nvPr userDrawn="1"/>
        </p:nvSpPr>
        <p:spPr>
          <a:xfrm>
            <a:off x="9188450" y="4893618"/>
            <a:ext cx="2635250" cy="159862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1600" b="1">
                <a:solidFill>
                  <a:schemeClr val="bg1"/>
                </a:solidFill>
                <a:latin typeface="Aptos Light" panose="020B0004020202020204" pitchFamily="34" charset="0"/>
              </a:rPr>
              <a:t>ust.com</a:t>
            </a:r>
          </a:p>
        </p:txBody>
      </p:sp>
    </p:spTree>
    <p:extLst>
      <p:ext uri="{BB962C8B-B14F-4D97-AF65-F5344CB8AC3E}">
        <p14:creationId xmlns:p14="http://schemas.microsoft.com/office/powerpoint/2010/main" val="746262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88">
          <p15:clr>
            <a:srgbClr val="FBAE40"/>
          </p15:clr>
        </p15:guide>
        <p15:guide id="5" orient="horz" pos="4090">
          <p15:clr>
            <a:srgbClr val="FBAE40"/>
          </p15:clr>
        </p15:guide>
        <p15:guide id="6" pos="559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orldwide office locations Updated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A48B4B-3B81-F74C-8FE3-0FD399854022}"/>
              </a:ext>
            </a:extLst>
          </p:cNvPr>
          <p:cNvSpPr txBox="1">
            <a:spLocks/>
          </p:cNvSpPr>
          <p:nvPr userDrawn="1"/>
        </p:nvSpPr>
        <p:spPr>
          <a:xfrm>
            <a:off x="365760" y="365760"/>
            <a:ext cx="997204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solidFill>
                  <a:schemeClr val="tx1"/>
                </a:solidFill>
                <a:latin typeface="Aptos Light" panose="020B0004020202020204" pitchFamily="34" charset="0"/>
              </a:rPr>
              <a:t>Engineering change </a:t>
            </a:r>
            <a:br>
              <a:rPr lang="en-US" b="0">
                <a:solidFill>
                  <a:schemeClr val="tx1"/>
                </a:solidFill>
                <a:latin typeface="Aptos Light" panose="020B0004020202020204" pitchFamily="34" charset="0"/>
              </a:rPr>
            </a:br>
            <a:r>
              <a:rPr lang="en-US" b="0">
                <a:solidFill>
                  <a:schemeClr val="tx1"/>
                </a:solidFill>
                <a:latin typeface="Aptos Light" panose="020B0004020202020204" pitchFamily="34" charset="0"/>
              </a:rPr>
              <a:t>all over the world</a:t>
            </a:r>
          </a:p>
        </p:txBody>
      </p:sp>
      <p:sp>
        <p:nvSpPr>
          <p:cNvPr id="56" name="TextBox 55">
            <a:hlinkClick r:id="rId2"/>
            <a:extLst>
              <a:ext uri="{FF2B5EF4-FFF2-40B4-BE49-F238E27FC236}">
                <a16:creationId xmlns:a16="http://schemas.microsoft.com/office/drawing/2014/main" id="{1732A860-6A91-4E4F-856E-71CE8D1089D1}"/>
              </a:ext>
            </a:extLst>
          </p:cNvPr>
          <p:cNvSpPr txBox="1"/>
          <p:nvPr userDrawn="1"/>
        </p:nvSpPr>
        <p:spPr>
          <a:xfrm>
            <a:off x="365125" y="1385476"/>
            <a:ext cx="2479130" cy="3321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50" i="0">
                <a:latin typeface="Aptos Light" panose="020B0004020202020204" pitchFamily="34" charset="0"/>
              </a:rPr>
              <a:t>*To see a list of all offices, visit </a:t>
            </a:r>
            <a:r>
              <a:rPr lang="en-US" sz="1050" b="1" i="0" u="sng">
                <a:latin typeface="Aptos Light" panose="020B0004020202020204" pitchFamily="34" charset="0"/>
              </a:rPr>
              <a:t>ust.com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B132C5-CC10-412E-AD94-F36D86E5AF4B}"/>
              </a:ext>
            </a:extLst>
          </p:cNvPr>
          <p:cNvGrpSpPr/>
          <p:nvPr userDrawn="1"/>
        </p:nvGrpSpPr>
        <p:grpSpPr>
          <a:xfrm>
            <a:off x="365125" y="5468863"/>
            <a:ext cx="1933173" cy="402342"/>
            <a:chOff x="505022" y="1208296"/>
            <a:chExt cx="1933173" cy="40234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913AE0-B9F7-4413-8397-0FC8AD99E10B}"/>
                </a:ext>
              </a:extLst>
            </p:cNvPr>
            <p:cNvSpPr txBox="1"/>
            <p:nvPr/>
          </p:nvSpPr>
          <p:spPr>
            <a:xfrm>
              <a:off x="775880" y="1456750"/>
              <a:ext cx="76302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latin typeface="Aptos Light" panose="020B0004020202020204" pitchFamily="34" charset="0"/>
                </a:rPr>
                <a:t>Other Centers</a:t>
              </a:r>
            </a:p>
          </p:txBody>
        </p:sp>
        <p:sp>
          <p:nvSpPr>
            <p:cNvPr id="60" name="Square">
              <a:extLst>
                <a:ext uri="{FF2B5EF4-FFF2-40B4-BE49-F238E27FC236}">
                  <a16:creationId xmlns:a16="http://schemas.microsoft.com/office/drawing/2014/main" id="{C75C07E8-0C08-4227-B303-CA8744030F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236605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1" name="Square">
              <a:extLst>
                <a:ext uri="{FF2B5EF4-FFF2-40B4-BE49-F238E27FC236}">
                  <a16:creationId xmlns:a16="http://schemas.microsoft.com/office/drawing/2014/main" id="{6AC559D2-DFFF-4ED4-9221-1023751DD5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464413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9649D56-614B-49F9-8ABC-79863BB56E96}"/>
                </a:ext>
              </a:extLst>
            </p:cNvPr>
            <p:cNvSpPr txBox="1"/>
            <p:nvPr/>
          </p:nvSpPr>
          <p:spPr>
            <a:xfrm>
              <a:off x="775880" y="1208296"/>
              <a:ext cx="16623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latin typeface="Aptos Light" panose="020B0004020202020204" pitchFamily="34" charset="0"/>
                </a:rPr>
                <a:t>Main Offices &amp; Innovation Labs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5D4FDE3-3E8F-43F3-8282-6B3FACF3C636}"/>
              </a:ext>
            </a:extLst>
          </p:cNvPr>
          <p:cNvSpPr/>
          <p:nvPr userDrawn="1"/>
        </p:nvSpPr>
        <p:spPr>
          <a:xfrm>
            <a:off x="365125" y="1966988"/>
            <a:ext cx="2007961" cy="18430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1800">
              <a:latin typeface="Aptos Light" panose="020B00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0934E2A-55C6-4E66-A9D0-72BE32B65200}"/>
              </a:ext>
            </a:extLst>
          </p:cNvPr>
          <p:cNvSpPr>
            <a:spLocks/>
          </p:cNvSpPr>
          <p:nvPr userDrawn="1"/>
        </p:nvSpPr>
        <p:spPr>
          <a:xfrm>
            <a:off x="525519" y="2233661"/>
            <a:ext cx="1764000" cy="774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86% of our global footprint is ISO 14001:2015 (Environmental Management System)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1F2AAE-832C-4863-9906-685EC7D61FF2}"/>
              </a:ext>
            </a:extLst>
          </p:cNvPr>
          <p:cNvSpPr>
            <a:spLocks/>
          </p:cNvSpPr>
          <p:nvPr userDrawn="1"/>
        </p:nvSpPr>
        <p:spPr>
          <a:xfrm>
            <a:off x="525519" y="3102453"/>
            <a:ext cx="1764000" cy="3880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43% of our global footprint is LEED Gold Certified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244549-A90F-8F09-4319-3C62BFFC99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45949" y="1020802"/>
            <a:ext cx="8869680" cy="5466231"/>
            <a:chOff x="2983517" y="963640"/>
            <a:chExt cx="9089403" cy="56016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1D54A3-4E83-1ED1-2AFB-B9342F34A084}"/>
                </a:ext>
              </a:extLst>
            </p:cNvPr>
            <p:cNvSpPr txBox="1"/>
            <p:nvPr/>
          </p:nvSpPr>
          <p:spPr>
            <a:xfrm>
              <a:off x="2983517" y="2312060"/>
              <a:ext cx="1098058" cy="32453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AMERICAS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  <a:t>Global HQ – Orange </a:t>
              </a:r>
              <a:b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</a:br>
              <a: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  <a:t>County, CA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Bentonville, AR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Chicago, IL 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Norfolk, VA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Columbus, OH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Atlanta, GA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Dallas, TX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Ames, IA 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Toronto, CA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Guadalajara, MX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Leon, MX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San Jose, CR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Santiago, CL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Lima, PE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Sao Paulo, BR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Buenos Aires, AR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EFB048-5436-7A68-0735-9E51AD3BA80B}"/>
                </a:ext>
              </a:extLst>
            </p:cNvPr>
            <p:cNvSpPr txBox="1"/>
            <p:nvPr/>
          </p:nvSpPr>
          <p:spPr>
            <a:xfrm>
              <a:off x="11025049" y="2450336"/>
              <a:ext cx="1047871" cy="18552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APAC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Singapore, SG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Manila, PH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Sydney, AU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Melbourne, AU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sz="1000">
                  <a:latin typeface="Aptos Light" panose="020B0004020202020204" pitchFamily="34" charset="0"/>
                </a:rPr>
                <a:t>Brisbane, AU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Penang, MY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Kuala Lumpur, MY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Shanghai, CN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Taipei, TW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Hong Kong, HK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97A03C-04DB-21D1-ED28-BFAAA7EAC0EB}"/>
                </a:ext>
              </a:extLst>
            </p:cNvPr>
            <p:cNvSpPr txBox="1"/>
            <p:nvPr/>
          </p:nvSpPr>
          <p:spPr>
            <a:xfrm>
              <a:off x="8950848" y="3803083"/>
              <a:ext cx="1099814" cy="16796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INDIA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Trivandrum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Bangalore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Chennai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Hyderabad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Kochi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Delhi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Coimbatore 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Hosur 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Pune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B2B6B8-698C-E923-5B62-40E7D695F1A5}"/>
                </a:ext>
              </a:extLst>
            </p:cNvPr>
            <p:cNvSpPr txBox="1"/>
            <p:nvPr/>
          </p:nvSpPr>
          <p:spPr>
            <a:xfrm>
              <a:off x="6163343" y="2482157"/>
              <a:ext cx="670055" cy="134742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EMEA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London, UK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Leeds, UK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Dublin, IE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Madrid,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Tel Aviv, IS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Cologne, DE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Lisbon, PT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C159A2-D440-E7CD-42D8-BD68676606F4}"/>
                </a:ext>
              </a:extLst>
            </p:cNvPr>
            <p:cNvSpPr txBox="1"/>
            <p:nvPr/>
          </p:nvSpPr>
          <p:spPr>
            <a:xfrm>
              <a:off x="6542019" y="3863646"/>
              <a:ext cx="910506" cy="270163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Paris, FR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Gdansk, PL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Bucharest, RO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Sofia, BG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Helmond, NL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Barcelona,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 b="0">
                  <a:latin typeface="Aptos Light" panose="020B0004020202020204" pitchFamily="34" charset="0"/>
                </a:rPr>
                <a:t>Bilbao,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Salamanca,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Valencia,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Zaragoza,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Copenhagen, DK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Zurich, CH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Fribourg, CH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Kyiv, UA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Prague, CZ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Cape Town, ZA</a:t>
              </a:r>
            </a:p>
          </p:txBody>
        </p:sp>
        <p:sp>
          <p:nvSpPr>
            <p:cNvPr id="10" name="World">
              <a:extLst>
                <a:ext uri="{FF2B5EF4-FFF2-40B4-BE49-F238E27FC236}">
                  <a16:creationId xmlns:a16="http://schemas.microsoft.com/office/drawing/2014/main" id="{9B97AD54-D667-F3B7-E4CC-DD76414704F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97218" y="963640"/>
              <a:ext cx="8858218" cy="4592051"/>
            </a:xfrm>
            <a:custGeom>
              <a:avLst/>
              <a:gdLst>
                <a:gd name="T0" fmla="*/ 7449 w 8611"/>
                <a:gd name="T1" fmla="*/ 1277 h 4463"/>
                <a:gd name="T2" fmla="*/ 6996 w 8611"/>
                <a:gd name="T3" fmla="*/ 2869 h 4463"/>
                <a:gd name="T4" fmla="*/ 6945 w 8611"/>
                <a:gd name="T5" fmla="*/ 3360 h 4463"/>
                <a:gd name="T6" fmla="*/ 7246 w 8611"/>
                <a:gd name="T7" fmla="*/ 3672 h 4463"/>
                <a:gd name="T8" fmla="*/ 7447 w 8611"/>
                <a:gd name="T9" fmla="*/ 3150 h 4463"/>
                <a:gd name="T10" fmla="*/ 6989 w 8611"/>
                <a:gd name="T11" fmla="*/ 2545 h 4463"/>
                <a:gd name="T12" fmla="*/ 6997 w 8611"/>
                <a:gd name="T13" fmla="*/ 2386 h 4463"/>
                <a:gd name="T14" fmla="*/ 8358 w 8611"/>
                <a:gd name="T15" fmla="*/ 3894 h 4463"/>
                <a:gd name="T16" fmla="*/ 7529 w 8611"/>
                <a:gd name="T17" fmla="*/ 3121 h 4463"/>
                <a:gd name="T18" fmla="*/ 7859 w 8611"/>
                <a:gd name="T19" fmla="*/ 432 h 4463"/>
                <a:gd name="T20" fmla="*/ 6732 w 8611"/>
                <a:gd name="T21" fmla="*/ 0 h 4463"/>
                <a:gd name="T22" fmla="*/ 5643 w 8611"/>
                <a:gd name="T23" fmla="*/ 489 h 4463"/>
                <a:gd name="T24" fmla="*/ 4919 w 8611"/>
                <a:gd name="T25" fmla="*/ 675 h 4463"/>
                <a:gd name="T26" fmla="*/ 4128 w 8611"/>
                <a:gd name="T27" fmla="*/ 1077 h 4463"/>
                <a:gd name="T28" fmla="*/ 4567 w 8611"/>
                <a:gd name="T29" fmla="*/ 714 h 4463"/>
                <a:gd name="T30" fmla="*/ 4468 w 8611"/>
                <a:gd name="T31" fmla="*/ 1236 h 4463"/>
                <a:gd name="T32" fmla="*/ 3784 w 8611"/>
                <a:gd name="T33" fmla="*/ 1867 h 4463"/>
                <a:gd name="T34" fmla="*/ 4307 w 8611"/>
                <a:gd name="T35" fmla="*/ 1650 h 4463"/>
                <a:gd name="T36" fmla="*/ 4649 w 8611"/>
                <a:gd name="T37" fmla="*/ 1844 h 4463"/>
                <a:gd name="T38" fmla="*/ 4283 w 8611"/>
                <a:gd name="T39" fmla="*/ 1920 h 4463"/>
                <a:gd name="T40" fmla="*/ 4212 w 8611"/>
                <a:gd name="T41" fmla="*/ 2695 h 4463"/>
                <a:gd name="T42" fmla="*/ 4439 w 8611"/>
                <a:gd name="T43" fmla="*/ 3737 h 4463"/>
                <a:gd name="T44" fmla="*/ 4992 w 8611"/>
                <a:gd name="T45" fmla="*/ 2911 h 4463"/>
                <a:gd name="T46" fmla="*/ 4875 w 8611"/>
                <a:gd name="T47" fmla="*/ 2277 h 4463"/>
                <a:gd name="T48" fmla="*/ 5263 w 8611"/>
                <a:gd name="T49" fmla="*/ 2068 h 4463"/>
                <a:gd name="T50" fmla="*/ 5779 w 8611"/>
                <a:gd name="T51" fmla="*/ 2505 h 4463"/>
                <a:gd name="T52" fmla="*/ 6218 w 8611"/>
                <a:gd name="T53" fmla="*/ 2289 h 4463"/>
                <a:gd name="T54" fmla="*/ 6583 w 8611"/>
                <a:gd name="T55" fmla="*/ 2651 h 4463"/>
                <a:gd name="T56" fmla="*/ 6749 w 8611"/>
                <a:gd name="T57" fmla="*/ 2316 h 4463"/>
                <a:gd name="T58" fmla="*/ 7091 w 8611"/>
                <a:gd name="T59" fmla="*/ 1918 h 4463"/>
                <a:gd name="T60" fmla="*/ 7450 w 8611"/>
                <a:gd name="T61" fmla="*/ 1021 h 4463"/>
                <a:gd name="T62" fmla="*/ 7799 w 8611"/>
                <a:gd name="T63" fmla="*/ 1162 h 4463"/>
                <a:gd name="T64" fmla="*/ 8431 w 8611"/>
                <a:gd name="T65" fmla="*/ 699 h 4463"/>
                <a:gd name="T66" fmla="*/ 7254 w 8611"/>
                <a:gd name="T67" fmla="*/ 1916 h 4463"/>
                <a:gd name="T68" fmla="*/ 7254 w 8611"/>
                <a:gd name="T69" fmla="*/ 1916 h 4463"/>
                <a:gd name="T70" fmla="*/ 7541 w 8611"/>
                <a:gd name="T71" fmla="*/ 3946 h 4463"/>
                <a:gd name="T72" fmla="*/ 5208 w 8611"/>
                <a:gd name="T73" fmla="*/ 3193 h 4463"/>
                <a:gd name="T74" fmla="*/ 2242 w 8611"/>
                <a:gd name="T75" fmla="*/ 2576 h 4463"/>
                <a:gd name="T76" fmla="*/ 2373 w 8611"/>
                <a:gd name="T77" fmla="*/ 4463 h 4463"/>
                <a:gd name="T78" fmla="*/ 2975 w 8611"/>
                <a:gd name="T79" fmla="*/ 2956 h 4463"/>
                <a:gd name="T80" fmla="*/ 2114 w 8611"/>
                <a:gd name="T81" fmla="*/ 811 h 4463"/>
                <a:gd name="T82" fmla="*/ 2633 w 8611"/>
                <a:gd name="T83" fmla="*/ 128 h 4463"/>
                <a:gd name="T84" fmla="*/ 3050 w 8611"/>
                <a:gd name="T85" fmla="*/ 531 h 4463"/>
                <a:gd name="T86" fmla="*/ 3901 w 8611"/>
                <a:gd name="T87" fmla="*/ 1399 h 4463"/>
                <a:gd name="T88" fmla="*/ 3761 w 8611"/>
                <a:gd name="T89" fmla="*/ 1173 h 4463"/>
                <a:gd name="T90" fmla="*/ 6870 w 8611"/>
                <a:gd name="T91" fmla="*/ 2711 h 4463"/>
                <a:gd name="T92" fmla="*/ 6870 w 8611"/>
                <a:gd name="T93" fmla="*/ 2932 h 4463"/>
                <a:gd name="T94" fmla="*/ 1714 w 8611"/>
                <a:gd name="T95" fmla="*/ 2085 h 4463"/>
                <a:gd name="T96" fmla="*/ 2611 w 8611"/>
                <a:gd name="T97" fmla="*/ 1404 h 4463"/>
                <a:gd name="T98" fmla="*/ 2171 w 8611"/>
                <a:gd name="T99" fmla="*/ 883 h 4463"/>
                <a:gd name="T100" fmla="*/ 2362 w 8611"/>
                <a:gd name="T101" fmla="*/ 841 h 4463"/>
                <a:gd name="T102" fmla="*/ 1050 w 8611"/>
                <a:gd name="T103" fmla="*/ 396 h 4463"/>
                <a:gd name="T104" fmla="*/ 380 w 8611"/>
                <a:gd name="T105" fmla="*/ 1112 h 4463"/>
                <a:gd name="T106" fmla="*/ 1651 w 8611"/>
                <a:gd name="T107" fmla="*/ 2481 h 4463"/>
                <a:gd name="T108" fmla="*/ 6560 w 8611"/>
                <a:gd name="T109" fmla="*/ 2743 h 4463"/>
                <a:gd name="T110" fmla="*/ 6523 w 8611"/>
                <a:gd name="T111" fmla="*/ 2780 h 4463"/>
                <a:gd name="T112" fmla="*/ 6579 w 8611"/>
                <a:gd name="T113" fmla="*/ 2979 h 4463"/>
                <a:gd name="T114" fmla="*/ 5948 w 8611"/>
                <a:gd name="T115" fmla="*/ 2706 h 4463"/>
                <a:gd name="T116" fmla="*/ 3654 w 8611"/>
                <a:gd name="T117" fmla="*/ 811 h 4463"/>
                <a:gd name="T118" fmla="*/ 3654 w 8611"/>
                <a:gd name="T119" fmla="*/ 811 h 4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11" h="4463">
                  <a:moveTo>
                    <a:pt x="7449" y="1700"/>
                  </a:moveTo>
                  <a:lnTo>
                    <a:pt x="7449" y="1700"/>
                  </a:lnTo>
                  <a:lnTo>
                    <a:pt x="7510" y="1700"/>
                  </a:lnTo>
                  <a:lnTo>
                    <a:pt x="7510" y="1277"/>
                  </a:lnTo>
                  <a:lnTo>
                    <a:pt x="7449" y="1277"/>
                  </a:lnTo>
                  <a:lnTo>
                    <a:pt x="7449" y="1700"/>
                  </a:lnTo>
                  <a:close/>
                  <a:moveTo>
                    <a:pt x="6916" y="2980"/>
                  </a:moveTo>
                  <a:lnTo>
                    <a:pt x="6916" y="2980"/>
                  </a:lnTo>
                  <a:lnTo>
                    <a:pt x="6996" y="2980"/>
                  </a:lnTo>
                  <a:lnTo>
                    <a:pt x="6996" y="2869"/>
                  </a:lnTo>
                  <a:lnTo>
                    <a:pt x="6916" y="2869"/>
                  </a:lnTo>
                  <a:lnTo>
                    <a:pt x="6916" y="2980"/>
                  </a:lnTo>
                  <a:close/>
                  <a:moveTo>
                    <a:pt x="7155" y="3150"/>
                  </a:moveTo>
                  <a:lnTo>
                    <a:pt x="7155" y="3150"/>
                  </a:lnTo>
                  <a:lnTo>
                    <a:pt x="6945" y="3360"/>
                  </a:lnTo>
                  <a:lnTo>
                    <a:pt x="6803" y="3360"/>
                  </a:lnTo>
                  <a:lnTo>
                    <a:pt x="6803" y="3741"/>
                  </a:lnTo>
                  <a:lnTo>
                    <a:pt x="7014" y="3741"/>
                  </a:lnTo>
                  <a:lnTo>
                    <a:pt x="7083" y="3672"/>
                  </a:lnTo>
                  <a:lnTo>
                    <a:pt x="7246" y="3672"/>
                  </a:lnTo>
                  <a:lnTo>
                    <a:pt x="7428" y="3854"/>
                  </a:lnTo>
                  <a:lnTo>
                    <a:pt x="7578" y="3854"/>
                  </a:lnTo>
                  <a:lnTo>
                    <a:pt x="7751" y="3682"/>
                  </a:lnTo>
                  <a:lnTo>
                    <a:pt x="7751" y="3453"/>
                  </a:lnTo>
                  <a:lnTo>
                    <a:pt x="7447" y="3150"/>
                  </a:lnTo>
                  <a:lnTo>
                    <a:pt x="7155" y="3150"/>
                  </a:lnTo>
                  <a:close/>
                  <a:moveTo>
                    <a:pt x="6938" y="2386"/>
                  </a:moveTo>
                  <a:lnTo>
                    <a:pt x="6938" y="2386"/>
                  </a:lnTo>
                  <a:lnTo>
                    <a:pt x="6938" y="2494"/>
                  </a:lnTo>
                  <a:lnTo>
                    <a:pt x="6989" y="2545"/>
                  </a:lnTo>
                  <a:lnTo>
                    <a:pt x="6989" y="2707"/>
                  </a:lnTo>
                  <a:lnTo>
                    <a:pt x="7091" y="2707"/>
                  </a:lnTo>
                  <a:lnTo>
                    <a:pt x="7091" y="2566"/>
                  </a:lnTo>
                  <a:lnTo>
                    <a:pt x="6997" y="2472"/>
                  </a:lnTo>
                  <a:lnTo>
                    <a:pt x="6997" y="2386"/>
                  </a:lnTo>
                  <a:lnTo>
                    <a:pt x="6938" y="2386"/>
                  </a:lnTo>
                  <a:close/>
                  <a:moveTo>
                    <a:pt x="8059" y="4075"/>
                  </a:moveTo>
                  <a:lnTo>
                    <a:pt x="8059" y="4075"/>
                  </a:lnTo>
                  <a:lnTo>
                    <a:pt x="8118" y="4134"/>
                  </a:lnTo>
                  <a:lnTo>
                    <a:pt x="8358" y="3894"/>
                  </a:lnTo>
                  <a:lnTo>
                    <a:pt x="8299" y="3835"/>
                  </a:lnTo>
                  <a:lnTo>
                    <a:pt x="8059" y="4075"/>
                  </a:lnTo>
                  <a:close/>
                  <a:moveTo>
                    <a:pt x="7322" y="2914"/>
                  </a:moveTo>
                  <a:lnTo>
                    <a:pt x="7322" y="2914"/>
                  </a:lnTo>
                  <a:lnTo>
                    <a:pt x="7529" y="3121"/>
                  </a:lnTo>
                  <a:lnTo>
                    <a:pt x="7598" y="3053"/>
                  </a:lnTo>
                  <a:lnTo>
                    <a:pt x="7390" y="2845"/>
                  </a:lnTo>
                  <a:lnTo>
                    <a:pt x="7322" y="2914"/>
                  </a:lnTo>
                  <a:close/>
                  <a:moveTo>
                    <a:pt x="7859" y="432"/>
                  </a:moveTo>
                  <a:lnTo>
                    <a:pt x="7859" y="432"/>
                  </a:lnTo>
                  <a:lnTo>
                    <a:pt x="7690" y="263"/>
                  </a:lnTo>
                  <a:lnTo>
                    <a:pt x="7189" y="263"/>
                  </a:lnTo>
                  <a:lnTo>
                    <a:pt x="7117" y="191"/>
                  </a:lnTo>
                  <a:lnTo>
                    <a:pt x="6732" y="191"/>
                  </a:lnTo>
                  <a:lnTo>
                    <a:pt x="6732" y="0"/>
                  </a:lnTo>
                  <a:lnTo>
                    <a:pt x="6062" y="0"/>
                  </a:lnTo>
                  <a:lnTo>
                    <a:pt x="5852" y="209"/>
                  </a:lnTo>
                  <a:lnTo>
                    <a:pt x="5697" y="209"/>
                  </a:lnTo>
                  <a:lnTo>
                    <a:pt x="5643" y="262"/>
                  </a:lnTo>
                  <a:lnTo>
                    <a:pt x="5643" y="489"/>
                  </a:lnTo>
                  <a:lnTo>
                    <a:pt x="5243" y="489"/>
                  </a:lnTo>
                  <a:lnTo>
                    <a:pt x="4953" y="779"/>
                  </a:lnTo>
                  <a:lnTo>
                    <a:pt x="4867" y="779"/>
                  </a:lnTo>
                  <a:lnTo>
                    <a:pt x="4865" y="675"/>
                  </a:lnTo>
                  <a:lnTo>
                    <a:pt x="4919" y="675"/>
                  </a:lnTo>
                  <a:lnTo>
                    <a:pt x="5004" y="590"/>
                  </a:lnTo>
                  <a:lnTo>
                    <a:pt x="4777" y="363"/>
                  </a:lnTo>
                  <a:lnTo>
                    <a:pt x="4578" y="363"/>
                  </a:lnTo>
                  <a:lnTo>
                    <a:pt x="4128" y="813"/>
                  </a:lnTo>
                  <a:lnTo>
                    <a:pt x="4128" y="1077"/>
                  </a:lnTo>
                  <a:lnTo>
                    <a:pt x="4216" y="1077"/>
                  </a:lnTo>
                  <a:lnTo>
                    <a:pt x="4341" y="1201"/>
                  </a:lnTo>
                  <a:lnTo>
                    <a:pt x="4434" y="1108"/>
                  </a:lnTo>
                  <a:lnTo>
                    <a:pt x="4434" y="848"/>
                  </a:lnTo>
                  <a:lnTo>
                    <a:pt x="4567" y="714"/>
                  </a:lnTo>
                  <a:lnTo>
                    <a:pt x="4599" y="745"/>
                  </a:lnTo>
                  <a:lnTo>
                    <a:pt x="4494" y="849"/>
                  </a:lnTo>
                  <a:lnTo>
                    <a:pt x="4494" y="1009"/>
                  </a:lnTo>
                  <a:lnTo>
                    <a:pt x="4695" y="1009"/>
                  </a:lnTo>
                  <a:lnTo>
                    <a:pt x="4468" y="1236"/>
                  </a:lnTo>
                  <a:lnTo>
                    <a:pt x="4208" y="1237"/>
                  </a:lnTo>
                  <a:lnTo>
                    <a:pt x="3961" y="1484"/>
                  </a:lnTo>
                  <a:lnTo>
                    <a:pt x="3961" y="1645"/>
                  </a:lnTo>
                  <a:lnTo>
                    <a:pt x="3784" y="1645"/>
                  </a:lnTo>
                  <a:lnTo>
                    <a:pt x="3784" y="1867"/>
                  </a:lnTo>
                  <a:lnTo>
                    <a:pt x="3946" y="1868"/>
                  </a:lnTo>
                  <a:lnTo>
                    <a:pt x="4188" y="1625"/>
                  </a:lnTo>
                  <a:lnTo>
                    <a:pt x="4377" y="1813"/>
                  </a:lnTo>
                  <a:lnTo>
                    <a:pt x="4424" y="1767"/>
                  </a:lnTo>
                  <a:lnTo>
                    <a:pt x="4307" y="1650"/>
                  </a:lnTo>
                  <a:lnTo>
                    <a:pt x="4307" y="1580"/>
                  </a:lnTo>
                  <a:lnTo>
                    <a:pt x="4476" y="1749"/>
                  </a:lnTo>
                  <a:lnTo>
                    <a:pt x="4476" y="1788"/>
                  </a:lnTo>
                  <a:lnTo>
                    <a:pt x="4532" y="1844"/>
                  </a:lnTo>
                  <a:lnTo>
                    <a:pt x="4649" y="1844"/>
                  </a:lnTo>
                  <a:lnTo>
                    <a:pt x="4727" y="1922"/>
                  </a:lnTo>
                  <a:lnTo>
                    <a:pt x="4864" y="1922"/>
                  </a:lnTo>
                  <a:lnTo>
                    <a:pt x="4864" y="2062"/>
                  </a:lnTo>
                  <a:lnTo>
                    <a:pt x="4425" y="2062"/>
                  </a:lnTo>
                  <a:lnTo>
                    <a:pt x="4283" y="1920"/>
                  </a:lnTo>
                  <a:lnTo>
                    <a:pt x="3886" y="1920"/>
                  </a:lnTo>
                  <a:lnTo>
                    <a:pt x="3577" y="2229"/>
                  </a:lnTo>
                  <a:lnTo>
                    <a:pt x="3577" y="2540"/>
                  </a:lnTo>
                  <a:lnTo>
                    <a:pt x="3732" y="2695"/>
                  </a:lnTo>
                  <a:lnTo>
                    <a:pt x="4212" y="2695"/>
                  </a:lnTo>
                  <a:lnTo>
                    <a:pt x="4212" y="2859"/>
                  </a:lnTo>
                  <a:lnTo>
                    <a:pt x="4315" y="2961"/>
                  </a:lnTo>
                  <a:lnTo>
                    <a:pt x="4315" y="3459"/>
                  </a:lnTo>
                  <a:lnTo>
                    <a:pt x="4439" y="3583"/>
                  </a:lnTo>
                  <a:lnTo>
                    <a:pt x="4439" y="3737"/>
                  </a:lnTo>
                  <a:lnTo>
                    <a:pt x="4552" y="3737"/>
                  </a:lnTo>
                  <a:lnTo>
                    <a:pt x="4795" y="3494"/>
                  </a:lnTo>
                  <a:lnTo>
                    <a:pt x="4795" y="3425"/>
                  </a:lnTo>
                  <a:lnTo>
                    <a:pt x="4992" y="3228"/>
                  </a:lnTo>
                  <a:lnTo>
                    <a:pt x="4992" y="2911"/>
                  </a:lnTo>
                  <a:lnTo>
                    <a:pt x="5215" y="2687"/>
                  </a:lnTo>
                  <a:lnTo>
                    <a:pt x="5215" y="2591"/>
                  </a:lnTo>
                  <a:lnTo>
                    <a:pt x="5101" y="2591"/>
                  </a:lnTo>
                  <a:lnTo>
                    <a:pt x="4831" y="2321"/>
                  </a:lnTo>
                  <a:lnTo>
                    <a:pt x="4875" y="2277"/>
                  </a:lnTo>
                  <a:lnTo>
                    <a:pt x="5112" y="2514"/>
                  </a:lnTo>
                  <a:lnTo>
                    <a:pt x="5267" y="2514"/>
                  </a:lnTo>
                  <a:lnTo>
                    <a:pt x="5461" y="2320"/>
                  </a:lnTo>
                  <a:lnTo>
                    <a:pt x="5237" y="2094"/>
                  </a:lnTo>
                  <a:lnTo>
                    <a:pt x="5263" y="2068"/>
                  </a:lnTo>
                  <a:lnTo>
                    <a:pt x="5395" y="2200"/>
                  </a:lnTo>
                  <a:lnTo>
                    <a:pt x="5600" y="2200"/>
                  </a:lnTo>
                  <a:lnTo>
                    <a:pt x="5715" y="2314"/>
                  </a:lnTo>
                  <a:lnTo>
                    <a:pt x="5779" y="2314"/>
                  </a:lnTo>
                  <a:lnTo>
                    <a:pt x="5779" y="2505"/>
                  </a:lnTo>
                  <a:lnTo>
                    <a:pt x="5907" y="2632"/>
                  </a:lnTo>
                  <a:lnTo>
                    <a:pt x="5963" y="2575"/>
                  </a:lnTo>
                  <a:lnTo>
                    <a:pt x="5963" y="2445"/>
                  </a:lnTo>
                  <a:lnTo>
                    <a:pt x="6162" y="2289"/>
                  </a:lnTo>
                  <a:lnTo>
                    <a:pt x="6218" y="2289"/>
                  </a:lnTo>
                  <a:lnTo>
                    <a:pt x="6307" y="2378"/>
                  </a:lnTo>
                  <a:cubicBezTo>
                    <a:pt x="6307" y="2378"/>
                    <a:pt x="6300" y="2447"/>
                    <a:pt x="6307" y="2447"/>
                  </a:cubicBezTo>
                  <a:lnTo>
                    <a:pt x="6379" y="2447"/>
                  </a:lnTo>
                  <a:lnTo>
                    <a:pt x="6579" y="2647"/>
                  </a:lnTo>
                  <a:lnTo>
                    <a:pt x="6583" y="2651"/>
                  </a:lnTo>
                  <a:lnTo>
                    <a:pt x="6669" y="2564"/>
                  </a:lnTo>
                  <a:lnTo>
                    <a:pt x="6669" y="2478"/>
                  </a:lnTo>
                  <a:lnTo>
                    <a:pt x="6567" y="2376"/>
                  </a:lnTo>
                  <a:lnTo>
                    <a:pt x="6628" y="2316"/>
                  </a:lnTo>
                  <a:lnTo>
                    <a:pt x="6749" y="2316"/>
                  </a:lnTo>
                  <a:lnTo>
                    <a:pt x="6965" y="2099"/>
                  </a:lnTo>
                  <a:lnTo>
                    <a:pt x="6965" y="1959"/>
                  </a:lnTo>
                  <a:lnTo>
                    <a:pt x="6863" y="1857"/>
                  </a:lnTo>
                  <a:lnTo>
                    <a:pt x="6947" y="1774"/>
                  </a:lnTo>
                  <a:lnTo>
                    <a:pt x="7091" y="1918"/>
                  </a:lnTo>
                  <a:lnTo>
                    <a:pt x="7153" y="1918"/>
                  </a:lnTo>
                  <a:lnTo>
                    <a:pt x="7153" y="1799"/>
                  </a:lnTo>
                  <a:lnTo>
                    <a:pt x="7371" y="1582"/>
                  </a:lnTo>
                  <a:lnTo>
                    <a:pt x="7371" y="1100"/>
                  </a:lnTo>
                  <a:lnTo>
                    <a:pt x="7450" y="1021"/>
                  </a:lnTo>
                  <a:lnTo>
                    <a:pt x="7770" y="1021"/>
                  </a:lnTo>
                  <a:lnTo>
                    <a:pt x="7883" y="908"/>
                  </a:lnTo>
                  <a:lnTo>
                    <a:pt x="8002" y="908"/>
                  </a:lnTo>
                  <a:lnTo>
                    <a:pt x="8002" y="958"/>
                  </a:lnTo>
                  <a:lnTo>
                    <a:pt x="7799" y="1162"/>
                  </a:lnTo>
                  <a:lnTo>
                    <a:pt x="7799" y="1388"/>
                  </a:lnTo>
                  <a:lnTo>
                    <a:pt x="7842" y="1388"/>
                  </a:lnTo>
                  <a:lnTo>
                    <a:pt x="7985" y="1244"/>
                  </a:lnTo>
                  <a:lnTo>
                    <a:pt x="7985" y="1119"/>
                  </a:lnTo>
                  <a:cubicBezTo>
                    <a:pt x="7985" y="1119"/>
                    <a:pt x="8427" y="699"/>
                    <a:pt x="8431" y="699"/>
                  </a:cubicBezTo>
                  <a:lnTo>
                    <a:pt x="8526" y="794"/>
                  </a:lnTo>
                  <a:lnTo>
                    <a:pt x="8611" y="709"/>
                  </a:lnTo>
                  <a:lnTo>
                    <a:pt x="8334" y="432"/>
                  </a:lnTo>
                  <a:lnTo>
                    <a:pt x="7859" y="432"/>
                  </a:lnTo>
                  <a:close/>
                  <a:moveTo>
                    <a:pt x="7254" y="1916"/>
                  </a:moveTo>
                  <a:lnTo>
                    <a:pt x="7254" y="1916"/>
                  </a:lnTo>
                  <a:lnTo>
                    <a:pt x="7311" y="1974"/>
                  </a:lnTo>
                  <a:lnTo>
                    <a:pt x="7498" y="1787"/>
                  </a:lnTo>
                  <a:lnTo>
                    <a:pt x="7441" y="1729"/>
                  </a:lnTo>
                  <a:lnTo>
                    <a:pt x="7254" y="1916"/>
                  </a:lnTo>
                  <a:close/>
                  <a:moveTo>
                    <a:pt x="7541" y="4030"/>
                  </a:moveTo>
                  <a:lnTo>
                    <a:pt x="7541" y="4030"/>
                  </a:lnTo>
                  <a:lnTo>
                    <a:pt x="7639" y="4030"/>
                  </a:lnTo>
                  <a:lnTo>
                    <a:pt x="7639" y="3946"/>
                  </a:lnTo>
                  <a:lnTo>
                    <a:pt x="7541" y="3946"/>
                  </a:lnTo>
                  <a:lnTo>
                    <a:pt x="7541" y="4030"/>
                  </a:lnTo>
                  <a:close/>
                  <a:moveTo>
                    <a:pt x="5088" y="3476"/>
                  </a:moveTo>
                  <a:lnTo>
                    <a:pt x="5088" y="3476"/>
                  </a:lnTo>
                  <a:lnTo>
                    <a:pt x="5208" y="3476"/>
                  </a:lnTo>
                  <a:lnTo>
                    <a:pt x="5208" y="3193"/>
                  </a:lnTo>
                  <a:lnTo>
                    <a:pt x="5088" y="3193"/>
                  </a:lnTo>
                  <a:lnTo>
                    <a:pt x="5088" y="3476"/>
                  </a:lnTo>
                  <a:close/>
                  <a:moveTo>
                    <a:pt x="2594" y="2576"/>
                  </a:moveTo>
                  <a:lnTo>
                    <a:pt x="2594" y="2576"/>
                  </a:lnTo>
                  <a:lnTo>
                    <a:pt x="2242" y="2576"/>
                  </a:lnTo>
                  <a:lnTo>
                    <a:pt x="2071" y="2747"/>
                  </a:lnTo>
                  <a:lnTo>
                    <a:pt x="2071" y="2999"/>
                  </a:lnTo>
                  <a:lnTo>
                    <a:pt x="2265" y="3193"/>
                  </a:lnTo>
                  <a:lnTo>
                    <a:pt x="2265" y="4354"/>
                  </a:lnTo>
                  <a:lnTo>
                    <a:pt x="2373" y="4463"/>
                  </a:lnTo>
                  <a:lnTo>
                    <a:pt x="2429" y="4463"/>
                  </a:lnTo>
                  <a:lnTo>
                    <a:pt x="2429" y="4071"/>
                  </a:lnTo>
                  <a:lnTo>
                    <a:pt x="3166" y="3334"/>
                  </a:lnTo>
                  <a:lnTo>
                    <a:pt x="3166" y="2956"/>
                  </a:lnTo>
                  <a:lnTo>
                    <a:pt x="2975" y="2956"/>
                  </a:lnTo>
                  <a:lnTo>
                    <a:pt x="2594" y="2576"/>
                  </a:lnTo>
                  <a:close/>
                  <a:moveTo>
                    <a:pt x="1937" y="787"/>
                  </a:moveTo>
                  <a:lnTo>
                    <a:pt x="1937" y="787"/>
                  </a:lnTo>
                  <a:lnTo>
                    <a:pt x="2037" y="887"/>
                  </a:lnTo>
                  <a:lnTo>
                    <a:pt x="2114" y="811"/>
                  </a:lnTo>
                  <a:lnTo>
                    <a:pt x="2013" y="710"/>
                  </a:lnTo>
                  <a:lnTo>
                    <a:pt x="1937" y="787"/>
                  </a:lnTo>
                  <a:close/>
                  <a:moveTo>
                    <a:pt x="3552" y="128"/>
                  </a:moveTo>
                  <a:lnTo>
                    <a:pt x="3552" y="128"/>
                  </a:lnTo>
                  <a:lnTo>
                    <a:pt x="2633" y="128"/>
                  </a:lnTo>
                  <a:lnTo>
                    <a:pt x="2633" y="262"/>
                  </a:lnTo>
                  <a:lnTo>
                    <a:pt x="2784" y="262"/>
                  </a:lnTo>
                  <a:cubicBezTo>
                    <a:pt x="2784" y="262"/>
                    <a:pt x="2787" y="688"/>
                    <a:pt x="2784" y="685"/>
                  </a:cubicBezTo>
                  <a:lnTo>
                    <a:pt x="2896" y="685"/>
                  </a:lnTo>
                  <a:lnTo>
                    <a:pt x="3050" y="531"/>
                  </a:lnTo>
                  <a:lnTo>
                    <a:pt x="3270" y="531"/>
                  </a:lnTo>
                  <a:lnTo>
                    <a:pt x="3552" y="249"/>
                  </a:lnTo>
                  <a:lnTo>
                    <a:pt x="3552" y="128"/>
                  </a:lnTo>
                  <a:close/>
                  <a:moveTo>
                    <a:pt x="3901" y="1399"/>
                  </a:moveTo>
                  <a:lnTo>
                    <a:pt x="3901" y="1399"/>
                  </a:lnTo>
                  <a:lnTo>
                    <a:pt x="4001" y="1399"/>
                  </a:lnTo>
                  <a:lnTo>
                    <a:pt x="4001" y="1208"/>
                  </a:lnTo>
                  <a:lnTo>
                    <a:pt x="3873" y="1080"/>
                  </a:lnTo>
                  <a:lnTo>
                    <a:pt x="3855" y="1080"/>
                  </a:lnTo>
                  <a:lnTo>
                    <a:pt x="3761" y="1173"/>
                  </a:lnTo>
                  <a:lnTo>
                    <a:pt x="3761" y="1342"/>
                  </a:lnTo>
                  <a:lnTo>
                    <a:pt x="3843" y="1342"/>
                  </a:lnTo>
                  <a:lnTo>
                    <a:pt x="3901" y="1399"/>
                  </a:lnTo>
                  <a:close/>
                  <a:moveTo>
                    <a:pt x="6870" y="2711"/>
                  </a:moveTo>
                  <a:lnTo>
                    <a:pt x="6870" y="2711"/>
                  </a:lnTo>
                  <a:lnTo>
                    <a:pt x="6830" y="2672"/>
                  </a:lnTo>
                  <a:lnTo>
                    <a:pt x="6671" y="2831"/>
                  </a:lnTo>
                  <a:lnTo>
                    <a:pt x="6671" y="2876"/>
                  </a:lnTo>
                  <a:lnTo>
                    <a:pt x="6727" y="2932"/>
                  </a:lnTo>
                  <a:lnTo>
                    <a:pt x="6870" y="2932"/>
                  </a:lnTo>
                  <a:lnTo>
                    <a:pt x="6870" y="2711"/>
                  </a:lnTo>
                  <a:close/>
                  <a:moveTo>
                    <a:pt x="1815" y="2319"/>
                  </a:moveTo>
                  <a:lnTo>
                    <a:pt x="1815" y="2319"/>
                  </a:lnTo>
                  <a:lnTo>
                    <a:pt x="1713" y="2319"/>
                  </a:lnTo>
                  <a:lnTo>
                    <a:pt x="1714" y="2085"/>
                  </a:lnTo>
                  <a:lnTo>
                    <a:pt x="2032" y="2085"/>
                  </a:lnTo>
                  <a:lnTo>
                    <a:pt x="2034" y="2177"/>
                  </a:lnTo>
                  <a:lnTo>
                    <a:pt x="2115" y="2177"/>
                  </a:lnTo>
                  <a:lnTo>
                    <a:pt x="2115" y="1900"/>
                  </a:lnTo>
                  <a:lnTo>
                    <a:pt x="2611" y="1404"/>
                  </a:lnTo>
                  <a:lnTo>
                    <a:pt x="2696" y="1404"/>
                  </a:lnTo>
                  <a:lnTo>
                    <a:pt x="2697" y="1282"/>
                  </a:lnTo>
                  <a:lnTo>
                    <a:pt x="2691" y="1277"/>
                  </a:lnTo>
                  <a:lnTo>
                    <a:pt x="2297" y="883"/>
                  </a:lnTo>
                  <a:lnTo>
                    <a:pt x="2171" y="883"/>
                  </a:lnTo>
                  <a:lnTo>
                    <a:pt x="2171" y="1188"/>
                  </a:lnTo>
                  <a:lnTo>
                    <a:pt x="1812" y="1188"/>
                  </a:lnTo>
                  <a:lnTo>
                    <a:pt x="1812" y="864"/>
                  </a:lnTo>
                  <a:lnTo>
                    <a:pt x="2099" y="578"/>
                  </a:lnTo>
                  <a:lnTo>
                    <a:pt x="2362" y="841"/>
                  </a:lnTo>
                  <a:lnTo>
                    <a:pt x="2432" y="841"/>
                  </a:lnTo>
                  <a:cubicBezTo>
                    <a:pt x="2432" y="841"/>
                    <a:pt x="2594" y="676"/>
                    <a:pt x="2594" y="676"/>
                  </a:cubicBezTo>
                  <a:lnTo>
                    <a:pt x="2182" y="265"/>
                  </a:lnTo>
                  <a:lnTo>
                    <a:pt x="1181" y="265"/>
                  </a:lnTo>
                  <a:lnTo>
                    <a:pt x="1050" y="396"/>
                  </a:lnTo>
                  <a:lnTo>
                    <a:pt x="163" y="396"/>
                  </a:lnTo>
                  <a:lnTo>
                    <a:pt x="0" y="560"/>
                  </a:lnTo>
                  <a:lnTo>
                    <a:pt x="0" y="953"/>
                  </a:lnTo>
                  <a:lnTo>
                    <a:pt x="159" y="1112"/>
                  </a:lnTo>
                  <a:lnTo>
                    <a:pt x="380" y="1112"/>
                  </a:lnTo>
                  <a:lnTo>
                    <a:pt x="380" y="978"/>
                  </a:lnTo>
                  <a:lnTo>
                    <a:pt x="577" y="978"/>
                  </a:lnTo>
                  <a:lnTo>
                    <a:pt x="1000" y="1401"/>
                  </a:lnTo>
                  <a:lnTo>
                    <a:pt x="1000" y="1829"/>
                  </a:lnTo>
                  <a:lnTo>
                    <a:pt x="1651" y="2481"/>
                  </a:lnTo>
                  <a:lnTo>
                    <a:pt x="1808" y="2481"/>
                  </a:lnTo>
                  <a:lnTo>
                    <a:pt x="1999" y="2671"/>
                  </a:lnTo>
                  <a:lnTo>
                    <a:pt x="2083" y="2587"/>
                  </a:lnTo>
                  <a:lnTo>
                    <a:pt x="1815" y="2319"/>
                  </a:lnTo>
                  <a:close/>
                  <a:moveTo>
                    <a:pt x="6560" y="2743"/>
                  </a:moveTo>
                  <a:lnTo>
                    <a:pt x="6560" y="2743"/>
                  </a:lnTo>
                  <a:lnTo>
                    <a:pt x="6539" y="2722"/>
                  </a:lnTo>
                  <a:lnTo>
                    <a:pt x="6406" y="2589"/>
                  </a:lnTo>
                  <a:cubicBezTo>
                    <a:pt x="6407" y="2588"/>
                    <a:pt x="6369" y="2625"/>
                    <a:pt x="6369" y="2625"/>
                  </a:cubicBezTo>
                  <a:lnTo>
                    <a:pt x="6523" y="2780"/>
                  </a:lnTo>
                  <a:lnTo>
                    <a:pt x="6560" y="2743"/>
                  </a:lnTo>
                  <a:close/>
                  <a:moveTo>
                    <a:pt x="6393" y="2695"/>
                  </a:moveTo>
                  <a:lnTo>
                    <a:pt x="6393" y="2695"/>
                  </a:lnTo>
                  <a:cubicBezTo>
                    <a:pt x="6395" y="2693"/>
                    <a:pt x="6346" y="2743"/>
                    <a:pt x="6346" y="2743"/>
                  </a:cubicBezTo>
                  <a:lnTo>
                    <a:pt x="6579" y="2979"/>
                  </a:lnTo>
                  <a:lnTo>
                    <a:pt x="6628" y="2930"/>
                  </a:lnTo>
                  <a:lnTo>
                    <a:pt x="6595" y="2896"/>
                  </a:lnTo>
                  <a:lnTo>
                    <a:pt x="6393" y="2695"/>
                  </a:lnTo>
                  <a:close/>
                  <a:moveTo>
                    <a:pt x="5948" y="2706"/>
                  </a:moveTo>
                  <a:lnTo>
                    <a:pt x="5948" y="2706"/>
                  </a:lnTo>
                  <a:lnTo>
                    <a:pt x="6008" y="2706"/>
                  </a:lnTo>
                  <a:lnTo>
                    <a:pt x="6008" y="2622"/>
                  </a:lnTo>
                  <a:lnTo>
                    <a:pt x="5948" y="2622"/>
                  </a:lnTo>
                  <a:lnTo>
                    <a:pt x="5948" y="2706"/>
                  </a:lnTo>
                  <a:close/>
                  <a:moveTo>
                    <a:pt x="3654" y="811"/>
                  </a:moveTo>
                  <a:lnTo>
                    <a:pt x="3654" y="811"/>
                  </a:lnTo>
                  <a:lnTo>
                    <a:pt x="3436" y="811"/>
                  </a:lnTo>
                  <a:lnTo>
                    <a:pt x="3436" y="660"/>
                  </a:lnTo>
                  <a:lnTo>
                    <a:pt x="3654" y="660"/>
                  </a:lnTo>
                  <a:lnTo>
                    <a:pt x="3654" y="81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1" name="Square">
              <a:extLst>
                <a:ext uri="{FF2B5EF4-FFF2-40B4-BE49-F238E27FC236}">
                  <a16:creationId xmlns:a16="http://schemas.microsoft.com/office/drawing/2014/main" id="{6656930F-C391-E466-EEEB-E9ED04F107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18572" y="2786673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2" name="Square">
              <a:extLst>
                <a:ext uri="{FF2B5EF4-FFF2-40B4-BE49-F238E27FC236}">
                  <a16:creationId xmlns:a16="http://schemas.microsoft.com/office/drawing/2014/main" id="{7E068AA8-9832-E1A7-A4E3-85856C113A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0977" y="2381748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3" name="Square">
              <a:extLst>
                <a:ext uri="{FF2B5EF4-FFF2-40B4-BE49-F238E27FC236}">
                  <a16:creationId xmlns:a16="http://schemas.microsoft.com/office/drawing/2014/main" id="{10D2CCFC-CD54-8F80-0712-B19001E5BB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46388" y="276716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4" name="Square">
              <a:extLst>
                <a:ext uri="{FF2B5EF4-FFF2-40B4-BE49-F238E27FC236}">
                  <a16:creationId xmlns:a16="http://schemas.microsoft.com/office/drawing/2014/main" id="{1549D482-63D2-1E78-16D2-C20B971AE8C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26474" y="276716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5" name="Square">
              <a:extLst>
                <a:ext uri="{FF2B5EF4-FFF2-40B4-BE49-F238E27FC236}">
                  <a16:creationId xmlns:a16="http://schemas.microsoft.com/office/drawing/2014/main" id="{595136FC-9FB0-259D-5740-2ED445000A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1053" y="253845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6" name="Square">
              <a:extLst>
                <a:ext uri="{FF2B5EF4-FFF2-40B4-BE49-F238E27FC236}">
                  <a16:creationId xmlns:a16="http://schemas.microsoft.com/office/drawing/2014/main" id="{702DF369-2B66-A773-65D8-7964950701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81190" y="288849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7" name="Square">
              <a:extLst>
                <a:ext uri="{FF2B5EF4-FFF2-40B4-BE49-F238E27FC236}">
                  <a16:creationId xmlns:a16="http://schemas.microsoft.com/office/drawing/2014/main" id="{CC7545D1-E0D9-585F-C0CC-E5DC4E29CD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6004" y="293314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8" name="Square">
              <a:extLst>
                <a:ext uri="{FF2B5EF4-FFF2-40B4-BE49-F238E27FC236}">
                  <a16:creationId xmlns:a16="http://schemas.microsoft.com/office/drawing/2014/main" id="{7CDE4DC6-F1DD-7D6F-FE8D-0A7B63AC185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66794" y="240969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9" name="Square">
              <a:extLst>
                <a:ext uri="{FF2B5EF4-FFF2-40B4-BE49-F238E27FC236}">
                  <a16:creationId xmlns:a16="http://schemas.microsoft.com/office/drawing/2014/main" id="{69B534DB-8364-5AEB-5F26-A2E8360556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95321" y="227295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0" name="Square">
              <a:extLst>
                <a:ext uri="{FF2B5EF4-FFF2-40B4-BE49-F238E27FC236}">
                  <a16:creationId xmlns:a16="http://schemas.microsoft.com/office/drawing/2014/main" id="{3C6C6023-5B70-C842-05D1-1912EA3F15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85076" y="340565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1" name="Square">
              <a:extLst>
                <a:ext uri="{FF2B5EF4-FFF2-40B4-BE49-F238E27FC236}">
                  <a16:creationId xmlns:a16="http://schemas.microsoft.com/office/drawing/2014/main" id="{DF350A55-0CB3-EEA0-5828-360A7E94487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27563" y="332601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2" name="Square">
              <a:extLst>
                <a:ext uri="{FF2B5EF4-FFF2-40B4-BE49-F238E27FC236}">
                  <a16:creationId xmlns:a16="http://schemas.microsoft.com/office/drawing/2014/main" id="{70711DA5-A8BB-6554-5BBE-C8016E11E05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6000" y="349263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3" name="Square">
              <a:extLst>
                <a:ext uri="{FF2B5EF4-FFF2-40B4-BE49-F238E27FC236}">
                  <a16:creationId xmlns:a16="http://schemas.microsoft.com/office/drawing/2014/main" id="{7A0BDA2A-FE35-2264-4769-520BE05D0D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518800" y="467448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4" name="Square">
              <a:extLst>
                <a:ext uri="{FF2B5EF4-FFF2-40B4-BE49-F238E27FC236}">
                  <a16:creationId xmlns:a16="http://schemas.microsoft.com/office/drawing/2014/main" id="{E1D12590-46F7-A98C-4517-FE43951686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17177" y="409766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5" name="Square">
              <a:extLst>
                <a:ext uri="{FF2B5EF4-FFF2-40B4-BE49-F238E27FC236}">
                  <a16:creationId xmlns:a16="http://schemas.microsoft.com/office/drawing/2014/main" id="{2105F4DA-02A6-BE4D-EA63-CCB921DD5E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085199" y="461458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6" name="Square">
              <a:extLst>
                <a:ext uri="{FF2B5EF4-FFF2-40B4-BE49-F238E27FC236}">
                  <a16:creationId xmlns:a16="http://schemas.microsoft.com/office/drawing/2014/main" id="{7D443A60-C500-54F5-A74D-24173BAEEEF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15324" y="489821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7" name="Square">
              <a:extLst>
                <a:ext uri="{FF2B5EF4-FFF2-40B4-BE49-F238E27FC236}">
                  <a16:creationId xmlns:a16="http://schemas.microsoft.com/office/drawing/2014/main" id="{BB0A1409-E851-EFFC-4549-E480FBF27B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06037" y="2304280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8" name="Square">
              <a:extLst>
                <a:ext uri="{FF2B5EF4-FFF2-40B4-BE49-F238E27FC236}">
                  <a16:creationId xmlns:a16="http://schemas.microsoft.com/office/drawing/2014/main" id="{60D76058-942B-40A8-2596-C2A7D97D6D0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148033" y="3600774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29" name="Square">
              <a:extLst>
                <a:ext uri="{FF2B5EF4-FFF2-40B4-BE49-F238E27FC236}">
                  <a16:creationId xmlns:a16="http://schemas.microsoft.com/office/drawing/2014/main" id="{5BA68179-BF96-809C-22EC-4E9856446D0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92956" y="3626524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0" name="Square">
              <a:extLst>
                <a:ext uri="{FF2B5EF4-FFF2-40B4-BE49-F238E27FC236}">
                  <a16:creationId xmlns:a16="http://schemas.microsoft.com/office/drawing/2014/main" id="{DC016FD3-AC53-1FFB-00E8-46242AAD48A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86502" y="219336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1" name="Square">
              <a:extLst>
                <a:ext uri="{FF2B5EF4-FFF2-40B4-BE49-F238E27FC236}">
                  <a16:creationId xmlns:a16="http://schemas.microsoft.com/office/drawing/2014/main" id="{34B4ADB2-4B0C-F217-EFB0-6903593A05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89451" y="356335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2" name="Square">
              <a:extLst>
                <a:ext uri="{FF2B5EF4-FFF2-40B4-BE49-F238E27FC236}">
                  <a16:creationId xmlns:a16="http://schemas.microsoft.com/office/drawing/2014/main" id="{3C2C06E0-09A1-EE45-C69E-44E3BC4EBD2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93197" y="479949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3" name="Square">
              <a:extLst>
                <a:ext uri="{FF2B5EF4-FFF2-40B4-BE49-F238E27FC236}">
                  <a16:creationId xmlns:a16="http://schemas.microsoft.com/office/drawing/2014/main" id="{5A6F6E27-A7EB-C573-B6F1-BB4DD2323A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95354" y="4653608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4" name="Square">
              <a:extLst>
                <a:ext uri="{FF2B5EF4-FFF2-40B4-BE49-F238E27FC236}">
                  <a16:creationId xmlns:a16="http://schemas.microsoft.com/office/drawing/2014/main" id="{C88272EC-5B85-1032-FE24-1F7AE0CC299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95354" y="449520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5" name="Square">
              <a:extLst>
                <a:ext uri="{FF2B5EF4-FFF2-40B4-BE49-F238E27FC236}">
                  <a16:creationId xmlns:a16="http://schemas.microsoft.com/office/drawing/2014/main" id="{6126E74C-D86E-0319-070A-4807A709B8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869049" y="374275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6" name="Square">
              <a:extLst>
                <a:ext uri="{FF2B5EF4-FFF2-40B4-BE49-F238E27FC236}">
                  <a16:creationId xmlns:a16="http://schemas.microsoft.com/office/drawing/2014/main" id="{D84A75A5-0A7F-B6C0-B09B-2402E6E4EE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59656" y="310245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7" name="Square">
              <a:extLst>
                <a:ext uri="{FF2B5EF4-FFF2-40B4-BE49-F238E27FC236}">
                  <a16:creationId xmlns:a16="http://schemas.microsoft.com/office/drawing/2014/main" id="{DBD130F4-40C4-0871-B935-F39F8D33EE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093206" y="327022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8" name="Square">
              <a:extLst>
                <a:ext uri="{FF2B5EF4-FFF2-40B4-BE49-F238E27FC236}">
                  <a16:creationId xmlns:a16="http://schemas.microsoft.com/office/drawing/2014/main" id="{1548F4C7-DDC5-C11D-F4F0-18605C7446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413453" y="237480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39" name="Square">
              <a:extLst>
                <a:ext uri="{FF2B5EF4-FFF2-40B4-BE49-F238E27FC236}">
                  <a16:creationId xmlns:a16="http://schemas.microsoft.com/office/drawing/2014/main" id="{A49FA9A1-161D-33BF-BCBE-E84639EEE6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91469" y="273774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0" name="Square">
              <a:extLst>
                <a:ext uri="{FF2B5EF4-FFF2-40B4-BE49-F238E27FC236}">
                  <a16:creationId xmlns:a16="http://schemas.microsoft.com/office/drawing/2014/main" id="{9BE80584-3BA1-A03A-5C88-247B8D2AF4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58166" y="248202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1" name="Square">
              <a:extLst>
                <a:ext uri="{FF2B5EF4-FFF2-40B4-BE49-F238E27FC236}">
                  <a16:creationId xmlns:a16="http://schemas.microsoft.com/office/drawing/2014/main" id="{D0045362-FD21-2C58-CE3C-666D2D4F85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76218" y="224172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2" name="Square">
              <a:extLst>
                <a:ext uri="{FF2B5EF4-FFF2-40B4-BE49-F238E27FC236}">
                  <a16:creationId xmlns:a16="http://schemas.microsoft.com/office/drawing/2014/main" id="{4AC6AA0C-E3EC-5C08-526B-5E780188F3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84508" y="261086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3" name="Square">
              <a:extLst>
                <a:ext uri="{FF2B5EF4-FFF2-40B4-BE49-F238E27FC236}">
                  <a16:creationId xmlns:a16="http://schemas.microsoft.com/office/drawing/2014/main" id="{38464507-2EAC-24D0-1E21-DE56286DCC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90735" y="270277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4" name="Square">
              <a:extLst>
                <a:ext uri="{FF2B5EF4-FFF2-40B4-BE49-F238E27FC236}">
                  <a16:creationId xmlns:a16="http://schemas.microsoft.com/office/drawing/2014/main" id="{2400CE7B-698F-4284-E5DD-7DA1C59820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119418" y="3496923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5" name="Square">
              <a:extLst>
                <a:ext uri="{FF2B5EF4-FFF2-40B4-BE49-F238E27FC236}">
                  <a16:creationId xmlns:a16="http://schemas.microsoft.com/office/drawing/2014/main" id="{C470D999-B185-8BB5-47BA-4DF8E767BFA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20258" y="335131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6" name="Square">
              <a:extLst>
                <a:ext uri="{FF2B5EF4-FFF2-40B4-BE49-F238E27FC236}">
                  <a16:creationId xmlns:a16="http://schemas.microsoft.com/office/drawing/2014/main" id="{9B82A3BD-81D9-03ED-4AE4-625022F9E46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069889" y="311684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7" name="Square">
              <a:extLst>
                <a:ext uri="{FF2B5EF4-FFF2-40B4-BE49-F238E27FC236}">
                  <a16:creationId xmlns:a16="http://schemas.microsoft.com/office/drawing/2014/main" id="{359EA5AA-0579-5B56-1C4D-DC4ACD88127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37387" y="227295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48" name="Square">
              <a:extLst>
                <a:ext uri="{FF2B5EF4-FFF2-40B4-BE49-F238E27FC236}">
                  <a16:creationId xmlns:a16="http://schemas.microsoft.com/office/drawing/2014/main" id="{D4F5C0F1-2525-06A4-2544-77A556A01AC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7494" y="307781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9852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49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orldwide office locations Updat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A48B4B-3B81-F74C-8FE3-0FD399854022}"/>
              </a:ext>
            </a:extLst>
          </p:cNvPr>
          <p:cNvSpPr txBox="1">
            <a:spLocks/>
          </p:cNvSpPr>
          <p:nvPr userDrawn="1"/>
        </p:nvSpPr>
        <p:spPr>
          <a:xfrm>
            <a:off x="365760" y="365760"/>
            <a:ext cx="997204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solidFill>
                  <a:schemeClr val="bg1"/>
                </a:solidFill>
                <a:latin typeface="Aptos Light" panose="020B0004020202020204" pitchFamily="34" charset="0"/>
              </a:rPr>
              <a:t>Engineering change </a:t>
            </a:r>
            <a:br>
              <a:rPr lang="en-US" b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b="0">
                <a:solidFill>
                  <a:schemeClr val="bg1"/>
                </a:solidFill>
                <a:latin typeface="Aptos Light" panose="020B0004020202020204" pitchFamily="34" charset="0"/>
              </a:rPr>
              <a:t>all over the world</a:t>
            </a:r>
          </a:p>
        </p:txBody>
      </p:sp>
      <p:sp>
        <p:nvSpPr>
          <p:cNvPr id="56" name="TextBox 55">
            <a:hlinkClick r:id="rId2"/>
            <a:extLst>
              <a:ext uri="{FF2B5EF4-FFF2-40B4-BE49-F238E27FC236}">
                <a16:creationId xmlns:a16="http://schemas.microsoft.com/office/drawing/2014/main" id="{1732A860-6A91-4E4F-856E-71CE8D1089D1}"/>
              </a:ext>
            </a:extLst>
          </p:cNvPr>
          <p:cNvSpPr txBox="1"/>
          <p:nvPr userDrawn="1"/>
        </p:nvSpPr>
        <p:spPr>
          <a:xfrm>
            <a:off x="365125" y="1385476"/>
            <a:ext cx="2479130" cy="3321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50" i="0">
                <a:solidFill>
                  <a:schemeClr val="bg1"/>
                </a:solidFill>
                <a:latin typeface="Aptos Light" panose="020B0004020202020204" pitchFamily="34" charset="0"/>
              </a:rPr>
              <a:t>*To see a list of all offices, visit </a:t>
            </a:r>
            <a:r>
              <a:rPr lang="en-US" sz="1050" b="1" i="0" u="sng">
                <a:solidFill>
                  <a:schemeClr val="bg1"/>
                </a:solidFill>
                <a:latin typeface="Aptos Light" panose="020B0004020202020204" pitchFamily="34" charset="0"/>
              </a:rPr>
              <a:t>ust.com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B132C5-CC10-412E-AD94-F36D86E5AF4B}"/>
              </a:ext>
            </a:extLst>
          </p:cNvPr>
          <p:cNvGrpSpPr/>
          <p:nvPr userDrawn="1"/>
        </p:nvGrpSpPr>
        <p:grpSpPr>
          <a:xfrm>
            <a:off x="365125" y="5468863"/>
            <a:ext cx="1933173" cy="402342"/>
            <a:chOff x="505022" y="1208296"/>
            <a:chExt cx="1933173" cy="40234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913AE0-B9F7-4413-8397-0FC8AD99E10B}"/>
                </a:ext>
              </a:extLst>
            </p:cNvPr>
            <p:cNvSpPr txBox="1"/>
            <p:nvPr/>
          </p:nvSpPr>
          <p:spPr>
            <a:xfrm>
              <a:off x="775880" y="1456750"/>
              <a:ext cx="76302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Other Centers</a:t>
              </a:r>
            </a:p>
          </p:txBody>
        </p:sp>
        <p:sp>
          <p:nvSpPr>
            <p:cNvPr id="60" name="Square">
              <a:extLst>
                <a:ext uri="{FF2B5EF4-FFF2-40B4-BE49-F238E27FC236}">
                  <a16:creationId xmlns:a16="http://schemas.microsoft.com/office/drawing/2014/main" id="{C75C07E8-0C08-4227-B303-CA8744030F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236605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1" name="Square">
              <a:extLst>
                <a:ext uri="{FF2B5EF4-FFF2-40B4-BE49-F238E27FC236}">
                  <a16:creationId xmlns:a16="http://schemas.microsoft.com/office/drawing/2014/main" id="{6AC559D2-DFFF-4ED4-9221-1023751DD5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464413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9649D56-614B-49F9-8ABC-79863BB56E96}"/>
                </a:ext>
              </a:extLst>
            </p:cNvPr>
            <p:cNvSpPr txBox="1"/>
            <p:nvPr/>
          </p:nvSpPr>
          <p:spPr>
            <a:xfrm>
              <a:off x="775880" y="1208296"/>
              <a:ext cx="16623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Main Offices &amp; Innovation Labs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5D4FDE3-3E8F-43F3-8282-6B3FACF3C636}"/>
              </a:ext>
            </a:extLst>
          </p:cNvPr>
          <p:cNvSpPr/>
          <p:nvPr userDrawn="1"/>
        </p:nvSpPr>
        <p:spPr>
          <a:xfrm>
            <a:off x="365125" y="1966988"/>
            <a:ext cx="2007961" cy="18430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1800">
              <a:latin typeface="Aptos Light" panose="020B00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0934E2A-55C6-4E66-A9D0-72BE32B65200}"/>
              </a:ext>
            </a:extLst>
          </p:cNvPr>
          <p:cNvSpPr>
            <a:spLocks/>
          </p:cNvSpPr>
          <p:nvPr userDrawn="1"/>
        </p:nvSpPr>
        <p:spPr>
          <a:xfrm>
            <a:off x="525519" y="2233661"/>
            <a:ext cx="1764000" cy="774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86% of our global footprint is ISO 14001:2015 (Environmental Management System)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1F2AAE-832C-4863-9906-685EC7D61FF2}"/>
              </a:ext>
            </a:extLst>
          </p:cNvPr>
          <p:cNvSpPr>
            <a:spLocks/>
          </p:cNvSpPr>
          <p:nvPr userDrawn="1"/>
        </p:nvSpPr>
        <p:spPr>
          <a:xfrm>
            <a:off x="525519" y="3102453"/>
            <a:ext cx="1764000" cy="3880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43% of our global footprint is LEED Gold Certified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72D52E3F-9A96-46B2-35AF-A2385C66C26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760" y="6238277"/>
            <a:ext cx="320040" cy="35409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</a:endParaRP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91C9DE65-92FF-E31B-4F50-1D04E1E2AEE3}"/>
              </a:ext>
            </a:extLst>
          </p:cNvPr>
          <p:cNvSpPr txBox="1"/>
          <p:nvPr userDrawn="1"/>
        </p:nvSpPr>
        <p:spPr>
          <a:xfrm>
            <a:off x="8223294" y="6402070"/>
            <a:ext cx="3142698" cy="18288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  <a:latin typeface="Aptos Light" panose="020B0004020202020204" pitchFamily="34" charset="0"/>
              </a:rPr>
              <a:t>Confidential and Proprietary. © 2025 UST Global Inc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B0A46B1E-3B82-5F78-393F-101F550F1FF5}"/>
              </a:ext>
            </a:extLst>
          </p:cNvPr>
          <p:cNvSpPr txBox="1">
            <a:spLocks/>
          </p:cNvSpPr>
          <p:nvPr userDrawn="1"/>
        </p:nvSpPr>
        <p:spPr>
          <a:xfrm>
            <a:off x="11365992" y="6317730"/>
            <a:ext cx="457200" cy="27463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892894" rtl="0" eaLnBrk="1" latinLnBrk="0" hangingPunct="1">
              <a:defRPr sz="1000" kern="1200">
                <a:solidFill>
                  <a:schemeClr val="accent3"/>
                </a:solidFill>
                <a:latin typeface="Helvetica"/>
                <a:ea typeface="+mn-ea"/>
                <a:cs typeface="Helvetica"/>
              </a:defRPr>
            </a:lvl1pPr>
            <a:lvl2pPr marL="44644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289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340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578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3223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8681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512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7157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bg1"/>
                </a:solidFill>
                <a:latin typeface="Aptos Light" panose="020B0004020202020204" pitchFamily="34" charset="0"/>
                <a:cs typeface="Trebuchet MS"/>
              </a:rPr>
              <a:t> </a:t>
            </a:r>
            <a:fld id="{110FD68B-4EE4-9D43-89F2-B87D6C9CEE3A}" type="slidenum">
              <a:rPr lang="en-US" sz="800" smtClean="0">
                <a:solidFill>
                  <a:schemeClr val="bg1"/>
                </a:solidFill>
                <a:latin typeface="Aptos Light" panose="020B0004020202020204" pitchFamily="34" charset="0"/>
                <a:cs typeface="Trebuchet MS"/>
              </a:rPr>
              <a:pPr algn="r"/>
              <a:t>‹#›</a:t>
            </a:fld>
            <a:endParaRPr lang="en-US" sz="800">
              <a:solidFill>
                <a:schemeClr val="bg1"/>
              </a:solidFill>
              <a:latin typeface="Aptos Light" panose="020B0004020202020204" pitchFamily="34" charset="0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D18870A-E346-F1B2-22A6-D46ECBEBD2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45949" y="1020802"/>
            <a:ext cx="8869680" cy="5531539"/>
            <a:chOff x="2983517" y="963640"/>
            <a:chExt cx="9089403" cy="56685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1A6580-CB67-7235-1A71-2DB477216581}"/>
                </a:ext>
              </a:extLst>
            </p:cNvPr>
            <p:cNvSpPr txBox="1"/>
            <p:nvPr/>
          </p:nvSpPr>
          <p:spPr>
            <a:xfrm>
              <a:off x="2983517" y="2312060"/>
              <a:ext cx="1125259" cy="33257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 b="1">
                  <a:solidFill>
                    <a:schemeClr val="bg1"/>
                  </a:solidFill>
                  <a:latin typeface="Aptos Light" panose="020B0004020202020204" pitchFamily="34" charset="0"/>
                </a:rPr>
                <a:t>AMERICAS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  <a:t>Global HQ – Orange </a:t>
              </a:r>
              <a:b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</a:br>
              <a: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  <a:t>County, CA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Bentonville, AR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Chicago, IL 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Norfolk, VA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Columbus, OH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Atlanta, GA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Dallas, TX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Ames, IA 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Toronto, CA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Guadalajara, MX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Leon, MX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San Jose, CR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Santiago, CL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Lima, PE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Sao Paulo, BR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Buenos Aires, AR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D924E6-DC1D-FF89-9FAC-6F9CFF27087A}"/>
                </a:ext>
              </a:extLst>
            </p:cNvPr>
            <p:cNvSpPr txBox="1"/>
            <p:nvPr/>
          </p:nvSpPr>
          <p:spPr>
            <a:xfrm>
              <a:off x="11025049" y="2450336"/>
              <a:ext cx="1047871" cy="1901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solidFill>
                    <a:schemeClr val="bg1"/>
                  </a:solidFill>
                  <a:latin typeface="Aptos Light" panose="020B0004020202020204" pitchFamily="34" charset="0"/>
                </a:rPr>
                <a:t>APAC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Singapore, SG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Manila, PH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Sydney, AU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Melbourne, AU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Brisbane, AU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Penang, MY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Kuala Lumpur, MY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Shanghai, CN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Taipei, TW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Hong Kong, HK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0066C9-A070-DA2F-AE1B-7C806B961544}"/>
                </a:ext>
              </a:extLst>
            </p:cNvPr>
            <p:cNvSpPr txBox="1"/>
            <p:nvPr/>
          </p:nvSpPr>
          <p:spPr>
            <a:xfrm>
              <a:off x="8950848" y="3803083"/>
              <a:ext cx="1099814" cy="1727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solidFill>
                    <a:schemeClr val="bg1"/>
                  </a:solidFill>
                  <a:latin typeface="Aptos Light" panose="020B0004020202020204" pitchFamily="34" charset="0"/>
                </a:rPr>
                <a:t>INDIA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Trivandrum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Bangalore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Chennai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Hyderabad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Kochi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Delhi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Coimbatore 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Hosur 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Pune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FA4FF3-9138-1908-EA5F-3BE0D3DC16A3}"/>
                </a:ext>
              </a:extLst>
            </p:cNvPr>
            <p:cNvSpPr txBox="1"/>
            <p:nvPr/>
          </p:nvSpPr>
          <p:spPr>
            <a:xfrm>
              <a:off x="6163343" y="2482157"/>
              <a:ext cx="686654" cy="13807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solidFill>
                    <a:schemeClr val="bg1"/>
                  </a:solidFill>
                  <a:latin typeface="Aptos Light" panose="020B0004020202020204" pitchFamily="34" charset="0"/>
                </a:rPr>
                <a:t>EMEA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London, UK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Leeds, UK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Dublin, IE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Madrid,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Tel Aviv, IS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Cologne, DE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Lisbon, PT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6D7703-3D90-ACDD-6DC3-50CC3EAA99DC}"/>
                </a:ext>
              </a:extLst>
            </p:cNvPr>
            <p:cNvSpPr txBox="1"/>
            <p:nvPr/>
          </p:nvSpPr>
          <p:spPr>
            <a:xfrm>
              <a:off x="6542019" y="3863646"/>
              <a:ext cx="933061" cy="27685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Paris, FR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Gdansk, PL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Bucharest, RO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Sofia, BG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Helmond, NL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Barcelona,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 b="0">
                  <a:solidFill>
                    <a:schemeClr val="bg1"/>
                  </a:solidFill>
                  <a:latin typeface="Aptos Light" panose="020B0004020202020204" pitchFamily="34" charset="0"/>
                </a:rPr>
                <a:t>Bilbao,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Salamanca,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Valencia,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Zaragoza,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Copenhagen, DK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Zurich, CH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Fribourg, CH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Kyiv, UA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Prague, CZ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Cape Town, ZA</a:t>
              </a:r>
            </a:p>
          </p:txBody>
        </p:sp>
        <p:sp>
          <p:nvSpPr>
            <p:cNvPr id="13" name="World">
              <a:extLst>
                <a:ext uri="{FF2B5EF4-FFF2-40B4-BE49-F238E27FC236}">
                  <a16:creationId xmlns:a16="http://schemas.microsoft.com/office/drawing/2014/main" id="{8024B5DE-EA21-8A83-DD9B-6E5DA923545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97218" y="963640"/>
              <a:ext cx="8858218" cy="4592051"/>
            </a:xfrm>
            <a:custGeom>
              <a:avLst/>
              <a:gdLst>
                <a:gd name="T0" fmla="*/ 7449 w 8611"/>
                <a:gd name="T1" fmla="*/ 1277 h 4463"/>
                <a:gd name="T2" fmla="*/ 6996 w 8611"/>
                <a:gd name="T3" fmla="*/ 2869 h 4463"/>
                <a:gd name="T4" fmla="*/ 6945 w 8611"/>
                <a:gd name="T5" fmla="*/ 3360 h 4463"/>
                <a:gd name="T6" fmla="*/ 7246 w 8611"/>
                <a:gd name="T7" fmla="*/ 3672 h 4463"/>
                <a:gd name="T8" fmla="*/ 7447 w 8611"/>
                <a:gd name="T9" fmla="*/ 3150 h 4463"/>
                <a:gd name="T10" fmla="*/ 6989 w 8611"/>
                <a:gd name="T11" fmla="*/ 2545 h 4463"/>
                <a:gd name="T12" fmla="*/ 6997 w 8611"/>
                <a:gd name="T13" fmla="*/ 2386 h 4463"/>
                <a:gd name="T14" fmla="*/ 8358 w 8611"/>
                <a:gd name="T15" fmla="*/ 3894 h 4463"/>
                <a:gd name="T16" fmla="*/ 7529 w 8611"/>
                <a:gd name="T17" fmla="*/ 3121 h 4463"/>
                <a:gd name="T18" fmla="*/ 7859 w 8611"/>
                <a:gd name="T19" fmla="*/ 432 h 4463"/>
                <a:gd name="T20" fmla="*/ 6732 w 8611"/>
                <a:gd name="T21" fmla="*/ 0 h 4463"/>
                <a:gd name="T22" fmla="*/ 5643 w 8611"/>
                <a:gd name="T23" fmla="*/ 489 h 4463"/>
                <a:gd name="T24" fmla="*/ 4919 w 8611"/>
                <a:gd name="T25" fmla="*/ 675 h 4463"/>
                <a:gd name="T26" fmla="*/ 4128 w 8611"/>
                <a:gd name="T27" fmla="*/ 1077 h 4463"/>
                <a:gd name="T28" fmla="*/ 4567 w 8611"/>
                <a:gd name="T29" fmla="*/ 714 h 4463"/>
                <a:gd name="T30" fmla="*/ 4468 w 8611"/>
                <a:gd name="T31" fmla="*/ 1236 h 4463"/>
                <a:gd name="T32" fmla="*/ 3784 w 8611"/>
                <a:gd name="T33" fmla="*/ 1867 h 4463"/>
                <a:gd name="T34" fmla="*/ 4307 w 8611"/>
                <a:gd name="T35" fmla="*/ 1650 h 4463"/>
                <a:gd name="T36" fmla="*/ 4649 w 8611"/>
                <a:gd name="T37" fmla="*/ 1844 h 4463"/>
                <a:gd name="T38" fmla="*/ 4283 w 8611"/>
                <a:gd name="T39" fmla="*/ 1920 h 4463"/>
                <a:gd name="T40" fmla="*/ 4212 w 8611"/>
                <a:gd name="T41" fmla="*/ 2695 h 4463"/>
                <a:gd name="T42" fmla="*/ 4439 w 8611"/>
                <a:gd name="T43" fmla="*/ 3737 h 4463"/>
                <a:gd name="T44" fmla="*/ 4992 w 8611"/>
                <a:gd name="T45" fmla="*/ 2911 h 4463"/>
                <a:gd name="T46" fmla="*/ 4875 w 8611"/>
                <a:gd name="T47" fmla="*/ 2277 h 4463"/>
                <a:gd name="T48" fmla="*/ 5263 w 8611"/>
                <a:gd name="T49" fmla="*/ 2068 h 4463"/>
                <a:gd name="T50" fmla="*/ 5779 w 8611"/>
                <a:gd name="T51" fmla="*/ 2505 h 4463"/>
                <a:gd name="T52" fmla="*/ 6218 w 8611"/>
                <a:gd name="T53" fmla="*/ 2289 h 4463"/>
                <a:gd name="T54" fmla="*/ 6583 w 8611"/>
                <a:gd name="T55" fmla="*/ 2651 h 4463"/>
                <a:gd name="T56" fmla="*/ 6749 w 8611"/>
                <a:gd name="T57" fmla="*/ 2316 h 4463"/>
                <a:gd name="T58" fmla="*/ 7091 w 8611"/>
                <a:gd name="T59" fmla="*/ 1918 h 4463"/>
                <a:gd name="T60" fmla="*/ 7450 w 8611"/>
                <a:gd name="T61" fmla="*/ 1021 h 4463"/>
                <a:gd name="T62" fmla="*/ 7799 w 8611"/>
                <a:gd name="T63" fmla="*/ 1162 h 4463"/>
                <a:gd name="T64" fmla="*/ 8431 w 8611"/>
                <a:gd name="T65" fmla="*/ 699 h 4463"/>
                <a:gd name="T66" fmla="*/ 7254 w 8611"/>
                <a:gd name="T67" fmla="*/ 1916 h 4463"/>
                <a:gd name="T68" fmla="*/ 7254 w 8611"/>
                <a:gd name="T69" fmla="*/ 1916 h 4463"/>
                <a:gd name="T70" fmla="*/ 7541 w 8611"/>
                <a:gd name="T71" fmla="*/ 3946 h 4463"/>
                <a:gd name="T72" fmla="*/ 5208 w 8611"/>
                <a:gd name="T73" fmla="*/ 3193 h 4463"/>
                <a:gd name="T74" fmla="*/ 2242 w 8611"/>
                <a:gd name="T75" fmla="*/ 2576 h 4463"/>
                <a:gd name="T76" fmla="*/ 2373 w 8611"/>
                <a:gd name="T77" fmla="*/ 4463 h 4463"/>
                <a:gd name="T78" fmla="*/ 2975 w 8611"/>
                <a:gd name="T79" fmla="*/ 2956 h 4463"/>
                <a:gd name="T80" fmla="*/ 2114 w 8611"/>
                <a:gd name="T81" fmla="*/ 811 h 4463"/>
                <a:gd name="T82" fmla="*/ 2633 w 8611"/>
                <a:gd name="T83" fmla="*/ 128 h 4463"/>
                <a:gd name="T84" fmla="*/ 3050 w 8611"/>
                <a:gd name="T85" fmla="*/ 531 h 4463"/>
                <a:gd name="T86" fmla="*/ 3901 w 8611"/>
                <a:gd name="T87" fmla="*/ 1399 h 4463"/>
                <a:gd name="T88" fmla="*/ 3761 w 8611"/>
                <a:gd name="T89" fmla="*/ 1173 h 4463"/>
                <a:gd name="T90" fmla="*/ 6870 w 8611"/>
                <a:gd name="T91" fmla="*/ 2711 h 4463"/>
                <a:gd name="T92" fmla="*/ 6870 w 8611"/>
                <a:gd name="T93" fmla="*/ 2932 h 4463"/>
                <a:gd name="T94" fmla="*/ 1714 w 8611"/>
                <a:gd name="T95" fmla="*/ 2085 h 4463"/>
                <a:gd name="T96" fmla="*/ 2611 w 8611"/>
                <a:gd name="T97" fmla="*/ 1404 h 4463"/>
                <a:gd name="T98" fmla="*/ 2171 w 8611"/>
                <a:gd name="T99" fmla="*/ 883 h 4463"/>
                <a:gd name="T100" fmla="*/ 2362 w 8611"/>
                <a:gd name="T101" fmla="*/ 841 h 4463"/>
                <a:gd name="T102" fmla="*/ 1050 w 8611"/>
                <a:gd name="T103" fmla="*/ 396 h 4463"/>
                <a:gd name="T104" fmla="*/ 380 w 8611"/>
                <a:gd name="T105" fmla="*/ 1112 h 4463"/>
                <a:gd name="T106" fmla="*/ 1651 w 8611"/>
                <a:gd name="T107" fmla="*/ 2481 h 4463"/>
                <a:gd name="T108" fmla="*/ 6560 w 8611"/>
                <a:gd name="T109" fmla="*/ 2743 h 4463"/>
                <a:gd name="T110" fmla="*/ 6523 w 8611"/>
                <a:gd name="T111" fmla="*/ 2780 h 4463"/>
                <a:gd name="T112" fmla="*/ 6579 w 8611"/>
                <a:gd name="T113" fmla="*/ 2979 h 4463"/>
                <a:gd name="T114" fmla="*/ 5948 w 8611"/>
                <a:gd name="T115" fmla="*/ 2706 h 4463"/>
                <a:gd name="T116" fmla="*/ 3654 w 8611"/>
                <a:gd name="T117" fmla="*/ 811 h 4463"/>
                <a:gd name="T118" fmla="*/ 3654 w 8611"/>
                <a:gd name="T119" fmla="*/ 811 h 4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11" h="4463">
                  <a:moveTo>
                    <a:pt x="7449" y="1700"/>
                  </a:moveTo>
                  <a:lnTo>
                    <a:pt x="7449" y="1700"/>
                  </a:lnTo>
                  <a:lnTo>
                    <a:pt x="7510" y="1700"/>
                  </a:lnTo>
                  <a:lnTo>
                    <a:pt x="7510" y="1277"/>
                  </a:lnTo>
                  <a:lnTo>
                    <a:pt x="7449" y="1277"/>
                  </a:lnTo>
                  <a:lnTo>
                    <a:pt x="7449" y="1700"/>
                  </a:lnTo>
                  <a:close/>
                  <a:moveTo>
                    <a:pt x="6916" y="2980"/>
                  </a:moveTo>
                  <a:lnTo>
                    <a:pt x="6916" y="2980"/>
                  </a:lnTo>
                  <a:lnTo>
                    <a:pt x="6996" y="2980"/>
                  </a:lnTo>
                  <a:lnTo>
                    <a:pt x="6996" y="2869"/>
                  </a:lnTo>
                  <a:lnTo>
                    <a:pt x="6916" y="2869"/>
                  </a:lnTo>
                  <a:lnTo>
                    <a:pt x="6916" y="2980"/>
                  </a:lnTo>
                  <a:close/>
                  <a:moveTo>
                    <a:pt x="7155" y="3150"/>
                  </a:moveTo>
                  <a:lnTo>
                    <a:pt x="7155" y="3150"/>
                  </a:lnTo>
                  <a:lnTo>
                    <a:pt x="6945" y="3360"/>
                  </a:lnTo>
                  <a:lnTo>
                    <a:pt x="6803" y="3360"/>
                  </a:lnTo>
                  <a:lnTo>
                    <a:pt x="6803" y="3741"/>
                  </a:lnTo>
                  <a:lnTo>
                    <a:pt x="7014" y="3741"/>
                  </a:lnTo>
                  <a:lnTo>
                    <a:pt x="7083" y="3672"/>
                  </a:lnTo>
                  <a:lnTo>
                    <a:pt x="7246" y="3672"/>
                  </a:lnTo>
                  <a:lnTo>
                    <a:pt x="7428" y="3854"/>
                  </a:lnTo>
                  <a:lnTo>
                    <a:pt x="7578" y="3854"/>
                  </a:lnTo>
                  <a:lnTo>
                    <a:pt x="7751" y="3682"/>
                  </a:lnTo>
                  <a:lnTo>
                    <a:pt x="7751" y="3453"/>
                  </a:lnTo>
                  <a:lnTo>
                    <a:pt x="7447" y="3150"/>
                  </a:lnTo>
                  <a:lnTo>
                    <a:pt x="7155" y="3150"/>
                  </a:lnTo>
                  <a:close/>
                  <a:moveTo>
                    <a:pt x="6938" y="2386"/>
                  </a:moveTo>
                  <a:lnTo>
                    <a:pt x="6938" y="2386"/>
                  </a:lnTo>
                  <a:lnTo>
                    <a:pt x="6938" y="2494"/>
                  </a:lnTo>
                  <a:lnTo>
                    <a:pt x="6989" y="2545"/>
                  </a:lnTo>
                  <a:lnTo>
                    <a:pt x="6989" y="2707"/>
                  </a:lnTo>
                  <a:lnTo>
                    <a:pt x="7091" y="2707"/>
                  </a:lnTo>
                  <a:lnTo>
                    <a:pt x="7091" y="2566"/>
                  </a:lnTo>
                  <a:lnTo>
                    <a:pt x="6997" y="2472"/>
                  </a:lnTo>
                  <a:lnTo>
                    <a:pt x="6997" y="2386"/>
                  </a:lnTo>
                  <a:lnTo>
                    <a:pt x="6938" y="2386"/>
                  </a:lnTo>
                  <a:close/>
                  <a:moveTo>
                    <a:pt x="8059" y="4075"/>
                  </a:moveTo>
                  <a:lnTo>
                    <a:pt x="8059" y="4075"/>
                  </a:lnTo>
                  <a:lnTo>
                    <a:pt x="8118" y="4134"/>
                  </a:lnTo>
                  <a:lnTo>
                    <a:pt x="8358" y="3894"/>
                  </a:lnTo>
                  <a:lnTo>
                    <a:pt x="8299" y="3835"/>
                  </a:lnTo>
                  <a:lnTo>
                    <a:pt x="8059" y="4075"/>
                  </a:lnTo>
                  <a:close/>
                  <a:moveTo>
                    <a:pt x="7322" y="2914"/>
                  </a:moveTo>
                  <a:lnTo>
                    <a:pt x="7322" y="2914"/>
                  </a:lnTo>
                  <a:lnTo>
                    <a:pt x="7529" y="3121"/>
                  </a:lnTo>
                  <a:lnTo>
                    <a:pt x="7598" y="3053"/>
                  </a:lnTo>
                  <a:lnTo>
                    <a:pt x="7390" y="2845"/>
                  </a:lnTo>
                  <a:lnTo>
                    <a:pt x="7322" y="2914"/>
                  </a:lnTo>
                  <a:close/>
                  <a:moveTo>
                    <a:pt x="7859" y="432"/>
                  </a:moveTo>
                  <a:lnTo>
                    <a:pt x="7859" y="432"/>
                  </a:lnTo>
                  <a:lnTo>
                    <a:pt x="7690" y="263"/>
                  </a:lnTo>
                  <a:lnTo>
                    <a:pt x="7189" y="263"/>
                  </a:lnTo>
                  <a:lnTo>
                    <a:pt x="7117" y="191"/>
                  </a:lnTo>
                  <a:lnTo>
                    <a:pt x="6732" y="191"/>
                  </a:lnTo>
                  <a:lnTo>
                    <a:pt x="6732" y="0"/>
                  </a:lnTo>
                  <a:lnTo>
                    <a:pt x="6062" y="0"/>
                  </a:lnTo>
                  <a:lnTo>
                    <a:pt x="5852" y="209"/>
                  </a:lnTo>
                  <a:lnTo>
                    <a:pt x="5697" y="209"/>
                  </a:lnTo>
                  <a:lnTo>
                    <a:pt x="5643" y="262"/>
                  </a:lnTo>
                  <a:lnTo>
                    <a:pt x="5643" y="489"/>
                  </a:lnTo>
                  <a:lnTo>
                    <a:pt x="5243" y="489"/>
                  </a:lnTo>
                  <a:lnTo>
                    <a:pt x="4953" y="779"/>
                  </a:lnTo>
                  <a:lnTo>
                    <a:pt x="4867" y="779"/>
                  </a:lnTo>
                  <a:lnTo>
                    <a:pt x="4865" y="675"/>
                  </a:lnTo>
                  <a:lnTo>
                    <a:pt x="4919" y="675"/>
                  </a:lnTo>
                  <a:lnTo>
                    <a:pt x="5004" y="590"/>
                  </a:lnTo>
                  <a:lnTo>
                    <a:pt x="4777" y="363"/>
                  </a:lnTo>
                  <a:lnTo>
                    <a:pt x="4578" y="363"/>
                  </a:lnTo>
                  <a:lnTo>
                    <a:pt x="4128" y="813"/>
                  </a:lnTo>
                  <a:lnTo>
                    <a:pt x="4128" y="1077"/>
                  </a:lnTo>
                  <a:lnTo>
                    <a:pt x="4216" y="1077"/>
                  </a:lnTo>
                  <a:lnTo>
                    <a:pt x="4341" y="1201"/>
                  </a:lnTo>
                  <a:lnTo>
                    <a:pt x="4434" y="1108"/>
                  </a:lnTo>
                  <a:lnTo>
                    <a:pt x="4434" y="848"/>
                  </a:lnTo>
                  <a:lnTo>
                    <a:pt x="4567" y="714"/>
                  </a:lnTo>
                  <a:lnTo>
                    <a:pt x="4599" y="745"/>
                  </a:lnTo>
                  <a:lnTo>
                    <a:pt x="4494" y="849"/>
                  </a:lnTo>
                  <a:lnTo>
                    <a:pt x="4494" y="1009"/>
                  </a:lnTo>
                  <a:lnTo>
                    <a:pt x="4695" y="1009"/>
                  </a:lnTo>
                  <a:lnTo>
                    <a:pt x="4468" y="1236"/>
                  </a:lnTo>
                  <a:lnTo>
                    <a:pt x="4208" y="1237"/>
                  </a:lnTo>
                  <a:lnTo>
                    <a:pt x="3961" y="1484"/>
                  </a:lnTo>
                  <a:lnTo>
                    <a:pt x="3961" y="1645"/>
                  </a:lnTo>
                  <a:lnTo>
                    <a:pt x="3784" y="1645"/>
                  </a:lnTo>
                  <a:lnTo>
                    <a:pt x="3784" y="1867"/>
                  </a:lnTo>
                  <a:lnTo>
                    <a:pt x="3946" y="1868"/>
                  </a:lnTo>
                  <a:lnTo>
                    <a:pt x="4188" y="1625"/>
                  </a:lnTo>
                  <a:lnTo>
                    <a:pt x="4377" y="1813"/>
                  </a:lnTo>
                  <a:lnTo>
                    <a:pt x="4424" y="1767"/>
                  </a:lnTo>
                  <a:lnTo>
                    <a:pt x="4307" y="1650"/>
                  </a:lnTo>
                  <a:lnTo>
                    <a:pt x="4307" y="1580"/>
                  </a:lnTo>
                  <a:lnTo>
                    <a:pt x="4476" y="1749"/>
                  </a:lnTo>
                  <a:lnTo>
                    <a:pt x="4476" y="1788"/>
                  </a:lnTo>
                  <a:lnTo>
                    <a:pt x="4532" y="1844"/>
                  </a:lnTo>
                  <a:lnTo>
                    <a:pt x="4649" y="1844"/>
                  </a:lnTo>
                  <a:lnTo>
                    <a:pt x="4727" y="1922"/>
                  </a:lnTo>
                  <a:lnTo>
                    <a:pt x="4864" y="1922"/>
                  </a:lnTo>
                  <a:lnTo>
                    <a:pt x="4864" y="2062"/>
                  </a:lnTo>
                  <a:lnTo>
                    <a:pt x="4425" y="2062"/>
                  </a:lnTo>
                  <a:lnTo>
                    <a:pt x="4283" y="1920"/>
                  </a:lnTo>
                  <a:lnTo>
                    <a:pt x="3886" y="1920"/>
                  </a:lnTo>
                  <a:lnTo>
                    <a:pt x="3577" y="2229"/>
                  </a:lnTo>
                  <a:lnTo>
                    <a:pt x="3577" y="2540"/>
                  </a:lnTo>
                  <a:lnTo>
                    <a:pt x="3732" y="2695"/>
                  </a:lnTo>
                  <a:lnTo>
                    <a:pt x="4212" y="2695"/>
                  </a:lnTo>
                  <a:lnTo>
                    <a:pt x="4212" y="2859"/>
                  </a:lnTo>
                  <a:lnTo>
                    <a:pt x="4315" y="2961"/>
                  </a:lnTo>
                  <a:lnTo>
                    <a:pt x="4315" y="3459"/>
                  </a:lnTo>
                  <a:lnTo>
                    <a:pt x="4439" y="3583"/>
                  </a:lnTo>
                  <a:lnTo>
                    <a:pt x="4439" y="3737"/>
                  </a:lnTo>
                  <a:lnTo>
                    <a:pt x="4552" y="3737"/>
                  </a:lnTo>
                  <a:lnTo>
                    <a:pt x="4795" y="3494"/>
                  </a:lnTo>
                  <a:lnTo>
                    <a:pt x="4795" y="3425"/>
                  </a:lnTo>
                  <a:lnTo>
                    <a:pt x="4992" y="3228"/>
                  </a:lnTo>
                  <a:lnTo>
                    <a:pt x="4992" y="2911"/>
                  </a:lnTo>
                  <a:lnTo>
                    <a:pt x="5215" y="2687"/>
                  </a:lnTo>
                  <a:lnTo>
                    <a:pt x="5215" y="2591"/>
                  </a:lnTo>
                  <a:lnTo>
                    <a:pt x="5101" y="2591"/>
                  </a:lnTo>
                  <a:lnTo>
                    <a:pt x="4831" y="2321"/>
                  </a:lnTo>
                  <a:lnTo>
                    <a:pt x="4875" y="2277"/>
                  </a:lnTo>
                  <a:lnTo>
                    <a:pt x="5112" y="2514"/>
                  </a:lnTo>
                  <a:lnTo>
                    <a:pt x="5267" y="2514"/>
                  </a:lnTo>
                  <a:lnTo>
                    <a:pt x="5461" y="2320"/>
                  </a:lnTo>
                  <a:lnTo>
                    <a:pt x="5237" y="2094"/>
                  </a:lnTo>
                  <a:lnTo>
                    <a:pt x="5263" y="2068"/>
                  </a:lnTo>
                  <a:lnTo>
                    <a:pt x="5395" y="2200"/>
                  </a:lnTo>
                  <a:lnTo>
                    <a:pt x="5600" y="2200"/>
                  </a:lnTo>
                  <a:lnTo>
                    <a:pt x="5715" y="2314"/>
                  </a:lnTo>
                  <a:lnTo>
                    <a:pt x="5779" y="2314"/>
                  </a:lnTo>
                  <a:lnTo>
                    <a:pt x="5779" y="2505"/>
                  </a:lnTo>
                  <a:lnTo>
                    <a:pt x="5907" y="2632"/>
                  </a:lnTo>
                  <a:lnTo>
                    <a:pt x="5963" y="2575"/>
                  </a:lnTo>
                  <a:lnTo>
                    <a:pt x="5963" y="2445"/>
                  </a:lnTo>
                  <a:lnTo>
                    <a:pt x="6162" y="2289"/>
                  </a:lnTo>
                  <a:lnTo>
                    <a:pt x="6218" y="2289"/>
                  </a:lnTo>
                  <a:lnTo>
                    <a:pt x="6307" y="2378"/>
                  </a:lnTo>
                  <a:cubicBezTo>
                    <a:pt x="6307" y="2378"/>
                    <a:pt x="6300" y="2447"/>
                    <a:pt x="6307" y="2447"/>
                  </a:cubicBezTo>
                  <a:lnTo>
                    <a:pt x="6379" y="2447"/>
                  </a:lnTo>
                  <a:lnTo>
                    <a:pt x="6579" y="2647"/>
                  </a:lnTo>
                  <a:lnTo>
                    <a:pt x="6583" y="2651"/>
                  </a:lnTo>
                  <a:lnTo>
                    <a:pt x="6669" y="2564"/>
                  </a:lnTo>
                  <a:lnTo>
                    <a:pt x="6669" y="2478"/>
                  </a:lnTo>
                  <a:lnTo>
                    <a:pt x="6567" y="2376"/>
                  </a:lnTo>
                  <a:lnTo>
                    <a:pt x="6628" y="2316"/>
                  </a:lnTo>
                  <a:lnTo>
                    <a:pt x="6749" y="2316"/>
                  </a:lnTo>
                  <a:lnTo>
                    <a:pt x="6965" y="2099"/>
                  </a:lnTo>
                  <a:lnTo>
                    <a:pt x="6965" y="1959"/>
                  </a:lnTo>
                  <a:lnTo>
                    <a:pt x="6863" y="1857"/>
                  </a:lnTo>
                  <a:lnTo>
                    <a:pt x="6947" y="1774"/>
                  </a:lnTo>
                  <a:lnTo>
                    <a:pt x="7091" y="1918"/>
                  </a:lnTo>
                  <a:lnTo>
                    <a:pt x="7153" y="1918"/>
                  </a:lnTo>
                  <a:lnTo>
                    <a:pt x="7153" y="1799"/>
                  </a:lnTo>
                  <a:lnTo>
                    <a:pt x="7371" y="1582"/>
                  </a:lnTo>
                  <a:lnTo>
                    <a:pt x="7371" y="1100"/>
                  </a:lnTo>
                  <a:lnTo>
                    <a:pt x="7450" y="1021"/>
                  </a:lnTo>
                  <a:lnTo>
                    <a:pt x="7770" y="1021"/>
                  </a:lnTo>
                  <a:lnTo>
                    <a:pt x="7883" y="908"/>
                  </a:lnTo>
                  <a:lnTo>
                    <a:pt x="8002" y="908"/>
                  </a:lnTo>
                  <a:lnTo>
                    <a:pt x="8002" y="958"/>
                  </a:lnTo>
                  <a:lnTo>
                    <a:pt x="7799" y="1162"/>
                  </a:lnTo>
                  <a:lnTo>
                    <a:pt x="7799" y="1388"/>
                  </a:lnTo>
                  <a:lnTo>
                    <a:pt x="7842" y="1388"/>
                  </a:lnTo>
                  <a:lnTo>
                    <a:pt x="7985" y="1244"/>
                  </a:lnTo>
                  <a:lnTo>
                    <a:pt x="7985" y="1119"/>
                  </a:lnTo>
                  <a:cubicBezTo>
                    <a:pt x="7985" y="1119"/>
                    <a:pt x="8427" y="699"/>
                    <a:pt x="8431" y="699"/>
                  </a:cubicBezTo>
                  <a:lnTo>
                    <a:pt x="8526" y="794"/>
                  </a:lnTo>
                  <a:lnTo>
                    <a:pt x="8611" y="709"/>
                  </a:lnTo>
                  <a:lnTo>
                    <a:pt x="8334" y="432"/>
                  </a:lnTo>
                  <a:lnTo>
                    <a:pt x="7859" y="432"/>
                  </a:lnTo>
                  <a:close/>
                  <a:moveTo>
                    <a:pt x="7254" y="1916"/>
                  </a:moveTo>
                  <a:lnTo>
                    <a:pt x="7254" y="1916"/>
                  </a:lnTo>
                  <a:lnTo>
                    <a:pt x="7311" y="1974"/>
                  </a:lnTo>
                  <a:lnTo>
                    <a:pt x="7498" y="1787"/>
                  </a:lnTo>
                  <a:lnTo>
                    <a:pt x="7441" y="1729"/>
                  </a:lnTo>
                  <a:lnTo>
                    <a:pt x="7254" y="1916"/>
                  </a:lnTo>
                  <a:close/>
                  <a:moveTo>
                    <a:pt x="7541" y="4030"/>
                  </a:moveTo>
                  <a:lnTo>
                    <a:pt x="7541" y="4030"/>
                  </a:lnTo>
                  <a:lnTo>
                    <a:pt x="7639" y="4030"/>
                  </a:lnTo>
                  <a:lnTo>
                    <a:pt x="7639" y="3946"/>
                  </a:lnTo>
                  <a:lnTo>
                    <a:pt x="7541" y="3946"/>
                  </a:lnTo>
                  <a:lnTo>
                    <a:pt x="7541" y="4030"/>
                  </a:lnTo>
                  <a:close/>
                  <a:moveTo>
                    <a:pt x="5088" y="3476"/>
                  </a:moveTo>
                  <a:lnTo>
                    <a:pt x="5088" y="3476"/>
                  </a:lnTo>
                  <a:lnTo>
                    <a:pt x="5208" y="3476"/>
                  </a:lnTo>
                  <a:lnTo>
                    <a:pt x="5208" y="3193"/>
                  </a:lnTo>
                  <a:lnTo>
                    <a:pt x="5088" y="3193"/>
                  </a:lnTo>
                  <a:lnTo>
                    <a:pt x="5088" y="3476"/>
                  </a:lnTo>
                  <a:close/>
                  <a:moveTo>
                    <a:pt x="2594" y="2576"/>
                  </a:moveTo>
                  <a:lnTo>
                    <a:pt x="2594" y="2576"/>
                  </a:lnTo>
                  <a:lnTo>
                    <a:pt x="2242" y="2576"/>
                  </a:lnTo>
                  <a:lnTo>
                    <a:pt x="2071" y="2747"/>
                  </a:lnTo>
                  <a:lnTo>
                    <a:pt x="2071" y="2999"/>
                  </a:lnTo>
                  <a:lnTo>
                    <a:pt x="2265" y="3193"/>
                  </a:lnTo>
                  <a:lnTo>
                    <a:pt x="2265" y="4354"/>
                  </a:lnTo>
                  <a:lnTo>
                    <a:pt x="2373" y="4463"/>
                  </a:lnTo>
                  <a:lnTo>
                    <a:pt x="2429" y="4463"/>
                  </a:lnTo>
                  <a:lnTo>
                    <a:pt x="2429" y="4071"/>
                  </a:lnTo>
                  <a:lnTo>
                    <a:pt x="3166" y="3334"/>
                  </a:lnTo>
                  <a:lnTo>
                    <a:pt x="3166" y="2956"/>
                  </a:lnTo>
                  <a:lnTo>
                    <a:pt x="2975" y="2956"/>
                  </a:lnTo>
                  <a:lnTo>
                    <a:pt x="2594" y="2576"/>
                  </a:lnTo>
                  <a:close/>
                  <a:moveTo>
                    <a:pt x="1937" y="787"/>
                  </a:moveTo>
                  <a:lnTo>
                    <a:pt x="1937" y="787"/>
                  </a:lnTo>
                  <a:lnTo>
                    <a:pt x="2037" y="887"/>
                  </a:lnTo>
                  <a:lnTo>
                    <a:pt x="2114" y="811"/>
                  </a:lnTo>
                  <a:lnTo>
                    <a:pt x="2013" y="710"/>
                  </a:lnTo>
                  <a:lnTo>
                    <a:pt x="1937" y="787"/>
                  </a:lnTo>
                  <a:close/>
                  <a:moveTo>
                    <a:pt x="3552" y="128"/>
                  </a:moveTo>
                  <a:lnTo>
                    <a:pt x="3552" y="128"/>
                  </a:lnTo>
                  <a:lnTo>
                    <a:pt x="2633" y="128"/>
                  </a:lnTo>
                  <a:lnTo>
                    <a:pt x="2633" y="262"/>
                  </a:lnTo>
                  <a:lnTo>
                    <a:pt x="2784" y="262"/>
                  </a:lnTo>
                  <a:cubicBezTo>
                    <a:pt x="2784" y="262"/>
                    <a:pt x="2787" y="688"/>
                    <a:pt x="2784" y="685"/>
                  </a:cubicBezTo>
                  <a:lnTo>
                    <a:pt x="2896" y="685"/>
                  </a:lnTo>
                  <a:lnTo>
                    <a:pt x="3050" y="531"/>
                  </a:lnTo>
                  <a:lnTo>
                    <a:pt x="3270" y="531"/>
                  </a:lnTo>
                  <a:lnTo>
                    <a:pt x="3552" y="249"/>
                  </a:lnTo>
                  <a:lnTo>
                    <a:pt x="3552" y="128"/>
                  </a:lnTo>
                  <a:close/>
                  <a:moveTo>
                    <a:pt x="3901" y="1399"/>
                  </a:moveTo>
                  <a:lnTo>
                    <a:pt x="3901" y="1399"/>
                  </a:lnTo>
                  <a:lnTo>
                    <a:pt x="4001" y="1399"/>
                  </a:lnTo>
                  <a:lnTo>
                    <a:pt x="4001" y="1208"/>
                  </a:lnTo>
                  <a:lnTo>
                    <a:pt x="3873" y="1080"/>
                  </a:lnTo>
                  <a:lnTo>
                    <a:pt x="3855" y="1080"/>
                  </a:lnTo>
                  <a:lnTo>
                    <a:pt x="3761" y="1173"/>
                  </a:lnTo>
                  <a:lnTo>
                    <a:pt x="3761" y="1342"/>
                  </a:lnTo>
                  <a:lnTo>
                    <a:pt x="3843" y="1342"/>
                  </a:lnTo>
                  <a:lnTo>
                    <a:pt x="3901" y="1399"/>
                  </a:lnTo>
                  <a:close/>
                  <a:moveTo>
                    <a:pt x="6870" y="2711"/>
                  </a:moveTo>
                  <a:lnTo>
                    <a:pt x="6870" y="2711"/>
                  </a:lnTo>
                  <a:lnTo>
                    <a:pt x="6830" y="2672"/>
                  </a:lnTo>
                  <a:lnTo>
                    <a:pt x="6671" y="2831"/>
                  </a:lnTo>
                  <a:lnTo>
                    <a:pt x="6671" y="2876"/>
                  </a:lnTo>
                  <a:lnTo>
                    <a:pt x="6727" y="2932"/>
                  </a:lnTo>
                  <a:lnTo>
                    <a:pt x="6870" y="2932"/>
                  </a:lnTo>
                  <a:lnTo>
                    <a:pt x="6870" y="2711"/>
                  </a:lnTo>
                  <a:close/>
                  <a:moveTo>
                    <a:pt x="1815" y="2319"/>
                  </a:moveTo>
                  <a:lnTo>
                    <a:pt x="1815" y="2319"/>
                  </a:lnTo>
                  <a:lnTo>
                    <a:pt x="1713" y="2319"/>
                  </a:lnTo>
                  <a:lnTo>
                    <a:pt x="1714" y="2085"/>
                  </a:lnTo>
                  <a:lnTo>
                    <a:pt x="2032" y="2085"/>
                  </a:lnTo>
                  <a:lnTo>
                    <a:pt x="2034" y="2177"/>
                  </a:lnTo>
                  <a:lnTo>
                    <a:pt x="2115" y="2177"/>
                  </a:lnTo>
                  <a:lnTo>
                    <a:pt x="2115" y="1900"/>
                  </a:lnTo>
                  <a:lnTo>
                    <a:pt x="2611" y="1404"/>
                  </a:lnTo>
                  <a:lnTo>
                    <a:pt x="2696" y="1404"/>
                  </a:lnTo>
                  <a:lnTo>
                    <a:pt x="2697" y="1282"/>
                  </a:lnTo>
                  <a:lnTo>
                    <a:pt x="2691" y="1277"/>
                  </a:lnTo>
                  <a:lnTo>
                    <a:pt x="2297" y="883"/>
                  </a:lnTo>
                  <a:lnTo>
                    <a:pt x="2171" y="883"/>
                  </a:lnTo>
                  <a:lnTo>
                    <a:pt x="2171" y="1188"/>
                  </a:lnTo>
                  <a:lnTo>
                    <a:pt x="1812" y="1188"/>
                  </a:lnTo>
                  <a:lnTo>
                    <a:pt x="1812" y="864"/>
                  </a:lnTo>
                  <a:lnTo>
                    <a:pt x="2099" y="578"/>
                  </a:lnTo>
                  <a:lnTo>
                    <a:pt x="2362" y="841"/>
                  </a:lnTo>
                  <a:lnTo>
                    <a:pt x="2432" y="841"/>
                  </a:lnTo>
                  <a:cubicBezTo>
                    <a:pt x="2432" y="841"/>
                    <a:pt x="2594" y="676"/>
                    <a:pt x="2594" y="676"/>
                  </a:cubicBezTo>
                  <a:lnTo>
                    <a:pt x="2182" y="265"/>
                  </a:lnTo>
                  <a:lnTo>
                    <a:pt x="1181" y="265"/>
                  </a:lnTo>
                  <a:lnTo>
                    <a:pt x="1050" y="396"/>
                  </a:lnTo>
                  <a:lnTo>
                    <a:pt x="163" y="396"/>
                  </a:lnTo>
                  <a:lnTo>
                    <a:pt x="0" y="560"/>
                  </a:lnTo>
                  <a:lnTo>
                    <a:pt x="0" y="953"/>
                  </a:lnTo>
                  <a:lnTo>
                    <a:pt x="159" y="1112"/>
                  </a:lnTo>
                  <a:lnTo>
                    <a:pt x="380" y="1112"/>
                  </a:lnTo>
                  <a:lnTo>
                    <a:pt x="380" y="978"/>
                  </a:lnTo>
                  <a:lnTo>
                    <a:pt x="577" y="978"/>
                  </a:lnTo>
                  <a:lnTo>
                    <a:pt x="1000" y="1401"/>
                  </a:lnTo>
                  <a:lnTo>
                    <a:pt x="1000" y="1829"/>
                  </a:lnTo>
                  <a:lnTo>
                    <a:pt x="1651" y="2481"/>
                  </a:lnTo>
                  <a:lnTo>
                    <a:pt x="1808" y="2481"/>
                  </a:lnTo>
                  <a:lnTo>
                    <a:pt x="1999" y="2671"/>
                  </a:lnTo>
                  <a:lnTo>
                    <a:pt x="2083" y="2587"/>
                  </a:lnTo>
                  <a:lnTo>
                    <a:pt x="1815" y="2319"/>
                  </a:lnTo>
                  <a:close/>
                  <a:moveTo>
                    <a:pt x="6560" y="2743"/>
                  </a:moveTo>
                  <a:lnTo>
                    <a:pt x="6560" y="2743"/>
                  </a:lnTo>
                  <a:lnTo>
                    <a:pt x="6539" y="2722"/>
                  </a:lnTo>
                  <a:lnTo>
                    <a:pt x="6406" y="2589"/>
                  </a:lnTo>
                  <a:cubicBezTo>
                    <a:pt x="6407" y="2588"/>
                    <a:pt x="6369" y="2625"/>
                    <a:pt x="6369" y="2625"/>
                  </a:cubicBezTo>
                  <a:lnTo>
                    <a:pt x="6523" y="2780"/>
                  </a:lnTo>
                  <a:lnTo>
                    <a:pt x="6560" y="2743"/>
                  </a:lnTo>
                  <a:close/>
                  <a:moveTo>
                    <a:pt x="6393" y="2695"/>
                  </a:moveTo>
                  <a:lnTo>
                    <a:pt x="6393" y="2695"/>
                  </a:lnTo>
                  <a:cubicBezTo>
                    <a:pt x="6395" y="2693"/>
                    <a:pt x="6346" y="2743"/>
                    <a:pt x="6346" y="2743"/>
                  </a:cubicBezTo>
                  <a:lnTo>
                    <a:pt x="6579" y="2979"/>
                  </a:lnTo>
                  <a:lnTo>
                    <a:pt x="6628" y="2930"/>
                  </a:lnTo>
                  <a:lnTo>
                    <a:pt x="6595" y="2896"/>
                  </a:lnTo>
                  <a:lnTo>
                    <a:pt x="6393" y="2695"/>
                  </a:lnTo>
                  <a:close/>
                  <a:moveTo>
                    <a:pt x="5948" y="2706"/>
                  </a:moveTo>
                  <a:lnTo>
                    <a:pt x="5948" y="2706"/>
                  </a:lnTo>
                  <a:lnTo>
                    <a:pt x="6008" y="2706"/>
                  </a:lnTo>
                  <a:lnTo>
                    <a:pt x="6008" y="2622"/>
                  </a:lnTo>
                  <a:lnTo>
                    <a:pt x="5948" y="2622"/>
                  </a:lnTo>
                  <a:lnTo>
                    <a:pt x="5948" y="2706"/>
                  </a:lnTo>
                  <a:close/>
                  <a:moveTo>
                    <a:pt x="3654" y="811"/>
                  </a:moveTo>
                  <a:lnTo>
                    <a:pt x="3654" y="811"/>
                  </a:lnTo>
                  <a:lnTo>
                    <a:pt x="3436" y="811"/>
                  </a:lnTo>
                  <a:lnTo>
                    <a:pt x="3436" y="660"/>
                  </a:lnTo>
                  <a:lnTo>
                    <a:pt x="3654" y="660"/>
                  </a:lnTo>
                  <a:lnTo>
                    <a:pt x="3654" y="811"/>
                  </a:lnTo>
                  <a:close/>
                </a:path>
              </a:pathLst>
            </a:custGeom>
            <a:solidFill>
              <a:srgbClr val="ECECE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4" name="Square">
              <a:extLst>
                <a:ext uri="{FF2B5EF4-FFF2-40B4-BE49-F238E27FC236}">
                  <a16:creationId xmlns:a16="http://schemas.microsoft.com/office/drawing/2014/main" id="{78F28C0B-EE17-FE5C-29A6-D490430634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18572" y="2786673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5" name="Square">
              <a:extLst>
                <a:ext uri="{FF2B5EF4-FFF2-40B4-BE49-F238E27FC236}">
                  <a16:creationId xmlns:a16="http://schemas.microsoft.com/office/drawing/2014/main" id="{F313B337-D410-C256-7A60-73F52A7900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0977" y="2381748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6" name="Square">
              <a:extLst>
                <a:ext uri="{FF2B5EF4-FFF2-40B4-BE49-F238E27FC236}">
                  <a16:creationId xmlns:a16="http://schemas.microsoft.com/office/drawing/2014/main" id="{6E89EA96-92A7-F79B-1087-B2B8401505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46388" y="276716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7" name="Square">
              <a:extLst>
                <a:ext uri="{FF2B5EF4-FFF2-40B4-BE49-F238E27FC236}">
                  <a16:creationId xmlns:a16="http://schemas.microsoft.com/office/drawing/2014/main" id="{3E138560-1DC0-6ADE-740A-52727099CC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26474" y="276716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8" name="Square">
              <a:extLst>
                <a:ext uri="{FF2B5EF4-FFF2-40B4-BE49-F238E27FC236}">
                  <a16:creationId xmlns:a16="http://schemas.microsoft.com/office/drawing/2014/main" id="{3DBD4985-DB6B-71BC-FC84-748FC39E0CB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1053" y="253845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19" name="Square">
              <a:extLst>
                <a:ext uri="{FF2B5EF4-FFF2-40B4-BE49-F238E27FC236}">
                  <a16:creationId xmlns:a16="http://schemas.microsoft.com/office/drawing/2014/main" id="{A0EF2A1C-8460-7BB7-3344-7B7060B50C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81190" y="288849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0" name="Square">
              <a:extLst>
                <a:ext uri="{FF2B5EF4-FFF2-40B4-BE49-F238E27FC236}">
                  <a16:creationId xmlns:a16="http://schemas.microsoft.com/office/drawing/2014/main" id="{B23BC48D-003B-D92E-3A69-C92FB076CD1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6004" y="293314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1" name="Square">
              <a:extLst>
                <a:ext uri="{FF2B5EF4-FFF2-40B4-BE49-F238E27FC236}">
                  <a16:creationId xmlns:a16="http://schemas.microsoft.com/office/drawing/2014/main" id="{14DF2E20-7D8B-2F53-0C96-F1974F71570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66794" y="240969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2" name="Square">
              <a:extLst>
                <a:ext uri="{FF2B5EF4-FFF2-40B4-BE49-F238E27FC236}">
                  <a16:creationId xmlns:a16="http://schemas.microsoft.com/office/drawing/2014/main" id="{2C404269-3AB2-3C7C-D359-29A39A54B6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95321" y="227295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3" name="Square">
              <a:extLst>
                <a:ext uri="{FF2B5EF4-FFF2-40B4-BE49-F238E27FC236}">
                  <a16:creationId xmlns:a16="http://schemas.microsoft.com/office/drawing/2014/main" id="{0AEC570E-CC37-8EF1-6FD7-8A6FFE4B3E2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85076" y="340565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4" name="Square">
              <a:extLst>
                <a:ext uri="{FF2B5EF4-FFF2-40B4-BE49-F238E27FC236}">
                  <a16:creationId xmlns:a16="http://schemas.microsoft.com/office/drawing/2014/main" id="{95114185-59EA-43CE-885F-C627291A0A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27563" y="332601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5" name="Square">
              <a:extLst>
                <a:ext uri="{FF2B5EF4-FFF2-40B4-BE49-F238E27FC236}">
                  <a16:creationId xmlns:a16="http://schemas.microsoft.com/office/drawing/2014/main" id="{13E9070B-7C63-5625-F2CC-B88D3A90E8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6000" y="349263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6" name="Square">
              <a:extLst>
                <a:ext uri="{FF2B5EF4-FFF2-40B4-BE49-F238E27FC236}">
                  <a16:creationId xmlns:a16="http://schemas.microsoft.com/office/drawing/2014/main" id="{0FBCB31E-B0EF-A737-503B-3831FF8A3C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518800" y="467448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7" name="Square">
              <a:extLst>
                <a:ext uri="{FF2B5EF4-FFF2-40B4-BE49-F238E27FC236}">
                  <a16:creationId xmlns:a16="http://schemas.microsoft.com/office/drawing/2014/main" id="{02EF0C77-9E09-FFB6-15A8-82C972BD49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17177" y="409766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8" name="Square">
              <a:extLst>
                <a:ext uri="{FF2B5EF4-FFF2-40B4-BE49-F238E27FC236}">
                  <a16:creationId xmlns:a16="http://schemas.microsoft.com/office/drawing/2014/main" id="{525077CD-9DBD-B72F-0157-60D7282855D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085199" y="461458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29" name="Square">
              <a:extLst>
                <a:ext uri="{FF2B5EF4-FFF2-40B4-BE49-F238E27FC236}">
                  <a16:creationId xmlns:a16="http://schemas.microsoft.com/office/drawing/2014/main" id="{242B3CA9-F759-A85C-C879-DC77A24539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15324" y="489821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0" name="Square">
              <a:extLst>
                <a:ext uri="{FF2B5EF4-FFF2-40B4-BE49-F238E27FC236}">
                  <a16:creationId xmlns:a16="http://schemas.microsoft.com/office/drawing/2014/main" id="{B280CA48-992F-7332-EABA-E02B7DE21B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06037" y="2304280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1" name="Square">
              <a:extLst>
                <a:ext uri="{FF2B5EF4-FFF2-40B4-BE49-F238E27FC236}">
                  <a16:creationId xmlns:a16="http://schemas.microsoft.com/office/drawing/2014/main" id="{51527213-AE3C-31A6-6822-65284665AB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148033" y="3600774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2" name="Square">
              <a:extLst>
                <a:ext uri="{FF2B5EF4-FFF2-40B4-BE49-F238E27FC236}">
                  <a16:creationId xmlns:a16="http://schemas.microsoft.com/office/drawing/2014/main" id="{C686431E-3DF7-FC18-69F9-E2DCC32D49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92956" y="3626524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3" name="Square">
              <a:extLst>
                <a:ext uri="{FF2B5EF4-FFF2-40B4-BE49-F238E27FC236}">
                  <a16:creationId xmlns:a16="http://schemas.microsoft.com/office/drawing/2014/main" id="{EBFFD939-45A7-59E5-196B-AA5CF412ABD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86502" y="219336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4" name="Square">
              <a:extLst>
                <a:ext uri="{FF2B5EF4-FFF2-40B4-BE49-F238E27FC236}">
                  <a16:creationId xmlns:a16="http://schemas.microsoft.com/office/drawing/2014/main" id="{BDE3F1A2-9FD0-8449-AEB3-8FB25621B4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89451" y="356335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5" name="Square">
              <a:extLst>
                <a:ext uri="{FF2B5EF4-FFF2-40B4-BE49-F238E27FC236}">
                  <a16:creationId xmlns:a16="http://schemas.microsoft.com/office/drawing/2014/main" id="{00C7A4B0-A8B8-B2CA-F9E2-AE8F91021B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93197" y="479949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6" name="Square">
              <a:extLst>
                <a:ext uri="{FF2B5EF4-FFF2-40B4-BE49-F238E27FC236}">
                  <a16:creationId xmlns:a16="http://schemas.microsoft.com/office/drawing/2014/main" id="{556EE1B4-8829-42E9-2D43-F2D0CE1162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95354" y="4653608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7" name="Square">
              <a:extLst>
                <a:ext uri="{FF2B5EF4-FFF2-40B4-BE49-F238E27FC236}">
                  <a16:creationId xmlns:a16="http://schemas.microsoft.com/office/drawing/2014/main" id="{88F9AFC5-10A9-5060-AA73-DBD42C35F7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95354" y="449520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8" name="Square">
              <a:extLst>
                <a:ext uri="{FF2B5EF4-FFF2-40B4-BE49-F238E27FC236}">
                  <a16:creationId xmlns:a16="http://schemas.microsoft.com/office/drawing/2014/main" id="{034FB9C7-0FA1-DDA9-96A7-277277B55A8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869049" y="374275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39" name="Square">
              <a:extLst>
                <a:ext uri="{FF2B5EF4-FFF2-40B4-BE49-F238E27FC236}">
                  <a16:creationId xmlns:a16="http://schemas.microsoft.com/office/drawing/2014/main" id="{9653F164-48C6-112B-007A-C8638721D7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59656" y="310245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0" name="Square">
              <a:extLst>
                <a:ext uri="{FF2B5EF4-FFF2-40B4-BE49-F238E27FC236}">
                  <a16:creationId xmlns:a16="http://schemas.microsoft.com/office/drawing/2014/main" id="{690E382E-B6A5-2678-2979-A4D08858C37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093206" y="327022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1" name="Square">
              <a:extLst>
                <a:ext uri="{FF2B5EF4-FFF2-40B4-BE49-F238E27FC236}">
                  <a16:creationId xmlns:a16="http://schemas.microsoft.com/office/drawing/2014/main" id="{977366E7-4E07-4D9D-F9FE-8BB96A98A16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413453" y="237480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2" name="Square">
              <a:extLst>
                <a:ext uri="{FF2B5EF4-FFF2-40B4-BE49-F238E27FC236}">
                  <a16:creationId xmlns:a16="http://schemas.microsoft.com/office/drawing/2014/main" id="{61B43B30-8E2E-FA38-A2FF-4E817288C91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91469" y="273774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3" name="Square">
              <a:extLst>
                <a:ext uri="{FF2B5EF4-FFF2-40B4-BE49-F238E27FC236}">
                  <a16:creationId xmlns:a16="http://schemas.microsoft.com/office/drawing/2014/main" id="{C094277D-EA34-42CF-2C83-01E06DD5AC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58166" y="248202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4" name="Square">
              <a:extLst>
                <a:ext uri="{FF2B5EF4-FFF2-40B4-BE49-F238E27FC236}">
                  <a16:creationId xmlns:a16="http://schemas.microsoft.com/office/drawing/2014/main" id="{75EF87AB-0C5F-2487-3877-96E1C5300D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76218" y="224172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5" name="Square">
              <a:extLst>
                <a:ext uri="{FF2B5EF4-FFF2-40B4-BE49-F238E27FC236}">
                  <a16:creationId xmlns:a16="http://schemas.microsoft.com/office/drawing/2014/main" id="{BC8248A3-2D23-40E2-E2E7-5482C00347E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84508" y="261086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6" name="Square">
              <a:extLst>
                <a:ext uri="{FF2B5EF4-FFF2-40B4-BE49-F238E27FC236}">
                  <a16:creationId xmlns:a16="http://schemas.microsoft.com/office/drawing/2014/main" id="{E26532D8-9069-1C5B-A5E0-10A3636E8BC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90735" y="270277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7" name="Square">
              <a:extLst>
                <a:ext uri="{FF2B5EF4-FFF2-40B4-BE49-F238E27FC236}">
                  <a16:creationId xmlns:a16="http://schemas.microsoft.com/office/drawing/2014/main" id="{7C266E61-577F-C996-43EA-4527C8B5B26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119418" y="3496923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8" name="Square">
              <a:extLst>
                <a:ext uri="{FF2B5EF4-FFF2-40B4-BE49-F238E27FC236}">
                  <a16:creationId xmlns:a16="http://schemas.microsoft.com/office/drawing/2014/main" id="{601BBC1E-EFCB-C60E-DDA5-DBA0DFB685E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20258" y="335131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49" name="Square">
              <a:extLst>
                <a:ext uri="{FF2B5EF4-FFF2-40B4-BE49-F238E27FC236}">
                  <a16:creationId xmlns:a16="http://schemas.microsoft.com/office/drawing/2014/main" id="{47DD6FFD-21B3-AB87-8E4D-E48EA99EF6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069889" y="311684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50" name="Square">
              <a:extLst>
                <a:ext uri="{FF2B5EF4-FFF2-40B4-BE49-F238E27FC236}">
                  <a16:creationId xmlns:a16="http://schemas.microsoft.com/office/drawing/2014/main" id="{1F135E0C-B74D-E2FB-ECC2-63C05BB2D26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37387" y="227295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  <p:sp>
          <p:nvSpPr>
            <p:cNvPr id="51" name="Square">
              <a:extLst>
                <a:ext uri="{FF2B5EF4-FFF2-40B4-BE49-F238E27FC236}">
                  <a16:creationId xmlns:a16="http://schemas.microsoft.com/office/drawing/2014/main" id="{5476D4CC-69D0-8C1F-FE16-312A8B5C876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7494" y="307781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solidFill>
                  <a:schemeClr val="bg1"/>
                </a:solidFill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475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49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undless Imp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4">
            <a:extLst>
              <a:ext uri="{FF2B5EF4-FFF2-40B4-BE49-F238E27FC236}">
                <a16:creationId xmlns:a16="http://schemas.microsoft.com/office/drawing/2014/main" id="{44A18571-BA59-2444-8AD2-3A332C2E7293}"/>
              </a:ext>
            </a:extLst>
          </p:cNvPr>
          <p:cNvSpPr/>
          <p:nvPr userDrawn="1"/>
        </p:nvSpPr>
        <p:spPr>
          <a:xfrm>
            <a:off x="0" y="1280160"/>
            <a:ext cx="7189470" cy="348878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lIns="548640" tIns="182880" rtlCol="0" anchor="ctr" anchorCtr="0"/>
          <a:lstStyle/>
          <a:p>
            <a:pPr lvl="0">
              <a:defRPr/>
            </a:pPr>
            <a:r>
              <a:rPr lang="en-US" sz="2000" b="1">
                <a:latin typeface="Aptos Light" panose="020B0004020202020204" pitchFamily="34" charset="0"/>
              </a:rPr>
              <a:t>We transform lives through the power of technology. </a:t>
            </a:r>
          </a:p>
          <a:p>
            <a:pPr lvl="0">
              <a:defRPr/>
            </a:pPr>
            <a:endParaRPr lang="en-US" sz="2000" b="1">
              <a:latin typeface="Aptos Light" panose="020B0004020202020204" pitchFamily="34" charset="0"/>
            </a:endParaRPr>
          </a:p>
          <a:p>
            <a:pPr lvl="0">
              <a:defRPr/>
            </a:pPr>
            <a:r>
              <a:rPr lang="en-US" sz="2000" b="1">
                <a:latin typeface="Aptos Light" panose="020B0004020202020204" pitchFamily="34" charset="0"/>
              </a:rPr>
              <a:t>We do it collaboratively, in partnership with our clients and communities. </a:t>
            </a:r>
          </a:p>
          <a:p>
            <a:pPr lvl="0">
              <a:defRPr/>
            </a:pPr>
            <a:endParaRPr lang="en-US" sz="2000" b="1">
              <a:latin typeface="Aptos Light" panose="020B0004020202020204" pitchFamily="34" charset="0"/>
            </a:endParaRPr>
          </a:p>
          <a:p>
            <a:pPr lvl="0">
              <a:defRPr/>
            </a:pPr>
            <a:r>
              <a:rPr lang="en-US" sz="2000" b="1">
                <a:latin typeface="Aptos Light" panose="020B0004020202020204" pitchFamily="34" charset="0"/>
              </a:rPr>
              <a:t>And we do it sustainably, building enduring, boundless impact.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8D21BF-8F0E-964C-A7AE-A80D8349B265}"/>
              </a:ext>
            </a:extLst>
          </p:cNvPr>
          <p:cNvGrpSpPr/>
          <p:nvPr userDrawn="1"/>
        </p:nvGrpSpPr>
        <p:grpSpPr>
          <a:xfrm>
            <a:off x="234660" y="4004750"/>
            <a:ext cx="6377233" cy="389951"/>
            <a:chOff x="234660" y="3540516"/>
            <a:chExt cx="6377233" cy="389951"/>
          </a:xfrm>
        </p:grpSpPr>
        <p:sp>
          <p:nvSpPr>
            <p:cNvPr id="4" name="Rectangle: Rounded Corners 2">
              <a:extLst>
                <a:ext uri="{FF2B5EF4-FFF2-40B4-BE49-F238E27FC236}">
                  <a16:creationId xmlns:a16="http://schemas.microsoft.com/office/drawing/2014/main" id="{D1F04FD5-573C-3440-9424-B9A4AAA92C48}"/>
                </a:ext>
              </a:extLst>
            </p:cNvPr>
            <p:cNvSpPr/>
            <p:nvPr userDrawn="1"/>
          </p:nvSpPr>
          <p:spPr>
            <a:xfrm>
              <a:off x="234660" y="3540516"/>
              <a:ext cx="1497281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Customers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Rectangle: Rounded Corners 8">
              <a:extLst>
                <a:ext uri="{FF2B5EF4-FFF2-40B4-BE49-F238E27FC236}">
                  <a16:creationId xmlns:a16="http://schemas.microsoft.com/office/drawing/2014/main" id="{1F491FC2-AA9D-3843-9CC8-FA217D2FFE73}"/>
                </a:ext>
              </a:extLst>
            </p:cNvPr>
            <p:cNvSpPr/>
            <p:nvPr userDrawn="1"/>
          </p:nvSpPr>
          <p:spPr>
            <a:xfrm>
              <a:off x="1833890" y="3568702"/>
              <a:ext cx="1497280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Consumers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2581A3A2-45A1-8B45-8F61-741CB0247053}"/>
                </a:ext>
              </a:extLst>
            </p:cNvPr>
            <p:cNvSpPr/>
            <p:nvPr userDrawn="1"/>
          </p:nvSpPr>
          <p:spPr>
            <a:xfrm>
              <a:off x="3370635" y="3568701"/>
              <a:ext cx="1497279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Employees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Rectangle: Rounded Corners 11">
              <a:extLst>
                <a:ext uri="{FF2B5EF4-FFF2-40B4-BE49-F238E27FC236}">
                  <a16:creationId xmlns:a16="http://schemas.microsoft.com/office/drawing/2014/main" id="{586D6AF1-EF91-AC40-8335-17C5301FC94D}"/>
                </a:ext>
              </a:extLst>
            </p:cNvPr>
            <p:cNvSpPr/>
            <p:nvPr userDrawn="1"/>
          </p:nvSpPr>
          <p:spPr>
            <a:xfrm>
              <a:off x="4907380" y="3568700"/>
              <a:ext cx="1704513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Communities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70061C9-1270-C944-A44A-6A8B31081D98}"/>
                </a:ext>
              </a:extLst>
            </p:cNvPr>
            <p:cNvCxnSpPr/>
            <p:nvPr userDrawn="1"/>
          </p:nvCxnSpPr>
          <p:spPr>
            <a:xfrm>
              <a:off x="1598337" y="3749582"/>
              <a:ext cx="407963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7B019A-09C6-B04D-AF37-291938490C8E}"/>
                </a:ext>
              </a:extLst>
            </p:cNvPr>
            <p:cNvCxnSpPr/>
            <p:nvPr userDrawn="1"/>
          </p:nvCxnSpPr>
          <p:spPr>
            <a:xfrm>
              <a:off x="3145783" y="3749582"/>
              <a:ext cx="407963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B59662-ADDE-9347-97E1-46BE8F654601}"/>
                </a:ext>
              </a:extLst>
            </p:cNvPr>
            <p:cNvCxnSpPr/>
            <p:nvPr userDrawn="1"/>
          </p:nvCxnSpPr>
          <p:spPr>
            <a:xfrm>
              <a:off x="4693229" y="3749582"/>
              <a:ext cx="407963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</p:cxnSp>
      </p:grpSp>
      <p:pic>
        <p:nvPicPr>
          <p:cNvPr id="11" name="Picture 10" descr="Qr code&#10;&#10;Description automatically generated">
            <a:extLst>
              <a:ext uri="{FF2B5EF4-FFF2-40B4-BE49-F238E27FC236}">
                <a16:creationId xmlns:a16="http://schemas.microsoft.com/office/drawing/2014/main" id="{9271F48D-275A-3849-ABCD-3640C100CC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9772" y="2789896"/>
            <a:ext cx="3113461" cy="311346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062D16-F0D5-7845-B702-64122E8F9AAF}"/>
              </a:ext>
            </a:extLst>
          </p:cNvPr>
          <p:cNvSpPr txBox="1">
            <a:spLocks/>
          </p:cNvSpPr>
          <p:nvPr userDrawn="1"/>
        </p:nvSpPr>
        <p:spPr>
          <a:xfrm>
            <a:off x="365760" y="365760"/>
            <a:ext cx="997204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latin typeface="Aptos Light" panose="020B0004020202020204" pitchFamily="34" charset="0"/>
              </a:rPr>
              <a:t>Together, we build for boundless impact</a:t>
            </a:r>
          </a:p>
        </p:txBody>
      </p:sp>
    </p:spTree>
    <p:extLst>
      <p:ext uri="{BB962C8B-B14F-4D97-AF65-F5344CB8AC3E}">
        <p14:creationId xmlns:p14="http://schemas.microsoft.com/office/powerpoint/2010/main" val="1741329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3832">
          <p15:clr>
            <a:srgbClr val="FBAE40"/>
          </p15:clr>
        </p15:guide>
        <p15:guide id="3" orient="horz" pos="41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7620-E0BF-8F22-1ABA-4F56EF9B6DA9}"/>
              </a:ext>
            </a:extLst>
          </p:cNvPr>
          <p:cNvSpPr txBox="1">
            <a:spLocks/>
          </p:cNvSpPr>
          <p:nvPr userDrawn="1"/>
        </p:nvSpPr>
        <p:spPr>
          <a:xfrm>
            <a:off x="365760" y="365760"/>
            <a:ext cx="407044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latin typeface="Aptos Light" panose="020B0004020202020204" pitchFamily="34" charset="0"/>
              </a:rPr>
              <a:t>UST’s evolution</a:t>
            </a:r>
          </a:p>
          <a:p>
            <a:r>
              <a:rPr lang="en-US" sz="2400" b="0">
                <a:latin typeface="Aptos Light" panose="020B0004020202020204" pitchFamily="34" charset="0"/>
              </a:rPr>
              <a:t>Digital from day 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63FAE-37F3-0876-5C85-ACF05B11DAFD}"/>
              </a:ext>
            </a:extLst>
          </p:cNvPr>
          <p:cNvSpPr/>
          <p:nvPr userDrawn="1"/>
        </p:nvSpPr>
        <p:spPr>
          <a:xfrm>
            <a:off x="5857596" y="-4516"/>
            <a:ext cx="6334403" cy="6176830"/>
          </a:xfrm>
          <a:prstGeom prst="rect">
            <a:avLst/>
          </a:prstGeom>
          <a:solidFill>
            <a:srgbClr val="C2BCBE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sz="180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2DF3A-D6EB-633C-9C29-DF27EC70580D}"/>
              </a:ext>
            </a:extLst>
          </p:cNvPr>
          <p:cNvSpPr/>
          <p:nvPr userDrawn="1"/>
        </p:nvSpPr>
        <p:spPr>
          <a:xfrm>
            <a:off x="2432511" y="1455947"/>
            <a:ext cx="3428589" cy="4716367"/>
          </a:xfrm>
          <a:prstGeom prst="rect">
            <a:avLst/>
          </a:prstGeom>
          <a:solidFill>
            <a:srgbClr val="D7E0E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9F25CF-D456-691B-C6C0-EA5B97E7B2F4}"/>
              </a:ext>
            </a:extLst>
          </p:cNvPr>
          <p:cNvSpPr/>
          <p:nvPr userDrawn="1"/>
        </p:nvSpPr>
        <p:spPr>
          <a:xfrm>
            <a:off x="1" y="2494200"/>
            <a:ext cx="2436483" cy="3678114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AF015-64DB-D590-F478-D4CD1A8062AC}"/>
              </a:ext>
            </a:extLst>
          </p:cNvPr>
          <p:cNvSpPr txBox="1"/>
          <p:nvPr userDrawn="1"/>
        </p:nvSpPr>
        <p:spPr>
          <a:xfrm>
            <a:off x="365760" y="2851596"/>
            <a:ext cx="1310381" cy="301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b="1">
                <a:latin typeface="+mn-lt"/>
              </a:rPr>
              <a:t>1999 – 2005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8CB415-F53F-20AD-1148-CED8566F80FA}"/>
              </a:ext>
            </a:extLst>
          </p:cNvPr>
          <p:cNvSpPr txBox="1"/>
          <p:nvPr userDrawn="1"/>
        </p:nvSpPr>
        <p:spPr>
          <a:xfrm>
            <a:off x="2691415" y="1754474"/>
            <a:ext cx="1310381" cy="301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1200"/>
              </a:spcBef>
              <a:buSzPct val="100000"/>
              <a:defRPr b="1"/>
            </a:lvl1pPr>
          </a:lstStyle>
          <a:p>
            <a:pPr lvl="0"/>
            <a:r>
              <a:rPr lang="en-US">
                <a:latin typeface="+mn-lt"/>
              </a:rPr>
              <a:t>2006 – 2016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8AE08-9A4D-E1DA-6EA0-4279E8E394A5}"/>
              </a:ext>
            </a:extLst>
          </p:cNvPr>
          <p:cNvSpPr txBox="1"/>
          <p:nvPr userDrawn="1"/>
        </p:nvSpPr>
        <p:spPr>
          <a:xfrm>
            <a:off x="6140158" y="294148"/>
            <a:ext cx="1310381" cy="301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lvl="0">
              <a:lnSpc>
                <a:spcPct val="100000"/>
              </a:lnSpc>
              <a:spcBef>
                <a:spcPts val="1200"/>
              </a:spcBef>
              <a:buSzPct val="100000"/>
              <a:defRPr b="1"/>
            </a:lvl1pPr>
          </a:lstStyle>
          <a:p>
            <a:pPr lvl="0"/>
            <a:r>
              <a:rPr lang="en-US">
                <a:latin typeface="+mn-lt"/>
              </a:rPr>
              <a:t>2017 – 2024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74205A-2DDF-1706-B08E-492DB6259DD6}"/>
              </a:ext>
            </a:extLst>
          </p:cNvPr>
          <p:cNvCxnSpPr>
            <a:cxnSpLocks/>
          </p:cNvCxnSpPr>
          <p:nvPr userDrawn="1"/>
        </p:nvCxnSpPr>
        <p:spPr>
          <a:xfrm flipV="1">
            <a:off x="7159330" y="2551488"/>
            <a:ext cx="0" cy="635463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D1E614-C723-CFC1-97E7-C7CC48927AEF}"/>
              </a:ext>
            </a:extLst>
          </p:cNvPr>
          <p:cNvCxnSpPr>
            <a:cxnSpLocks/>
          </p:cNvCxnSpPr>
          <p:nvPr userDrawn="1"/>
        </p:nvCxnSpPr>
        <p:spPr>
          <a:xfrm flipV="1">
            <a:off x="6816123" y="2070728"/>
            <a:ext cx="0" cy="432395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6632F4-6D5C-242F-DD55-264593A7A1B2}"/>
              </a:ext>
            </a:extLst>
          </p:cNvPr>
          <p:cNvSpPr txBox="1"/>
          <p:nvPr userDrawn="1"/>
        </p:nvSpPr>
        <p:spPr>
          <a:xfrm>
            <a:off x="3099659" y="3100601"/>
            <a:ext cx="922843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2009</a:t>
            </a:r>
          </a:p>
          <a:p>
            <a:pPr marL="0" algn="l" defTabSz="914400" rtl="0" eaLnBrk="1" latinLnBrk="0" hangingPunct="1"/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Expanded into Latin America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07EBDA-987B-309B-8AD1-DD903228C757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4161" y="3686512"/>
            <a:ext cx="0" cy="56974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D22368-7983-435C-F7D0-61E70210C702}"/>
              </a:ext>
            </a:extLst>
          </p:cNvPr>
          <p:cNvCxnSpPr>
            <a:cxnSpLocks/>
          </p:cNvCxnSpPr>
          <p:nvPr userDrawn="1"/>
        </p:nvCxnSpPr>
        <p:spPr>
          <a:xfrm flipV="1">
            <a:off x="2754226" y="4407093"/>
            <a:ext cx="0" cy="835037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E5DE39-F160-13D6-8AAA-60C063FCEC82}"/>
              </a:ext>
            </a:extLst>
          </p:cNvPr>
          <p:cNvCxnSpPr>
            <a:cxnSpLocks/>
          </p:cNvCxnSpPr>
          <p:nvPr userDrawn="1"/>
        </p:nvCxnSpPr>
        <p:spPr>
          <a:xfrm flipV="1">
            <a:off x="1269913" y="4644000"/>
            <a:ext cx="0" cy="109728"/>
          </a:xfrm>
          <a:prstGeom prst="line">
            <a:avLst/>
          </a:prstGeom>
          <a:ln w="12700" cap="sq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33F7AE-31D7-6A42-6A85-A09932497B40}"/>
              </a:ext>
            </a:extLst>
          </p:cNvPr>
          <p:cNvSpPr txBox="1"/>
          <p:nvPr userDrawn="1"/>
        </p:nvSpPr>
        <p:spPr>
          <a:xfrm>
            <a:off x="2692286" y="5307044"/>
            <a:ext cx="1791608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2006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Opened operations in the UK, expanding its EU footprint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55A24E-E8E1-4FC3-3E99-447C3BAAD09B}"/>
              </a:ext>
            </a:extLst>
          </p:cNvPr>
          <p:cNvSpPr txBox="1"/>
          <p:nvPr userDrawn="1"/>
        </p:nvSpPr>
        <p:spPr>
          <a:xfrm>
            <a:off x="3493530" y="4889733"/>
            <a:ext cx="1101839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10,000 employees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D451D2-5A01-A88F-5065-7DB88EF3C883}"/>
              </a:ext>
            </a:extLst>
          </p:cNvPr>
          <p:cNvSpPr txBox="1"/>
          <p:nvPr userDrawn="1"/>
        </p:nvSpPr>
        <p:spPr>
          <a:xfrm>
            <a:off x="6743187" y="1505021"/>
            <a:ext cx="1020250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2018</a:t>
            </a:r>
          </a:p>
          <a:p>
            <a:r>
              <a:rPr lang="en-US" sz="1000" b="0">
                <a:solidFill>
                  <a:srgbClr val="231F20"/>
                </a:solidFill>
                <a:latin typeface="+mn-lt"/>
              </a:rPr>
              <a:t>Temasek invested $250M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ED23B-CB4F-563F-1ED7-5B8074464828}"/>
              </a:ext>
            </a:extLst>
          </p:cNvPr>
          <p:cNvSpPr txBox="1"/>
          <p:nvPr userDrawn="1"/>
        </p:nvSpPr>
        <p:spPr>
          <a:xfrm>
            <a:off x="7086757" y="3268379"/>
            <a:ext cx="1007381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2018</a:t>
            </a:r>
          </a:p>
          <a:p>
            <a:r>
              <a:rPr lang="en-US" sz="1000">
                <a:latin typeface="+mn-lt"/>
              </a:rPr>
              <a:t>Reached 20,000 employees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8B891A-8C52-9F2D-EA87-94182AEB3A60}"/>
              </a:ext>
            </a:extLst>
          </p:cNvPr>
          <p:cNvSpPr txBox="1"/>
          <p:nvPr userDrawn="1"/>
        </p:nvSpPr>
        <p:spPr>
          <a:xfrm>
            <a:off x="4015037" y="2628019"/>
            <a:ext cx="951631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2013</a:t>
            </a:r>
          </a:p>
          <a:p>
            <a:pPr marL="0" algn="l" defTabSz="914400" rtl="0" eaLnBrk="1" latinLnBrk="0" hangingPunct="1"/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Launched Step IT Up America</a:t>
            </a: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35739F0F-848D-C638-2C52-A50AAC12B682}"/>
              </a:ext>
            </a:extLst>
          </p:cNvPr>
          <p:cNvSpPr/>
          <p:nvPr userDrawn="1"/>
        </p:nvSpPr>
        <p:spPr>
          <a:xfrm>
            <a:off x="382867" y="557421"/>
            <a:ext cx="11431905" cy="4313979"/>
          </a:xfrm>
          <a:custGeom>
            <a:avLst/>
            <a:gdLst>
              <a:gd name="connsiteX0" fmla="*/ 0 w 6256421"/>
              <a:gd name="connsiteY0" fmla="*/ 3850105 h 3850105"/>
              <a:gd name="connsiteX1" fmla="*/ 613611 w 6256421"/>
              <a:gd name="connsiteY1" fmla="*/ 3272590 h 3850105"/>
              <a:gd name="connsiteX2" fmla="*/ 1732548 w 6256421"/>
              <a:gd name="connsiteY2" fmla="*/ 3164305 h 3850105"/>
              <a:gd name="connsiteX3" fmla="*/ 2598821 w 6256421"/>
              <a:gd name="connsiteY3" fmla="*/ 2334126 h 3850105"/>
              <a:gd name="connsiteX4" fmla="*/ 4535906 w 6256421"/>
              <a:gd name="connsiteY4" fmla="*/ 1876926 h 3850105"/>
              <a:gd name="connsiteX5" fmla="*/ 4860758 w 6256421"/>
              <a:gd name="connsiteY5" fmla="*/ 938463 h 3850105"/>
              <a:gd name="connsiteX6" fmla="*/ 6256421 w 6256421"/>
              <a:gd name="connsiteY6" fmla="*/ 0 h 3850105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7430542 w 7430542"/>
              <a:gd name="connsiteY6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7430542 w 7430542"/>
              <a:gd name="connsiteY6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6083869 w 7430542"/>
              <a:gd name="connsiteY6" fmla="*/ 613187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3049983 w 7430542"/>
              <a:gd name="connsiteY3" fmla="*/ 2414386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6626523 w 7430542"/>
              <a:gd name="connsiteY6" fmla="*/ 726730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6626523 w 7430542"/>
              <a:gd name="connsiteY7" fmla="*/ 726730 h 4126142"/>
              <a:gd name="connsiteX8" fmla="*/ 7430542 w 7430542"/>
              <a:gd name="connsiteY8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5743540 w 7430542"/>
              <a:gd name="connsiteY7" fmla="*/ 96992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5820808 w 7430542"/>
              <a:gd name="connsiteY7" fmla="*/ 1089174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5801492 w 7430542"/>
              <a:gd name="connsiteY7" fmla="*/ 104147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92232 w 7430542"/>
              <a:gd name="connsiteY6" fmla="*/ 1042218 h 4126142"/>
              <a:gd name="connsiteX7" fmla="*/ 5801492 w 7430542"/>
              <a:gd name="connsiteY7" fmla="*/ 104147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1045020 w 7430542"/>
              <a:gd name="connsiteY1" fmla="*/ 3365772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92232 w 7430542"/>
              <a:gd name="connsiteY6" fmla="*/ 1042218 h 4126142"/>
              <a:gd name="connsiteX7" fmla="*/ 5801492 w 7430542"/>
              <a:gd name="connsiteY7" fmla="*/ 104147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56298"/>
              <a:gd name="connsiteY0" fmla="*/ 3831986 h 3831986"/>
              <a:gd name="connsiteX1" fmla="*/ 1070776 w 7456298"/>
              <a:gd name="connsiteY1" fmla="*/ 3365772 h 3831986"/>
              <a:gd name="connsiteX2" fmla="*/ 2105921 w 7456298"/>
              <a:gd name="connsiteY2" fmla="*/ 3227540 h 3831986"/>
              <a:gd name="connsiteX3" fmla="*/ 3075739 w 7456298"/>
              <a:gd name="connsiteY3" fmla="*/ 2414386 h 3831986"/>
              <a:gd name="connsiteX4" fmla="*/ 4199252 w 7456298"/>
              <a:gd name="connsiteY4" fmla="*/ 2101891 h 3831986"/>
              <a:gd name="connsiteX5" fmla="*/ 4886514 w 7456298"/>
              <a:gd name="connsiteY5" fmla="*/ 1214500 h 3831986"/>
              <a:gd name="connsiteX6" fmla="*/ 5817988 w 7456298"/>
              <a:gd name="connsiteY6" fmla="*/ 1042218 h 3831986"/>
              <a:gd name="connsiteX7" fmla="*/ 5827248 w 7456298"/>
              <a:gd name="connsiteY7" fmla="*/ 1041472 h 3831986"/>
              <a:gd name="connsiteX8" fmla="*/ 6652279 w 7456298"/>
              <a:gd name="connsiteY8" fmla="*/ 726730 h 3831986"/>
              <a:gd name="connsiteX9" fmla="*/ 7456298 w 7456298"/>
              <a:gd name="connsiteY9" fmla="*/ 0 h 3831986"/>
              <a:gd name="connsiteX0" fmla="*/ 0 w 7932779"/>
              <a:gd name="connsiteY0" fmla="*/ 4157943 h 4157943"/>
              <a:gd name="connsiteX1" fmla="*/ 1070776 w 7932779"/>
              <a:gd name="connsiteY1" fmla="*/ 3691729 h 4157943"/>
              <a:gd name="connsiteX2" fmla="*/ 2105921 w 7932779"/>
              <a:gd name="connsiteY2" fmla="*/ 3553497 h 4157943"/>
              <a:gd name="connsiteX3" fmla="*/ 3075739 w 7932779"/>
              <a:gd name="connsiteY3" fmla="*/ 2740343 h 4157943"/>
              <a:gd name="connsiteX4" fmla="*/ 4199252 w 7932779"/>
              <a:gd name="connsiteY4" fmla="*/ 2427848 h 4157943"/>
              <a:gd name="connsiteX5" fmla="*/ 4886514 w 7932779"/>
              <a:gd name="connsiteY5" fmla="*/ 1540457 h 4157943"/>
              <a:gd name="connsiteX6" fmla="*/ 5817988 w 7932779"/>
              <a:gd name="connsiteY6" fmla="*/ 1368175 h 4157943"/>
              <a:gd name="connsiteX7" fmla="*/ 5827248 w 7932779"/>
              <a:gd name="connsiteY7" fmla="*/ 1367429 h 4157943"/>
              <a:gd name="connsiteX8" fmla="*/ 6652279 w 7932779"/>
              <a:gd name="connsiteY8" fmla="*/ 1052687 h 4157943"/>
              <a:gd name="connsiteX9" fmla="*/ 7932779 w 7932779"/>
              <a:gd name="connsiteY9" fmla="*/ 0 h 4157943"/>
              <a:gd name="connsiteX0" fmla="*/ 0 w 7620753"/>
              <a:gd name="connsiteY0" fmla="*/ 4029524 h 4029524"/>
              <a:gd name="connsiteX1" fmla="*/ 1070776 w 7620753"/>
              <a:gd name="connsiteY1" fmla="*/ 3563310 h 4029524"/>
              <a:gd name="connsiteX2" fmla="*/ 2105921 w 7620753"/>
              <a:gd name="connsiteY2" fmla="*/ 3425078 h 4029524"/>
              <a:gd name="connsiteX3" fmla="*/ 3075739 w 7620753"/>
              <a:gd name="connsiteY3" fmla="*/ 2611924 h 4029524"/>
              <a:gd name="connsiteX4" fmla="*/ 4199252 w 7620753"/>
              <a:gd name="connsiteY4" fmla="*/ 2299429 h 4029524"/>
              <a:gd name="connsiteX5" fmla="*/ 4886514 w 7620753"/>
              <a:gd name="connsiteY5" fmla="*/ 1412038 h 4029524"/>
              <a:gd name="connsiteX6" fmla="*/ 5817988 w 7620753"/>
              <a:gd name="connsiteY6" fmla="*/ 1239756 h 4029524"/>
              <a:gd name="connsiteX7" fmla="*/ 5827248 w 7620753"/>
              <a:gd name="connsiteY7" fmla="*/ 1239010 h 4029524"/>
              <a:gd name="connsiteX8" fmla="*/ 6652279 w 7620753"/>
              <a:gd name="connsiteY8" fmla="*/ 924268 h 4029524"/>
              <a:gd name="connsiteX9" fmla="*/ 7620753 w 7620753"/>
              <a:gd name="connsiteY9" fmla="*/ 0 h 4029524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8943146 w 8943146"/>
              <a:gd name="connsiteY9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727993 w 8943146"/>
              <a:gd name="connsiteY9" fmla="*/ 1056043 h 5102743"/>
              <a:gd name="connsiteX10" fmla="*/ 8943146 w 8943146"/>
              <a:gd name="connsiteY10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727993 w 8943146"/>
              <a:gd name="connsiteY9" fmla="*/ 1056043 h 5102743"/>
              <a:gd name="connsiteX10" fmla="*/ 8396619 w 8943146"/>
              <a:gd name="connsiteY10" fmla="*/ 468982 h 5102743"/>
              <a:gd name="connsiteX11" fmla="*/ 8943146 w 8943146"/>
              <a:gd name="connsiteY11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846859 w 8943146"/>
              <a:gd name="connsiteY9" fmla="*/ 1202808 h 5102743"/>
              <a:gd name="connsiteX10" fmla="*/ 8396619 w 8943146"/>
              <a:gd name="connsiteY10" fmla="*/ 468982 h 5102743"/>
              <a:gd name="connsiteX11" fmla="*/ 8943146 w 8943146"/>
              <a:gd name="connsiteY11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601696 w 8943146"/>
              <a:gd name="connsiteY9" fmla="*/ 1413783 h 5102743"/>
              <a:gd name="connsiteX10" fmla="*/ 8396619 w 8943146"/>
              <a:gd name="connsiteY10" fmla="*/ 468982 h 5102743"/>
              <a:gd name="connsiteX11" fmla="*/ 8943146 w 8943146"/>
              <a:gd name="connsiteY11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601696 w 8943146"/>
              <a:gd name="connsiteY9" fmla="*/ 1413783 h 5102743"/>
              <a:gd name="connsiteX10" fmla="*/ 8181173 w 8943146"/>
              <a:gd name="connsiteY10" fmla="*/ 881759 h 5102743"/>
              <a:gd name="connsiteX11" fmla="*/ 8943146 w 8943146"/>
              <a:gd name="connsiteY11" fmla="*/ 0 h 5102743"/>
              <a:gd name="connsiteX0" fmla="*/ 0 w 8690553"/>
              <a:gd name="connsiteY0" fmla="*/ 4800040 h 4800040"/>
              <a:gd name="connsiteX1" fmla="*/ 1070776 w 8690553"/>
              <a:gd name="connsiteY1" fmla="*/ 4333826 h 4800040"/>
              <a:gd name="connsiteX2" fmla="*/ 2105921 w 8690553"/>
              <a:gd name="connsiteY2" fmla="*/ 4195594 h 4800040"/>
              <a:gd name="connsiteX3" fmla="*/ 3075739 w 8690553"/>
              <a:gd name="connsiteY3" fmla="*/ 3382440 h 4800040"/>
              <a:gd name="connsiteX4" fmla="*/ 4199252 w 8690553"/>
              <a:gd name="connsiteY4" fmla="*/ 3069945 h 4800040"/>
              <a:gd name="connsiteX5" fmla="*/ 4886514 w 8690553"/>
              <a:gd name="connsiteY5" fmla="*/ 2182554 h 4800040"/>
              <a:gd name="connsiteX6" fmla="*/ 5817988 w 8690553"/>
              <a:gd name="connsiteY6" fmla="*/ 2010272 h 4800040"/>
              <a:gd name="connsiteX7" fmla="*/ 5827248 w 8690553"/>
              <a:gd name="connsiteY7" fmla="*/ 2009526 h 4800040"/>
              <a:gd name="connsiteX8" fmla="*/ 6652279 w 8690553"/>
              <a:gd name="connsiteY8" fmla="*/ 1694784 h 4800040"/>
              <a:gd name="connsiteX9" fmla="*/ 7601696 w 8690553"/>
              <a:gd name="connsiteY9" fmla="*/ 1111080 h 4800040"/>
              <a:gd name="connsiteX10" fmla="*/ 8181173 w 8690553"/>
              <a:gd name="connsiteY10" fmla="*/ 579056 h 4800040"/>
              <a:gd name="connsiteX11" fmla="*/ 8690553 w 8690553"/>
              <a:gd name="connsiteY11" fmla="*/ 0 h 480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90553" h="4800040">
                <a:moveTo>
                  <a:pt x="0" y="4800040"/>
                </a:moveTo>
                <a:lnTo>
                  <a:pt x="1070776" y="4333826"/>
                </a:lnTo>
                <a:lnTo>
                  <a:pt x="2105921" y="4195594"/>
                </a:lnTo>
                <a:lnTo>
                  <a:pt x="3075739" y="3382440"/>
                </a:lnTo>
                <a:lnTo>
                  <a:pt x="4199252" y="3069945"/>
                </a:lnTo>
                <a:lnTo>
                  <a:pt x="4886514" y="2182554"/>
                </a:lnTo>
                <a:lnTo>
                  <a:pt x="5817988" y="2010272"/>
                </a:lnTo>
                <a:lnTo>
                  <a:pt x="5827248" y="2009526"/>
                </a:lnTo>
                <a:lnTo>
                  <a:pt x="6652279" y="1694784"/>
                </a:lnTo>
                <a:cubicBezTo>
                  <a:pt x="6969070" y="1485420"/>
                  <a:pt x="7219885" y="1443994"/>
                  <a:pt x="7601696" y="1111080"/>
                </a:cubicBezTo>
                <a:lnTo>
                  <a:pt x="8181173" y="579056"/>
                </a:lnTo>
                <a:lnTo>
                  <a:pt x="8690553" y="0"/>
                </a:lnTo>
              </a:path>
            </a:pathLst>
          </a:cu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938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877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814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752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689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627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8563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5499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6938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10BADF-2BD5-5943-7C90-63BF4B316946}"/>
              </a:ext>
            </a:extLst>
          </p:cNvPr>
          <p:cNvSpPr txBox="1"/>
          <p:nvPr userDrawn="1"/>
        </p:nvSpPr>
        <p:spPr>
          <a:xfrm>
            <a:off x="9539144" y="537668"/>
            <a:ext cx="1432188" cy="656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2021</a:t>
            </a:r>
          </a:p>
          <a:p>
            <a:pPr lvl="0"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Certified “Top Employer of the year” in US, UK and Spain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990FEA-0B28-96F6-7091-EDB9BC5468A6}"/>
              </a:ext>
            </a:extLst>
          </p:cNvPr>
          <p:cNvSpPr/>
          <p:nvPr userDrawn="1"/>
        </p:nvSpPr>
        <p:spPr>
          <a:xfrm>
            <a:off x="1204267" y="4497460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E76959-258E-B08B-5209-20F1FAFD5F45}"/>
              </a:ext>
            </a:extLst>
          </p:cNvPr>
          <p:cNvSpPr/>
          <p:nvPr userDrawn="1"/>
        </p:nvSpPr>
        <p:spPr>
          <a:xfrm>
            <a:off x="2681653" y="4294608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76AA7A-AABF-C3D7-0522-BA723DCFF597}"/>
              </a:ext>
            </a:extLst>
          </p:cNvPr>
          <p:cNvSpPr/>
          <p:nvPr userDrawn="1"/>
        </p:nvSpPr>
        <p:spPr>
          <a:xfrm>
            <a:off x="3041588" y="4254909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A9151A-FD4A-31FD-D99C-B0BF1404B9B3}"/>
              </a:ext>
            </a:extLst>
          </p:cNvPr>
          <p:cNvSpPr/>
          <p:nvPr userDrawn="1"/>
        </p:nvSpPr>
        <p:spPr>
          <a:xfrm>
            <a:off x="6743187" y="2468685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2433DC-339D-55D4-5A79-6AEEE2F17E7C}"/>
              </a:ext>
            </a:extLst>
          </p:cNvPr>
          <p:cNvSpPr/>
          <p:nvPr userDrawn="1"/>
        </p:nvSpPr>
        <p:spPr>
          <a:xfrm>
            <a:off x="7086757" y="2406344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E903B-ACDE-E386-8696-C47A285B5947}"/>
              </a:ext>
            </a:extLst>
          </p:cNvPr>
          <p:cNvSpPr txBox="1"/>
          <p:nvPr userDrawn="1"/>
        </p:nvSpPr>
        <p:spPr>
          <a:xfrm>
            <a:off x="1225533" y="4809691"/>
            <a:ext cx="1058332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2002</a:t>
            </a:r>
          </a:p>
          <a:p>
            <a:r>
              <a:rPr lang="en-US" sz="1000">
                <a:latin typeface="+mn-lt"/>
              </a:rPr>
              <a:t>Launched UST’s Colors Program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99D5D3-4663-06BE-5567-58B2E571D4D7}"/>
              </a:ext>
            </a:extLst>
          </p:cNvPr>
          <p:cNvGrpSpPr/>
          <p:nvPr userDrawn="1"/>
        </p:nvGrpSpPr>
        <p:grpSpPr>
          <a:xfrm>
            <a:off x="10202275" y="4864524"/>
            <a:ext cx="1801302" cy="1141537"/>
            <a:chOff x="10086044" y="4843757"/>
            <a:chExt cx="1801302" cy="114153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5C17E4-3A21-29CC-603D-4BACC517434B}"/>
                </a:ext>
              </a:extLst>
            </p:cNvPr>
            <p:cNvSpPr/>
            <p:nvPr userDrawn="1"/>
          </p:nvSpPr>
          <p:spPr>
            <a:xfrm>
              <a:off x="10086044" y="4843757"/>
              <a:ext cx="1801302" cy="114153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A" sz="1800">
                <a:latin typeface="+mn-lt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1BB73F9-9174-912D-E880-CFEEA519CDE3}"/>
                </a:ext>
              </a:extLst>
            </p:cNvPr>
            <p:cNvGrpSpPr/>
            <p:nvPr userDrawn="1"/>
          </p:nvGrpSpPr>
          <p:grpSpPr>
            <a:xfrm>
              <a:off x="10299557" y="5015198"/>
              <a:ext cx="1376943" cy="190821"/>
              <a:chOff x="10377348" y="4992493"/>
              <a:chExt cx="1376943" cy="190821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3EA049-020E-966E-290B-67BDD4710BC0}"/>
                  </a:ext>
                </a:extLst>
              </p:cNvPr>
              <p:cNvSpPr txBox="1"/>
              <p:nvPr/>
            </p:nvSpPr>
            <p:spPr>
              <a:xfrm>
                <a:off x="10540817" y="4992493"/>
                <a:ext cx="1213474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Corporate milestones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AAC0D76-719E-1D7A-19D8-6D883C9B3A2B}"/>
                  </a:ext>
                </a:extLst>
              </p:cNvPr>
              <p:cNvSpPr/>
              <p:nvPr/>
            </p:nvSpPr>
            <p:spPr>
              <a:xfrm>
                <a:off x="10377348" y="5037611"/>
                <a:ext cx="100584" cy="10058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BD2D279-36FD-9999-AEEE-5EFAD8B1A26E}"/>
                </a:ext>
              </a:extLst>
            </p:cNvPr>
            <p:cNvGrpSpPr/>
            <p:nvPr userDrawn="1"/>
          </p:nvGrpSpPr>
          <p:grpSpPr>
            <a:xfrm>
              <a:off x="10299557" y="5223595"/>
              <a:ext cx="655591" cy="190821"/>
              <a:chOff x="10377348" y="5265668"/>
              <a:chExt cx="655591" cy="190821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FFF15E-A30B-1E40-B325-1C7D6CBD13CE}"/>
                  </a:ext>
                </a:extLst>
              </p:cNvPr>
              <p:cNvSpPr txBox="1"/>
              <p:nvPr/>
            </p:nvSpPr>
            <p:spPr>
              <a:xfrm>
                <a:off x="10540817" y="5265668"/>
                <a:ext cx="492122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Offerings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2831879-8453-75F0-48D0-2B6DD475DE62}"/>
                  </a:ext>
                </a:extLst>
              </p:cNvPr>
              <p:cNvSpPr/>
              <p:nvPr/>
            </p:nvSpPr>
            <p:spPr>
              <a:xfrm>
                <a:off x="10377348" y="5310786"/>
                <a:ext cx="100584" cy="10058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0C74C2F-B5F2-3369-D6BA-17373B473B8F}"/>
                </a:ext>
              </a:extLst>
            </p:cNvPr>
            <p:cNvGrpSpPr/>
            <p:nvPr userDrawn="1"/>
          </p:nvGrpSpPr>
          <p:grpSpPr>
            <a:xfrm>
              <a:off x="10299557" y="5431992"/>
              <a:ext cx="758184" cy="190821"/>
              <a:chOff x="10377348" y="5538843"/>
              <a:chExt cx="758184" cy="1908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F0BA1D-5A8B-5007-03CA-A7DFF702DF09}"/>
                  </a:ext>
                </a:extLst>
              </p:cNvPr>
              <p:cNvSpPr txBox="1"/>
              <p:nvPr/>
            </p:nvSpPr>
            <p:spPr>
              <a:xfrm>
                <a:off x="10540817" y="5538843"/>
                <a:ext cx="594715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Employees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937BC4C-4C1A-BF7B-46D9-2021C012061E}"/>
                  </a:ext>
                </a:extLst>
              </p:cNvPr>
              <p:cNvSpPr/>
              <p:nvPr/>
            </p:nvSpPr>
            <p:spPr>
              <a:xfrm>
                <a:off x="10377348" y="5583961"/>
                <a:ext cx="100584" cy="10058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1E41CCD-ADFB-6617-A0E9-965E4685E0E3}"/>
                </a:ext>
              </a:extLst>
            </p:cNvPr>
            <p:cNvGrpSpPr/>
            <p:nvPr userDrawn="1"/>
          </p:nvGrpSpPr>
          <p:grpSpPr>
            <a:xfrm>
              <a:off x="10299557" y="5640390"/>
              <a:ext cx="1035503" cy="190821"/>
              <a:chOff x="10377348" y="5819712"/>
              <a:chExt cx="1035503" cy="190821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09F6C0-A2B8-CD96-C719-249EA423267E}"/>
                  </a:ext>
                </a:extLst>
              </p:cNvPr>
              <p:cNvSpPr txBox="1"/>
              <p:nvPr/>
            </p:nvSpPr>
            <p:spPr>
              <a:xfrm>
                <a:off x="10540817" y="5819712"/>
                <a:ext cx="872034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Annual Revenue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A8C7A58-8294-935F-FA17-7280528C5154}"/>
                  </a:ext>
                </a:extLst>
              </p:cNvPr>
              <p:cNvSpPr/>
              <p:nvPr/>
            </p:nvSpPr>
            <p:spPr>
              <a:xfrm>
                <a:off x="10377348" y="5864830"/>
                <a:ext cx="100584" cy="10058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75DC1A7-FD30-71BF-6EAE-F9E1AD421A5E}"/>
              </a:ext>
            </a:extLst>
          </p:cNvPr>
          <p:cNvSpPr txBox="1"/>
          <p:nvPr userDrawn="1"/>
        </p:nvSpPr>
        <p:spPr>
          <a:xfrm>
            <a:off x="6153376" y="5307044"/>
            <a:ext cx="1069498" cy="656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2017</a:t>
            </a:r>
          </a:p>
          <a:p>
            <a:pPr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Launched CyberProof and UST SmartOps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3B5DD2-CF42-E120-0DA5-229905FE7B1B}"/>
              </a:ext>
            </a:extLst>
          </p:cNvPr>
          <p:cNvSpPr txBox="1"/>
          <p:nvPr userDrawn="1"/>
        </p:nvSpPr>
        <p:spPr>
          <a:xfrm>
            <a:off x="8405414" y="1290666"/>
            <a:ext cx="972440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Glassdoor Best Places to Work</a:t>
            </a:r>
            <a:endParaRPr kumimoji="0" lang="en-US" sz="9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272A72-AFA3-184D-20F2-ED036D018E3E}"/>
              </a:ext>
            </a:extLst>
          </p:cNvPr>
          <p:cNvSpPr txBox="1"/>
          <p:nvPr userDrawn="1"/>
        </p:nvSpPr>
        <p:spPr>
          <a:xfrm>
            <a:off x="7681931" y="648966"/>
            <a:ext cx="1070482" cy="5027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2019</a:t>
            </a:r>
          </a:p>
          <a:p>
            <a:r>
              <a:rPr lang="en-US" sz="1000">
                <a:latin typeface="+mn-lt"/>
              </a:rPr>
              <a:t>Launched UST HealthProof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93D87F-BF4B-D338-C73F-016998A4E572}"/>
              </a:ext>
            </a:extLst>
          </p:cNvPr>
          <p:cNvCxnSpPr>
            <a:cxnSpLocks/>
            <a:endCxn id="80" idx="0"/>
          </p:cNvCxnSpPr>
          <p:nvPr userDrawn="1"/>
        </p:nvCxnSpPr>
        <p:spPr>
          <a:xfrm>
            <a:off x="8477987" y="1857798"/>
            <a:ext cx="0" cy="29812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752093B-AE01-6684-6090-045B628E5BED}"/>
              </a:ext>
            </a:extLst>
          </p:cNvPr>
          <p:cNvSpPr txBox="1"/>
          <p:nvPr userDrawn="1"/>
        </p:nvSpPr>
        <p:spPr>
          <a:xfrm>
            <a:off x="8802541" y="5064632"/>
            <a:ext cx="1297184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pPr marL="0" algn="l" defTabSz="914400" rtl="0" eaLnBrk="1" latinLnBrk="0" hangingPunct="1"/>
            <a:r>
              <a:rPr lang="en-US" sz="1000" b="0" kern="1200">
                <a:solidFill>
                  <a:srgbClr val="231F20"/>
                </a:solidFill>
                <a:latin typeface="+mn-lt"/>
                <a:ea typeface="+mn-ea"/>
                <a:cs typeface="+mn-cs"/>
              </a:rPr>
              <a:t>Temasek follow on investment of $120M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7E52A0C-9F81-69FD-9360-E7571180E54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41216" y="2334434"/>
            <a:ext cx="0" cy="300533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15BA047-1689-4E01-6731-1FF89F9A2532}"/>
              </a:ext>
            </a:extLst>
          </p:cNvPr>
          <p:cNvSpPr/>
          <p:nvPr userDrawn="1"/>
        </p:nvSpPr>
        <p:spPr>
          <a:xfrm>
            <a:off x="8068643" y="2263522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F9CA13-ED27-EA33-3551-2505E17A922C}"/>
              </a:ext>
            </a:extLst>
          </p:cNvPr>
          <p:cNvSpPr txBox="1"/>
          <p:nvPr userDrawn="1"/>
        </p:nvSpPr>
        <p:spPr>
          <a:xfrm>
            <a:off x="8068643" y="5450476"/>
            <a:ext cx="1164814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r>
              <a:rPr lang="en-US" sz="1000">
                <a:latin typeface="+mn-lt"/>
              </a:rPr>
              <a:t>Acquired </a:t>
            </a:r>
          </a:p>
          <a:p>
            <a:r>
              <a:rPr lang="en-US" sz="1000">
                <a:latin typeface="+mn-lt"/>
              </a:rPr>
              <a:t>Advalent healthcare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A5E825-3C35-1ED7-DD55-8D2568156911}"/>
              </a:ext>
            </a:extLst>
          </p:cNvPr>
          <p:cNvSpPr txBox="1"/>
          <p:nvPr userDrawn="1"/>
        </p:nvSpPr>
        <p:spPr>
          <a:xfrm>
            <a:off x="9911051" y="4200740"/>
            <a:ext cx="1242511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</a:t>
            </a:r>
          </a:p>
          <a:p>
            <a:pPr lvl="0">
              <a:spcAft>
                <a:spcPts val="200"/>
              </a:spcAft>
              <a:defRPr/>
            </a:pPr>
            <a:r>
              <a:rPr lang="en-US" sz="1000" b="0">
                <a:solidFill>
                  <a:srgbClr val="231F20"/>
                </a:solidFill>
                <a:latin typeface="+mn-lt"/>
                <a:cs typeface="Arial"/>
              </a:rPr>
              <a:t>30,000+ employees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+mn-lt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5A4D86-948F-9F7E-ADED-81036C9CEA9A}"/>
              </a:ext>
            </a:extLst>
          </p:cNvPr>
          <p:cNvCxnSpPr>
            <a:cxnSpLocks/>
          </p:cNvCxnSpPr>
          <p:nvPr userDrawn="1"/>
        </p:nvCxnSpPr>
        <p:spPr>
          <a:xfrm flipV="1">
            <a:off x="386958" y="4942445"/>
            <a:ext cx="0" cy="259152"/>
          </a:xfrm>
          <a:prstGeom prst="line">
            <a:avLst/>
          </a:prstGeom>
          <a:ln w="12700" cap="sq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540C531-695B-0FC4-833C-6C3920B1DBCA}"/>
              </a:ext>
            </a:extLst>
          </p:cNvPr>
          <p:cNvSpPr txBox="1"/>
          <p:nvPr userDrawn="1"/>
        </p:nvSpPr>
        <p:spPr>
          <a:xfrm>
            <a:off x="645312" y="3660228"/>
            <a:ext cx="929571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1999</a:t>
            </a:r>
          </a:p>
          <a:p>
            <a:r>
              <a:rPr lang="en-US" sz="1000" b="0">
                <a:solidFill>
                  <a:srgbClr val="231F20"/>
                </a:solidFill>
                <a:latin typeface="+mn-lt"/>
              </a:rPr>
              <a:t>Born digital with 14 employees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AF3D00-547D-A992-D1D6-45381BF4353B}"/>
              </a:ext>
            </a:extLst>
          </p:cNvPr>
          <p:cNvSpPr/>
          <p:nvPr userDrawn="1"/>
        </p:nvSpPr>
        <p:spPr>
          <a:xfrm>
            <a:off x="314385" y="4817161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0824AE-9F5E-CC76-7281-E876F49CF182}"/>
              </a:ext>
            </a:extLst>
          </p:cNvPr>
          <p:cNvSpPr txBox="1"/>
          <p:nvPr userDrawn="1"/>
        </p:nvSpPr>
        <p:spPr>
          <a:xfrm>
            <a:off x="4964057" y="1888451"/>
            <a:ext cx="773710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2016</a:t>
            </a:r>
          </a:p>
          <a:p>
            <a:r>
              <a:rPr lang="en-US" sz="1000">
                <a:latin typeface="+mn-lt"/>
              </a:rPr>
              <a:t>Acquired BlueConch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9751941-3676-6228-C79D-0609275ABD99}"/>
              </a:ext>
            </a:extLst>
          </p:cNvPr>
          <p:cNvCxnSpPr>
            <a:cxnSpLocks/>
          </p:cNvCxnSpPr>
          <p:nvPr userDrawn="1"/>
        </p:nvCxnSpPr>
        <p:spPr>
          <a:xfrm flipV="1">
            <a:off x="5033622" y="2481568"/>
            <a:ext cx="0" cy="93934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E332CCA-2974-852F-0312-D53639F35555}"/>
              </a:ext>
            </a:extLst>
          </p:cNvPr>
          <p:cNvSpPr/>
          <p:nvPr userDrawn="1"/>
        </p:nvSpPr>
        <p:spPr>
          <a:xfrm>
            <a:off x="4964057" y="3382877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6ED213-D898-C0DD-E48C-AADE55734E26}"/>
              </a:ext>
            </a:extLst>
          </p:cNvPr>
          <p:cNvSpPr txBox="1"/>
          <p:nvPr userDrawn="1"/>
        </p:nvSpPr>
        <p:spPr>
          <a:xfrm>
            <a:off x="4359273" y="3999766"/>
            <a:ext cx="1161552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2014</a:t>
            </a:r>
          </a:p>
          <a:p>
            <a:r>
              <a:rPr lang="en-US" sz="1000">
                <a:latin typeface="+mn-lt"/>
              </a:rPr>
              <a:t>Acquired Moonraft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CCF105-C9C3-31F7-1364-D604B7D8408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31846" y="3607399"/>
            <a:ext cx="0" cy="338769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068745C7-BD13-ECB6-7B9D-393CB8D4B593}"/>
              </a:ext>
            </a:extLst>
          </p:cNvPr>
          <p:cNvSpPr/>
          <p:nvPr userDrawn="1"/>
        </p:nvSpPr>
        <p:spPr>
          <a:xfrm>
            <a:off x="4359273" y="3508398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878223-05C9-2FF9-BF67-727B5E9A61BD}"/>
              </a:ext>
            </a:extLst>
          </p:cNvPr>
          <p:cNvSpPr txBox="1"/>
          <p:nvPr userDrawn="1"/>
        </p:nvSpPr>
        <p:spPr>
          <a:xfrm>
            <a:off x="10258645" y="3224331"/>
            <a:ext cx="985941" cy="8758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2023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Acquired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Prodigy Labs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Advantasure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MobileComm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29FD5FA-62DA-4B8F-AFC6-D9DFF2B35EF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31217" y="1590631"/>
            <a:ext cx="0" cy="150997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43ADF280-CBA0-B30A-9F89-D7B94B9BB1F2}"/>
              </a:ext>
            </a:extLst>
          </p:cNvPr>
          <p:cNvSpPr/>
          <p:nvPr userDrawn="1"/>
        </p:nvSpPr>
        <p:spPr>
          <a:xfrm>
            <a:off x="10258644" y="1491630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36B0A9-DCB1-57D3-592D-AD11E280A50E}"/>
              </a:ext>
            </a:extLst>
          </p:cNvPr>
          <p:cNvSpPr txBox="1"/>
          <p:nvPr userDrawn="1"/>
        </p:nvSpPr>
        <p:spPr>
          <a:xfrm>
            <a:off x="346451" y="5285922"/>
            <a:ext cx="1620834" cy="720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1999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Founded in Aliso Viejo, CA and Trivandrum, India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Majority-owned by family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5ED71A7-5CE9-F959-2C5A-7636676ED42F}"/>
              </a:ext>
            </a:extLst>
          </p:cNvPr>
          <p:cNvCxnSpPr>
            <a:cxnSpLocks/>
          </p:cNvCxnSpPr>
          <p:nvPr userDrawn="1"/>
        </p:nvCxnSpPr>
        <p:spPr>
          <a:xfrm flipV="1">
            <a:off x="682617" y="4238413"/>
            <a:ext cx="0" cy="457200"/>
          </a:xfrm>
          <a:prstGeom prst="line">
            <a:avLst/>
          </a:prstGeom>
          <a:ln w="12700" cap="sq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DE5F236-C813-FCE8-5426-7D1F8A179BC9}"/>
              </a:ext>
            </a:extLst>
          </p:cNvPr>
          <p:cNvSpPr txBox="1"/>
          <p:nvPr userDrawn="1"/>
        </p:nvSpPr>
        <p:spPr>
          <a:xfrm>
            <a:off x="6451103" y="4241355"/>
            <a:ext cx="917101" cy="5283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2017</a:t>
            </a:r>
          </a:p>
          <a:p>
            <a:pPr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Acquired </a:t>
            </a:r>
          </a:p>
          <a:p>
            <a:pPr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Round Feather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0B35D4F-7367-5EF6-E6C2-E413316AA3CF}"/>
              </a:ext>
            </a:extLst>
          </p:cNvPr>
          <p:cNvCxnSpPr>
            <a:cxnSpLocks/>
          </p:cNvCxnSpPr>
          <p:nvPr userDrawn="1"/>
        </p:nvCxnSpPr>
        <p:spPr>
          <a:xfrm flipV="1">
            <a:off x="9266150" y="2107067"/>
            <a:ext cx="0" cy="2292986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544AEF0-66FF-FCEF-AB14-8DB967410F26}"/>
              </a:ext>
            </a:extLst>
          </p:cNvPr>
          <p:cNvSpPr txBox="1"/>
          <p:nvPr userDrawn="1"/>
        </p:nvSpPr>
        <p:spPr>
          <a:xfrm>
            <a:off x="9193577" y="4475798"/>
            <a:ext cx="1001145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pPr marL="0" algn="l" defTabSz="914400" rtl="0" eaLnBrk="1" latinLnBrk="0" hangingPunct="1"/>
            <a:r>
              <a:rPr lang="en-US" sz="1000" b="0" kern="1200">
                <a:solidFill>
                  <a:srgbClr val="231F20"/>
                </a:solidFill>
                <a:latin typeface="+mn-lt"/>
                <a:ea typeface="+mn-ea"/>
                <a:cs typeface="+mn-cs"/>
              </a:rPr>
              <a:t>Revenue of $1B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B0280A-70C5-6ED3-592F-6BBEC5EA5378}"/>
              </a:ext>
            </a:extLst>
          </p:cNvPr>
          <p:cNvSpPr/>
          <p:nvPr userDrawn="1"/>
        </p:nvSpPr>
        <p:spPr>
          <a:xfrm>
            <a:off x="610044" y="4698614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895E2D0-C2F0-A1E7-35F9-BA11524CB3FA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271" y="4135861"/>
            <a:ext cx="0" cy="64008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10FB591C-91CF-DD99-4201-251554BA473E}"/>
              </a:ext>
            </a:extLst>
          </p:cNvPr>
          <p:cNvSpPr/>
          <p:nvPr userDrawn="1"/>
        </p:nvSpPr>
        <p:spPr>
          <a:xfrm>
            <a:off x="3493530" y="3995529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75BF37-D6E6-C6EA-FF89-29748E975164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018144" y="3159559"/>
            <a:ext cx="1746" cy="579573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8CA81BD-8533-81B0-EE20-45193416DBCF}"/>
              </a:ext>
            </a:extLst>
          </p:cNvPr>
          <p:cNvSpPr/>
          <p:nvPr userDrawn="1"/>
        </p:nvSpPr>
        <p:spPr>
          <a:xfrm>
            <a:off x="3947317" y="3733816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2000">
                <a:latin typeface="+mn-lt"/>
              </a:rPr>
              <a:t> </a:t>
            </a:r>
            <a:endParaRPr lang="en-UA" sz="2000">
              <a:latin typeface="+mn-lt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530D35-94EC-F886-E58C-11D55DA445F6}"/>
              </a:ext>
            </a:extLst>
          </p:cNvPr>
          <p:cNvCxnSpPr>
            <a:cxnSpLocks/>
          </p:cNvCxnSpPr>
          <p:nvPr userDrawn="1"/>
        </p:nvCxnSpPr>
        <p:spPr>
          <a:xfrm flipV="1">
            <a:off x="6225949" y="3100601"/>
            <a:ext cx="0" cy="2093681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D0D5BEA2-9BB4-D01B-20CF-1B8929538A15}"/>
              </a:ext>
            </a:extLst>
          </p:cNvPr>
          <p:cNvSpPr/>
          <p:nvPr userDrawn="1"/>
        </p:nvSpPr>
        <p:spPr>
          <a:xfrm>
            <a:off x="6153376" y="2955457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FFCC117-146B-5DCF-A2F9-A2509500EE06}"/>
              </a:ext>
            </a:extLst>
          </p:cNvPr>
          <p:cNvCxnSpPr>
            <a:cxnSpLocks/>
          </p:cNvCxnSpPr>
          <p:nvPr userDrawn="1"/>
        </p:nvCxnSpPr>
        <p:spPr>
          <a:xfrm flipV="1">
            <a:off x="6519386" y="2819647"/>
            <a:ext cx="4290" cy="1345173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3FDEB83-7401-B50B-09BB-D307F9BEC965}"/>
              </a:ext>
            </a:extLst>
          </p:cNvPr>
          <p:cNvSpPr/>
          <p:nvPr userDrawn="1"/>
        </p:nvSpPr>
        <p:spPr>
          <a:xfrm>
            <a:off x="6451103" y="2674503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403B19E-5347-E3E4-6393-EF6550A6306F}"/>
              </a:ext>
            </a:extLst>
          </p:cNvPr>
          <p:cNvCxnSpPr>
            <a:cxnSpLocks/>
          </p:cNvCxnSpPr>
          <p:nvPr userDrawn="1"/>
        </p:nvCxnSpPr>
        <p:spPr>
          <a:xfrm flipV="1">
            <a:off x="7754504" y="1202681"/>
            <a:ext cx="0" cy="112777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F1839482-92ED-8ABD-BA1B-21E3F5C93E22}"/>
              </a:ext>
            </a:extLst>
          </p:cNvPr>
          <p:cNvSpPr/>
          <p:nvPr userDrawn="1"/>
        </p:nvSpPr>
        <p:spPr>
          <a:xfrm>
            <a:off x="7681931" y="2301070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3A5915D-0D97-8063-D729-2EDD7443BA24}"/>
              </a:ext>
            </a:extLst>
          </p:cNvPr>
          <p:cNvSpPr/>
          <p:nvPr userDrawn="1"/>
        </p:nvSpPr>
        <p:spPr>
          <a:xfrm>
            <a:off x="8405414" y="2155926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A931C29-587F-90F3-B7B4-24EDB1EBBBA0}"/>
              </a:ext>
            </a:extLst>
          </p:cNvPr>
          <p:cNvCxnSpPr>
            <a:cxnSpLocks/>
          </p:cNvCxnSpPr>
          <p:nvPr userDrawn="1"/>
        </p:nvCxnSpPr>
        <p:spPr>
          <a:xfrm flipV="1">
            <a:off x="8864481" y="2214950"/>
            <a:ext cx="0" cy="2747355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03012A3-0D3A-C529-5209-A431488A66AE}"/>
              </a:ext>
            </a:extLst>
          </p:cNvPr>
          <p:cNvSpPr/>
          <p:nvPr userDrawn="1"/>
        </p:nvSpPr>
        <p:spPr>
          <a:xfrm>
            <a:off x="8802541" y="2069806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D434289-72D7-B6B2-0716-9D6DEE022F68}"/>
              </a:ext>
            </a:extLst>
          </p:cNvPr>
          <p:cNvSpPr/>
          <p:nvPr userDrawn="1"/>
        </p:nvSpPr>
        <p:spPr>
          <a:xfrm>
            <a:off x="9193577" y="1956776"/>
            <a:ext cx="145146" cy="145144"/>
          </a:xfrm>
          <a:prstGeom prst="rect">
            <a:avLst/>
          </a:prstGeom>
          <a:solidFill>
            <a:srgbClr val="01B27C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F27F8AB-3370-DFE0-40B7-794658B6A06F}"/>
              </a:ext>
            </a:extLst>
          </p:cNvPr>
          <p:cNvCxnSpPr>
            <a:cxnSpLocks/>
          </p:cNvCxnSpPr>
          <p:nvPr userDrawn="1"/>
        </p:nvCxnSpPr>
        <p:spPr>
          <a:xfrm flipV="1">
            <a:off x="9611718" y="1280160"/>
            <a:ext cx="0" cy="53316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768FB77-2E31-DBA3-B82B-B7673033A9E8}"/>
              </a:ext>
            </a:extLst>
          </p:cNvPr>
          <p:cNvSpPr/>
          <p:nvPr userDrawn="1"/>
        </p:nvSpPr>
        <p:spPr>
          <a:xfrm>
            <a:off x="9539145" y="1813328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4BF9D8F-F31C-F669-8B2E-4C106488F3D0}"/>
              </a:ext>
            </a:extLst>
          </p:cNvPr>
          <p:cNvCxnSpPr>
            <a:cxnSpLocks/>
          </p:cNvCxnSpPr>
          <p:nvPr userDrawn="1"/>
        </p:nvCxnSpPr>
        <p:spPr>
          <a:xfrm>
            <a:off x="9983624" y="1823124"/>
            <a:ext cx="0" cy="2244977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440112E-DFFE-DFE1-DD88-1335910F3612}"/>
              </a:ext>
            </a:extLst>
          </p:cNvPr>
          <p:cNvSpPr/>
          <p:nvPr userDrawn="1"/>
        </p:nvSpPr>
        <p:spPr>
          <a:xfrm>
            <a:off x="9911051" y="1677980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DC08667-E8D9-FDC5-FE7B-DE8B68B1B56B}"/>
              </a:ext>
            </a:extLst>
          </p:cNvPr>
          <p:cNvSpPr txBox="1"/>
          <p:nvPr userDrawn="1"/>
        </p:nvSpPr>
        <p:spPr>
          <a:xfrm>
            <a:off x="10605754" y="1795019"/>
            <a:ext cx="1441949" cy="12528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2024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Acquired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Leonardo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Strativity Group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Endeavor Consulting Group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Interpres Security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14EC1A0-F089-B516-09CA-D46D25DDFDD7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97377" y="1389644"/>
            <a:ext cx="0" cy="32037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6D4E4F2-EB60-0DC6-CFD5-C4D492774095}"/>
              </a:ext>
            </a:extLst>
          </p:cNvPr>
          <p:cNvSpPr/>
          <p:nvPr userDrawn="1"/>
        </p:nvSpPr>
        <p:spPr>
          <a:xfrm>
            <a:off x="10624804" y="1290643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69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9F2F8409-9B9B-CE4D-A6D2-B42B785F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188720" y="1234440"/>
            <a:ext cx="11003279" cy="5623559"/>
          </a:xfrm>
          <a:prstGeom prst="rect">
            <a:avLst/>
          </a:prstGeom>
          <a:solidFill>
            <a:srgbClr val="006E74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Aptos Light" panose="020B0004020202020204" pitchFamily="34" charset="0"/>
            </a:endParaRPr>
          </a:p>
        </p:txBody>
      </p:sp>
      <p:sp>
        <p:nvSpPr>
          <p:cNvPr id="9" name="UST" descr="UST">
            <a:extLst>
              <a:ext uri="{FF2B5EF4-FFF2-40B4-BE49-F238E27FC236}">
                <a16:creationId xmlns:a16="http://schemas.microsoft.com/office/drawing/2014/main" id="{2D82142E-2BFE-4214-9282-12F54DFC4566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702053" y="1585468"/>
            <a:ext cx="8686800" cy="2105012"/>
          </a:xfrm>
        </p:spPr>
        <p:txBody>
          <a:bodyPr anchor="b" anchorCtr="0"/>
          <a:lstStyle>
            <a:lvl1pPr algn="l">
              <a:defRPr sz="48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702053" y="3931920"/>
            <a:ext cx="86868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404E13A-A174-144E-87D8-E5915BFAC3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2052" y="5577840"/>
            <a:ext cx="8686800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401369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6546">
          <p15:clr>
            <a:srgbClr val="FBAE40"/>
          </p15:clr>
        </p15:guide>
        <p15:guide id="3" orient="horz" pos="776">
          <p15:clr>
            <a:srgbClr val="FBAE40"/>
          </p15:clr>
        </p15:guide>
        <p15:guide id="4" pos="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0AF58B2-47B7-814E-A6E5-ECB9608EF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0" y="3840480"/>
            <a:ext cx="12192000" cy="3017520"/>
          </a:xfrm>
          <a:prstGeom prst="rect">
            <a:avLst/>
          </a:prstGeom>
          <a:solidFill>
            <a:srgbClr val="ECECE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Aptos Light" panose="020B0004020202020204" pitchFamily="34" charset="0"/>
            </a:endParaRP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8720" y="1234440"/>
            <a:ext cx="5166360" cy="2304288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188720" y="4114799"/>
            <a:ext cx="5166360" cy="6858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8720" y="5577840"/>
            <a:ext cx="5166360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57340" y="2148840"/>
            <a:ext cx="5166360" cy="4343400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</p:spTree>
    <p:extLst>
      <p:ext uri="{BB962C8B-B14F-4D97-AF65-F5344CB8AC3E}">
        <p14:creationId xmlns:p14="http://schemas.microsoft.com/office/powerpoint/2010/main" val="1736496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748">
          <p15:clr>
            <a:srgbClr val="FBAE40"/>
          </p15:clr>
        </p15:guide>
        <p15:guide id="3" pos="4192">
          <p15:clr>
            <a:srgbClr val="FBAE40"/>
          </p15:clr>
        </p15:guide>
        <p15:guide id="4" pos="4004">
          <p15:clr>
            <a:srgbClr val="FBAE40"/>
          </p15:clr>
        </p15:guide>
        <p15:guide id="5" orient="horz" pos="77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7340" y="365759"/>
            <a:ext cx="5166360" cy="3200400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931152" y="2651760"/>
            <a:ext cx="4617720" cy="6858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57340" y="5577840"/>
            <a:ext cx="5166360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88720" y="1234440"/>
            <a:ext cx="5166360" cy="5257800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</p:spTree>
    <p:extLst>
      <p:ext uri="{BB962C8B-B14F-4D97-AF65-F5344CB8AC3E}">
        <p14:creationId xmlns:p14="http://schemas.microsoft.com/office/powerpoint/2010/main" val="320901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37660" y="-1"/>
            <a:ext cx="805434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3898122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slide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37660" y="-1"/>
            <a:ext cx="805434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9" name="UST" descr="UST">
            <a:extLst>
              <a:ext uri="{FF2B5EF4-FFF2-40B4-BE49-F238E27FC236}">
                <a16:creationId xmlns:a16="http://schemas.microsoft.com/office/drawing/2014/main" id="{6F560B5D-F430-7088-D59F-7B7BA25ED29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2109" cy="81000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E9729B-D502-0D7F-154E-21A46B3FCB08}"/>
              </a:ext>
            </a:extLst>
          </p:cNvPr>
          <p:cNvCxnSpPr>
            <a:cxnSpLocks/>
          </p:cNvCxnSpPr>
          <p:nvPr userDrawn="1"/>
        </p:nvCxnSpPr>
        <p:spPr>
          <a:xfrm>
            <a:off x="1337946" y="371716"/>
            <a:ext cx="0" cy="792000"/>
          </a:xfrm>
          <a:prstGeom prst="line">
            <a:avLst/>
          </a:prstGeom>
          <a:ln w="127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</p:spTree>
    <p:extLst>
      <p:ext uri="{BB962C8B-B14F-4D97-AF65-F5344CB8AC3E}">
        <p14:creationId xmlns:p14="http://schemas.microsoft.com/office/powerpoint/2010/main" val="316026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9" descr="A picture containing sky, water, outdoor&#10;&#10;Description automatically generated">
            <a:extLst>
              <a:ext uri="{FF2B5EF4-FFF2-40B4-BE49-F238E27FC236}">
                <a16:creationId xmlns:a16="http://schemas.microsoft.com/office/drawing/2014/main" id="{EDFC6823-FF63-4F4F-9127-CAA6E3928E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" r="3839" b="3765"/>
          <a:stretch/>
        </p:blipFill>
        <p:spPr>
          <a:xfrm>
            <a:off x="0" y="0"/>
            <a:ext cx="12192000" cy="6856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6" name="UST" descr="UST">
            <a:extLst>
              <a:ext uri="{FF2B5EF4-FFF2-40B4-BE49-F238E27FC236}">
                <a16:creationId xmlns:a16="http://schemas.microsoft.com/office/drawing/2014/main" id="{EE8A81E1-DE09-7CB1-9795-9302AA2139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527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slide op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and person looking at a tablet&#10;&#10;Description automatically generated">
            <a:extLst>
              <a:ext uri="{FF2B5EF4-FFF2-40B4-BE49-F238E27FC236}">
                <a16:creationId xmlns:a16="http://schemas.microsoft.com/office/drawing/2014/main" id="{286D4F5F-2143-7413-017A-1D4DC62ACD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1" r="20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6" name="UST" descr="UST">
            <a:extLst>
              <a:ext uri="{FF2B5EF4-FFF2-40B4-BE49-F238E27FC236}">
                <a16:creationId xmlns:a16="http://schemas.microsoft.com/office/drawing/2014/main" id="{EE8A81E1-DE09-7CB1-9795-9302AA2139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147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107067A-FCAA-8C72-B454-ED1ACC2EC5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80062" y="2270758"/>
            <a:ext cx="5684518" cy="1372328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is Aptos Light 32pt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339DAFF-1198-F640-683F-024536A42C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62" y="3875314"/>
            <a:ext cx="5684518" cy="870583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 is Aptos Light 20pt, sentence case, two lines max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302373-182B-29E4-E443-D6C8F5F97F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062" y="4967152"/>
            <a:ext cx="5684518" cy="8741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14" name="UST" descr="UST">
            <a:extLst>
              <a:ext uri="{FF2B5EF4-FFF2-40B4-BE49-F238E27FC236}">
                <a16:creationId xmlns:a16="http://schemas.microsoft.com/office/drawing/2014/main" id="{D64FE565-A979-A6FD-86C3-B897AC10190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692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8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107067A-FCAA-8C72-B454-ED1ACC2EC5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80062" y="2270758"/>
            <a:ext cx="5684518" cy="1372328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is Aptos Light 32pt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339DAFF-1198-F640-683F-024536A42C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62" y="3875314"/>
            <a:ext cx="5684518" cy="870583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 is Aptos Light 20pt, sentence case, two lines max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302373-182B-29E4-E443-D6C8F5F97F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062" y="4967152"/>
            <a:ext cx="5684518" cy="8741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2324395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option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4700" y="-1"/>
            <a:ext cx="506730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480062" y="2270758"/>
            <a:ext cx="5684518" cy="1372328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is Aptos Light 32pt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62" y="3875314"/>
            <a:ext cx="5684518" cy="870583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 is Aptos Light 20pt, sentence case, two lines max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A9F2D56-AB74-8681-8E0A-26241D6A4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062" y="4967152"/>
            <a:ext cx="5684518" cy="8741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891354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slide option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24700" y="-1"/>
            <a:ext cx="506730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480062" y="2270758"/>
            <a:ext cx="5684518" cy="1372328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is Aptos Light 32pt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62" y="3875314"/>
            <a:ext cx="5684518" cy="870583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 is Aptos Light 20pt, sentence case, two lines max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A9F2D56-AB74-8681-8E0A-26241D6A45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062" y="4967152"/>
            <a:ext cx="5684518" cy="8741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2" name="UST" descr="UST">
            <a:extLst>
              <a:ext uri="{FF2B5EF4-FFF2-40B4-BE49-F238E27FC236}">
                <a16:creationId xmlns:a16="http://schemas.microsoft.com/office/drawing/2014/main" id="{61ECC60D-8478-8819-B2C5-E76BC9CEC548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125" y="358775"/>
            <a:ext cx="732109" cy="81000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A66234-B48E-5445-1A41-1E32BEFDE005}"/>
              </a:ext>
            </a:extLst>
          </p:cNvPr>
          <p:cNvCxnSpPr>
            <a:cxnSpLocks/>
          </p:cNvCxnSpPr>
          <p:nvPr userDrawn="1"/>
        </p:nvCxnSpPr>
        <p:spPr>
          <a:xfrm>
            <a:off x="1337946" y="371716"/>
            <a:ext cx="0" cy="792000"/>
          </a:xfrm>
          <a:prstGeom prst="line">
            <a:avLst/>
          </a:prstGeom>
          <a:ln w="127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</p:spTree>
    <p:extLst>
      <p:ext uri="{BB962C8B-B14F-4D97-AF65-F5344CB8AC3E}">
        <p14:creationId xmlns:p14="http://schemas.microsoft.com/office/powerpoint/2010/main" val="2238184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Worldwide office locations Updated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A48B4B-3B81-F74C-8FE3-0FD399854022}"/>
              </a:ext>
            </a:extLst>
          </p:cNvPr>
          <p:cNvSpPr txBox="1">
            <a:spLocks/>
          </p:cNvSpPr>
          <p:nvPr/>
        </p:nvSpPr>
        <p:spPr>
          <a:xfrm>
            <a:off x="365760" y="365760"/>
            <a:ext cx="997204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solidFill>
                  <a:schemeClr val="tx1"/>
                </a:solidFill>
                <a:latin typeface="Aptos Light" panose="020B0004020202020204" pitchFamily="34" charset="0"/>
              </a:rPr>
              <a:t>Engineering change </a:t>
            </a:r>
            <a:br>
              <a:rPr lang="en-US" b="0">
                <a:solidFill>
                  <a:schemeClr val="tx1"/>
                </a:solidFill>
                <a:latin typeface="Aptos Light" panose="020B0004020202020204" pitchFamily="34" charset="0"/>
              </a:rPr>
            </a:br>
            <a:r>
              <a:rPr lang="en-US" b="0">
                <a:solidFill>
                  <a:schemeClr val="tx1"/>
                </a:solidFill>
                <a:latin typeface="Aptos Light" panose="020B0004020202020204" pitchFamily="34" charset="0"/>
              </a:rPr>
              <a:t>all over the world</a:t>
            </a:r>
          </a:p>
        </p:txBody>
      </p:sp>
      <p:sp>
        <p:nvSpPr>
          <p:cNvPr id="56" name="TextBox 55">
            <a:hlinkClick r:id="rId2"/>
            <a:extLst>
              <a:ext uri="{FF2B5EF4-FFF2-40B4-BE49-F238E27FC236}">
                <a16:creationId xmlns:a16="http://schemas.microsoft.com/office/drawing/2014/main" id="{1732A860-6A91-4E4F-856E-71CE8D1089D1}"/>
              </a:ext>
            </a:extLst>
          </p:cNvPr>
          <p:cNvSpPr txBox="1"/>
          <p:nvPr/>
        </p:nvSpPr>
        <p:spPr>
          <a:xfrm>
            <a:off x="365125" y="1385476"/>
            <a:ext cx="2479130" cy="3321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50" i="0">
                <a:latin typeface="Aptos Light" panose="020B0004020202020204" pitchFamily="34" charset="0"/>
              </a:rPr>
              <a:t>*To see a list of all offices, visit </a:t>
            </a:r>
            <a:r>
              <a:rPr lang="en-US" sz="1050" b="1" i="0" u="sng">
                <a:latin typeface="Aptos Light" panose="020B0004020202020204" pitchFamily="34" charset="0"/>
              </a:rPr>
              <a:t>ust.com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B132C5-CC10-412E-AD94-F36D86E5AF4B}"/>
              </a:ext>
            </a:extLst>
          </p:cNvPr>
          <p:cNvGrpSpPr/>
          <p:nvPr/>
        </p:nvGrpSpPr>
        <p:grpSpPr>
          <a:xfrm>
            <a:off x="365125" y="5468863"/>
            <a:ext cx="1933173" cy="402342"/>
            <a:chOff x="505022" y="1208296"/>
            <a:chExt cx="1933173" cy="40234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913AE0-B9F7-4413-8397-0FC8AD99E10B}"/>
                </a:ext>
              </a:extLst>
            </p:cNvPr>
            <p:cNvSpPr txBox="1"/>
            <p:nvPr/>
          </p:nvSpPr>
          <p:spPr>
            <a:xfrm>
              <a:off x="775880" y="1456750"/>
              <a:ext cx="76302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latin typeface="Aptos Light" panose="020B0004020202020204" pitchFamily="34" charset="0"/>
                </a:rPr>
                <a:t>Other Centers</a:t>
              </a:r>
            </a:p>
          </p:txBody>
        </p:sp>
        <p:sp>
          <p:nvSpPr>
            <p:cNvPr id="60" name="Square">
              <a:extLst>
                <a:ext uri="{FF2B5EF4-FFF2-40B4-BE49-F238E27FC236}">
                  <a16:creationId xmlns:a16="http://schemas.microsoft.com/office/drawing/2014/main" id="{C75C07E8-0C08-4227-B303-CA8744030F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236605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1" name="Square">
              <a:extLst>
                <a:ext uri="{FF2B5EF4-FFF2-40B4-BE49-F238E27FC236}">
                  <a16:creationId xmlns:a16="http://schemas.microsoft.com/office/drawing/2014/main" id="{6AC559D2-DFFF-4ED4-9221-1023751DD5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464413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9649D56-614B-49F9-8ABC-79863BB56E96}"/>
                </a:ext>
              </a:extLst>
            </p:cNvPr>
            <p:cNvSpPr txBox="1"/>
            <p:nvPr/>
          </p:nvSpPr>
          <p:spPr>
            <a:xfrm>
              <a:off x="775880" y="1208296"/>
              <a:ext cx="16623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latin typeface="Aptos Light" panose="020B0004020202020204" pitchFamily="34" charset="0"/>
                </a:rPr>
                <a:t>Main Offices &amp; Innovation Labs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5D4FDE3-3E8F-43F3-8282-6B3FACF3C636}"/>
              </a:ext>
            </a:extLst>
          </p:cNvPr>
          <p:cNvSpPr/>
          <p:nvPr/>
        </p:nvSpPr>
        <p:spPr>
          <a:xfrm>
            <a:off x="365125" y="1966988"/>
            <a:ext cx="2007961" cy="18430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1800">
              <a:latin typeface="Aptos Light" panose="020B00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0934E2A-55C6-4E66-A9D0-72BE32B65200}"/>
              </a:ext>
            </a:extLst>
          </p:cNvPr>
          <p:cNvSpPr>
            <a:spLocks/>
          </p:cNvSpPr>
          <p:nvPr/>
        </p:nvSpPr>
        <p:spPr>
          <a:xfrm>
            <a:off x="525519" y="2233661"/>
            <a:ext cx="1764000" cy="774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86% of our global footprint is ISO 14001:2015 (Environmental Management System)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1F2AAE-832C-4863-9906-685EC7D61FF2}"/>
              </a:ext>
            </a:extLst>
          </p:cNvPr>
          <p:cNvSpPr>
            <a:spLocks/>
          </p:cNvSpPr>
          <p:nvPr/>
        </p:nvSpPr>
        <p:spPr>
          <a:xfrm>
            <a:off x="525519" y="3102453"/>
            <a:ext cx="1764000" cy="3880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43% of our global footprint is LEED Gold Certified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51D458-0897-6C5C-297C-F923E330CBFD}"/>
              </a:ext>
            </a:extLst>
          </p:cNvPr>
          <p:cNvGrpSpPr>
            <a:grpSpLocks noChangeAspect="1"/>
          </p:cNvGrpSpPr>
          <p:nvPr/>
        </p:nvGrpSpPr>
        <p:grpSpPr>
          <a:xfrm>
            <a:off x="2845949" y="1020802"/>
            <a:ext cx="8869680" cy="5466231"/>
            <a:chOff x="2983517" y="963640"/>
            <a:chExt cx="9089403" cy="560164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B2B3245-B13E-36A8-C7AD-8C9889234D23}"/>
                </a:ext>
              </a:extLst>
            </p:cNvPr>
            <p:cNvSpPr txBox="1"/>
            <p:nvPr/>
          </p:nvSpPr>
          <p:spPr>
            <a:xfrm>
              <a:off x="2983517" y="2312060"/>
              <a:ext cx="1098058" cy="324537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AMERICAS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  <a:t>Global HQ – Orange </a:t>
              </a:r>
              <a:b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</a:br>
              <a:r>
                <a:rPr lang="en-US" sz="1000">
                  <a:solidFill>
                    <a:schemeClr val="accent6"/>
                  </a:solidFill>
                  <a:latin typeface="Aptos Light" panose="020B0004020202020204" pitchFamily="34" charset="0"/>
                </a:rPr>
                <a:t>County, CA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Bentonville, AR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Chicago, IL 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Norfolk, VA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Columbus, OH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Atlanta, GA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Dallas, TX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Ames, IA 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Toronto, CA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Guadalajara, MX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Leon, MX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San Jose, CR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Santiago, CL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Lima, PE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Sao Paulo, BR</a:t>
              </a:r>
            </a:p>
            <a:p>
              <a:pPr>
                <a:lnSpc>
                  <a:spcPct val="110000"/>
                </a:lnSpc>
                <a:spcAft>
                  <a:spcPts val="100"/>
                </a:spcAft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Buenos Aires, AR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2D0F546-8C60-68B0-2206-C0C7703D57C5}"/>
                </a:ext>
              </a:extLst>
            </p:cNvPr>
            <p:cNvSpPr txBox="1"/>
            <p:nvPr/>
          </p:nvSpPr>
          <p:spPr>
            <a:xfrm>
              <a:off x="11025049" y="2450336"/>
              <a:ext cx="1047871" cy="185525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APAC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Singapore, SG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Manila, PH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Sydney, AU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Melbourne, AU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US" sz="1000">
                  <a:latin typeface="Aptos Light" panose="020B0004020202020204" pitchFamily="34" charset="0"/>
                </a:rPr>
                <a:t>Brisbane, AU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Penang, MY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Kuala Lumpur, MY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Shanghai, CN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Taipei, TW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Hong Kong, HK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283CD4C-8D5B-825C-6982-D3F99DE38C1A}"/>
                </a:ext>
              </a:extLst>
            </p:cNvPr>
            <p:cNvSpPr txBox="1"/>
            <p:nvPr/>
          </p:nvSpPr>
          <p:spPr>
            <a:xfrm>
              <a:off x="8950848" y="3803083"/>
              <a:ext cx="1099814" cy="167962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INDIA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Trivandrum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Bangalore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Chennai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Hyderabad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Kochi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Delhi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Coimbatore 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Hosur 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75C9AD4-BDB0-A380-2AC4-917E887BFCCD}"/>
                </a:ext>
              </a:extLst>
            </p:cNvPr>
            <p:cNvSpPr txBox="1"/>
            <p:nvPr/>
          </p:nvSpPr>
          <p:spPr>
            <a:xfrm>
              <a:off x="6163343" y="2482157"/>
              <a:ext cx="670055" cy="134742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 b="1">
                  <a:latin typeface="Aptos Light" panose="020B0004020202020204" pitchFamily="34" charset="0"/>
                </a:rPr>
                <a:t>EMEA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solidFill>
                    <a:schemeClr val="accent3"/>
                  </a:solidFill>
                  <a:latin typeface="Aptos Light" panose="020B0004020202020204" pitchFamily="34" charset="0"/>
                </a:rPr>
                <a:t>London, UK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Leeds, UK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Dublin, IE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Madrid,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Tel Aviv, IS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Cologne, DE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Lisbon, PT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387A4B5-E16E-3452-1974-2EE35EC69734}"/>
                </a:ext>
              </a:extLst>
            </p:cNvPr>
            <p:cNvSpPr txBox="1"/>
            <p:nvPr/>
          </p:nvSpPr>
          <p:spPr>
            <a:xfrm>
              <a:off x="6542019" y="3863646"/>
              <a:ext cx="910506" cy="270163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Paris, FR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Gdansk, PL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Bucharest, RO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Sofia, BG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Helmond, NL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Barcelona,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 b="0">
                  <a:latin typeface="Aptos Light" panose="020B0004020202020204" pitchFamily="34" charset="0"/>
                </a:rPr>
                <a:t>Bilbao,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Salamanca,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Valencia,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Zaragoza, ES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Copenhagen, DK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Zurich, CH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Fribourg, CH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Kyiv, UA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Prague, CZ</a:t>
              </a:r>
            </a:p>
            <a:p>
              <a:pPr>
                <a:lnSpc>
                  <a:spcPct val="110000"/>
                </a:lnSpc>
                <a:buSzPct val="100000"/>
              </a:pPr>
              <a:r>
                <a:rPr lang="en-US" sz="1000">
                  <a:latin typeface="Aptos Light" panose="020B0004020202020204" pitchFamily="34" charset="0"/>
                </a:rPr>
                <a:t>Cape Town, ZA</a:t>
              </a:r>
            </a:p>
          </p:txBody>
        </p:sp>
        <p:sp>
          <p:nvSpPr>
            <p:cNvPr id="54" name="World">
              <a:extLst>
                <a:ext uri="{FF2B5EF4-FFF2-40B4-BE49-F238E27FC236}">
                  <a16:creationId xmlns:a16="http://schemas.microsoft.com/office/drawing/2014/main" id="{E63614DD-7305-E794-E912-7BE54A0C8DE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197218" y="963640"/>
              <a:ext cx="8858218" cy="4592051"/>
            </a:xfrm>
            <a:custGeom>
              <a:avLst/>
              <a:gdLst>
                <a:gd name="T0" fmla="*/ 7449 w 8611"/>
                <a:gd name="T1" fmla="*/ 1277 h 4463"/>
                <a:gd name="T2" fmla="*/ 6996 w 8611"/>
                <a:gd name="T3" fmla="*/ 2869 h 4463"/>
                <a:gd name="T4" fmla="*/ 6945 w 8611"/>
                <a:gd name="T5" fmla="*/ 3360 h 4463"/>
                <a:gd name="T6" fmla="*/ 7246 w 8611"/>
                <a:gd name="T7" fmla="*/ 3672 h 4463"/>
                <a:gd name="T8" fmla="*/ 7447 w 8611"/>
                <a:gd name="T9" fmla="*/ 3150 h 4463"/>
                <a:gd name="T10" fmla="*/ 6989 w 8611"/>
                <a:gd name="T11" fmla="*/ 2545 h 4463"/>
                <a:gd name="T12" fmla="*/ 6997 w 8611"/>
                <a:gd name="T13" fmla="*/ 2386 h 4463"/>
                <a:gd name="T14" fmla="*/ 8358 w 8611"/>
                <a:gd name="T15" fmla="*/ 3894 h 4463"/>
                <a:gd name="T16" fmla="*/ 7529 w 8611"/>
                <a:gd name="T17" fmla="*/ 3121 h 4463"/>
                <a:gd name="T18" fmla="*/ 7859 w 8611"/>
                <a:gd name="T19" fmla="*/ 432 h 4463"/>
                <a:gd name="T20" fmla="*/ 6732 w 8611"/>
                <a:gd name="T21" fmla="*/ 0 h 4463"/>
                <a:gd name="T22" fmla="*/ 5643 w 8611"/>
                <a:gd name="T23" fmla="*/ 489 h 4463"/>
                <a:gd name="T24" fmla="*/ 4919 w 8611"/>
                <a:gd name="T25" fmla="*/ 675 h 4463"/>
                <a:gd name="T26" fmla="*/ 4128 w 8611"/>
                <a:gd name="T27" fmla="*/ 1077 h 4463"/>
                <a:gd name="T28" fmla="*/ 4567 w 8611"/>
                <a:gd name="T29" fmla="*/ 714 h 4463"/>
                <a:gd name="T30" fmla="*/ 4468 w 8611"/>
                <a:gd name="T31" fmla="*/ 1236 h 4463"/>
                <a:gd name="T32" fmla="*/ 3784 w 8611"/>
                <a:gd name="T33" fmla="*/ 1867 h 4463"/>
                <a:gd name="T34" fmla="*/ 4307 w 8611"/>
                <a:gd name="T35" fmla="*/ 1650 h 4463"/>
                <a:gd name="T36" fmla="*/ 4649 w 8611"/>
                <a:gd name="T37" fmla="*/ 1844 h 4463"/>
                <a:gd name="T38" fmla="*/ 4283 w 8611"/>
                <a:gd name="T39" fmla="*/ 1920 h 4463"/>
                <a:gd name="T40" fmla="*/ 4212 w 8611"/>
                <a:gd name="T41" fmla="*/ 2695 h 4463"/>
                <a:gd name="T42" fmla="*/ 4439 w 8611"/>
                <a:gd name="T43" fmla="*/ 3737 h 4463"/>
                <a:gd name="T44" fmla="*/ 4992 w 8611"/>
                <a:gd name="T45" fmla="*/ 2911 h 4463"/>
                <a:gd name="T46" fmla="*/ 4875 w 8611"/>
                <a:gd name="T47" fmla="*/ 2277 h 4463"/>
                <a:gd name="T48" fmla="*/ 5263 w 8611"/>
                <a:gd name="T49" fmla="*/ 2068 h 4463"/>
                <a:gd name="T50" fmla="*/ 5779 w 8611"/>
                <a:gd name="T51" fmla="*/ 2505 h 4463"/>
                <a:gd name="T52" fmla="*/ 6218 w 8611"/>
                <a:gd name="T53" fmla="*/ 2289 h 4463"/>
                <a:gd name="T54" fmla="*/ 6583 w 8611"/>
                <a:gd name="T55" fmla="*/ 2651 h 4463"/>
                <a:gd name="T56" fmla="*/ 6749 w 8611"/>
                <a:gd name="T57" fmla="*/ 2316 h 4463"/>
                <a:gd name="T58" fmla="*/ 7091 w 8611"/>
                <a:gd name="T59" fmla="*/ 1918 h 4463"/>
                <a:gd name="T60" fmla="*/ 7450 w 8611"/>
                <a:gd name="T61" fmla="*/ 1021 h 4463"/>
                <a:gd name="T62" fmla="*/ 7799 w 8611"/>
                <a:gd name="T63" fmla="*/ 1162 h 4463"/>
                <a:gd name="T64" fmla="*/ 8431 w 8611"/>
                <a:gd name="T65" fmla="*/ 699 h 4463"/>
                <a:gd name="T66" fmla="*/ 7254 w 8611"/>
                <a:gd name="T67" fmla="*/ 1916 h 4463"/>
                <a:gd name="T68" fmla="*/ 7254 w 8611"/>
                <a:gd name="T69" fmla="*/ 1916 h 4463"/>
                <a:gd name="T70" fmla="*/ 7541 w 8611"/>
                <a:gd name="T71" fmla="*/ 3946 h 4463"/>
                <a:gd name="T72" fmla="*/ 5208 w 8611"/>
                <a:gd name="T73" fmla="*/ 3193 h 4463"/>
                <a:gd name="T74" fmla="*/ 2242 w 8611"/>
                <a:gd name="T75" fmla="*/ 2576 h 4463"/>
                <a:gd name="T76" fmla="*/ 2373 w 8611"/>
                <a:gd name="T77" fmla="*/ 4463 h 4463"/>
                <a:gd name="T78" fmla="*/ 2975 w 8611"/>
                <a:gd name="T79" fmla="*/ 2956 h 4463"/>
                <a:gd name="T80" fmla="*/ 2114 w 8611"/>
                <a:gd name="T81" fmla="*/ 811 h 4463"/>
                <a:gd name="T82" fmla="*/ 2633 w 8611"/>
                <a:gd name="T83" fmla="*/ 128 h 4463"/>
                <a:gd name="T84" fmla="*/ 3050 w 8611"/>
                <a:gd name="T85" fmla="*/ 531 h 4463"/>
                <a:gd name="T86" fmla="*/ 3901 w 8611"/>
                <a:gd name="T87" fmla="*/ 1399 h 4463"/>
                <a:gd name="T88" fmla="*/ 3761 w 8611"/>
                <a:gd name="T89" fmla="*/ 1173 h 4463"/>
                <a:gd name="T90" fmla="*/ 6870 w 8611"/>
                <a:gd name="T91" fmla="*/ 2711 h 4463"/>
                <a:gd name="T92" fmla="*/ 6870 w 8611"/>
                <a:gd name="T93" fmla="*/ 2932 h 4463"/>
                <a:gd name="T94" fmla="*/ 1714 w 8611"/>
                <a:gd name="T95" fmla="*/ 2085 h 4463"/>
                <a:gd name="T96" fmla="*/ 2611 w 8611"/>
                <a:gd name="T97" fmla="*/ 1404 h 4463"/>
                <a:gd name="T98" fmla="*/ 2171 w 8611"/>
                <a:gd name="T99" fmla="*/ 883 h 4463"/>
                <a:gd name="T100" fmla="*/ 2362 w 8611"/>
                <a:gd name="T101" fmla="*/ 841 h 4463"/>
                <a:gd name="T102" fmla="*/ 1050 w 8611"/>
                <a:gd name="T103" fmla="*/ 396 h 4463"/>
                <a:gd name="T104" fmla="*/ 380 w 8611"/>
                <a:gd name="T105" fmla="*/ 1112 h 4463"/>
                <a:gd name="T106" fmla="*/ 1651 w 8611"/>
                <a:gd name="T107" fmla="*/ 2481 h 4463"/>
                <a:gd name="T108" fmla="*/ 6560 w 8611"/>
                <a:gd name="T109" fmla="*/ 2743 h 4463"/>
                <a:gd name="T110" fmla="*/ 6523 w 8611"/>
                <a:gd name="T111" fmla="*/ 2780 h 4463"/>
                <a:gd name="T112" fmla="*/ 6579 w 8611"/>
                <a:gd name="T113" fmla="*/ 2979 h 4463"/>
                <a:gd name="T114" fmla="*/ 5948 w 8611"/>
                <a:gd name="T115" fmla="*/ 2706 h 4463"/>
                <a:gd name="T116" fmla="*/ 3654 w 8611"/>
                <a:gd name="T117" fmla="*/ 811 h 4463"/>
                <a:gd name="T118" fmla="*/ 3654 w 8611"/>
                <a:gd name="T119" fmla="*/ 811 h 4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611" h="4463">
                  <a:moveTo>
                    <a:pt x="7449" y="1700"/>
                  </a:moveTo>
                  <a:lnTo>
                    <a:pt x="7449" y="1700"/>
                  </a:lnTo>
                  <a:lnTo>
                    <a:pt x="7510" y="1700"/>
                  </a:lnTo>
                  <a:lnTo>
                    <a:pt x="7510" y="1277"/>
                  </a:lnTo>
                  <a:lnTo>
                    <a:pt x="7449" y="1277"/>
                  </a:lnTo>
                  <a:lnTo>
                    <a:pt x="7449" y="1700"/>
                  </a:lnTo>
                  <a:close/>
                  <a:moveTo>
                    <a:pt x="6916" y="2980"/>
                  </a:moveTo>
                  <a:lnTo>
                    <a:pt x="6916" y="2980"/>
                  </a:lnTo>
                  <a:lnTo>
                    <a:pt x="6996" y="2980"/>
                  </a:lnTo>
                  <a:lnTo>
                    <a:pt x="6996" y="2869"/>
                  </a:lnTo>
                  <a:lnTo>
                    <a:pt x="6916" y="2869"/>
                  </a:lnTo>
                  <a:lnTo>
                    <a:pt x="6916" y="2980"/>
                  </a:lnTo>
                  <a:close/>
                  <a:moveTo>
                    <a:pt x="7155" y="3150"/>
                  </a:moveTo>
                  <a:lnTo>
                    <a:pt x="7155" y="3150"/>
                  </a:lnTo>
                  <a:lnTo>
                    <a:pt x="6945" y="3360"/>
                  </a:lnTo>
                  <a:lnTo>
                    <a:pt x="6803" y="3360"/>
                  </a:lnTo>
                  <a:lnTo>
                    <a:pt x="6803" y="3741"/>
                  </a:lnTo>
                  <a:lnTo>
                    <a:pt x="7014" y="3741"/>
                  </a:lnTo>
                  <a:lnTo>
                    <a:pt x="7083" y="3672"/>
                  </a:lnTo>
                  <a:lnTo>
                    <a:pt x="7246" y="3672"/>
                  </a:lnTo>
                  <a:lnTo>
                    <a:pt x="7428" y="3854"/>
                  </a:lnTo>
                  <a:lnTo>
                    <a:pt x="7578" y="3854"/>
                  </a:lnTo>
                  <a:lnTo>
                    <a:pt x="7751" y="3682"/>
                  </a:lnTo>
                  <a:lnTo>
                    <a:pt x="7751" y="3453"/>
                  </a:lnTo>
                  <a:lnTo>
                    <a:pt x="7447" y="3150"/>
                  </a:lnTo>
                  <a:lnTo>
                    <a:pt x="7155" y="3150"/>
                  </a:lnTo>
                  <a:close/>
                  <a:moveTo>
                    <a:pt x="6938" y="2386"/>
                  </a:moveTo>
                  <a:lnTo>
                    <a:pt x="6938" y="2386"/>
                  </a:lnTo>
                  <a:lnTo>
                    <a:pt x="6938" y="2494"/>
                  </a:lnTo>
                  <a:lnTo>
                    <a:pt x="6989" y="2545"/>
                  </a:lnTo>
                  <a:lnTo>
                    <a:pt x="6989" y="2707"/>
                  </a:lnTo>
                  <a:lnTo>
                    <a:pt x="7091" y="2707"/>
                  </a:lnTo>
                  <a:lnTo>
                    <a:pt x="7091" y="2566"/>
                  </a:lnTo>
                  <a:lnTo>
                    <a:pt x="6997" y="2472"/>
                  </a:lnTo>
                  <a:lnTo>
                    <a:pt x="6997" y="2386"/>
                  </a:lnTo>
                  <a:lnTo>
                    <a:pt x="6938" y="2386"/>
                  </a:lnTo>
                  <a:close/>
                  <a:moveTo>
                    <a:pt x="8059" y="4075"/>
                  </a:moveTo>
                  <a:lnTo>
                    <a:pt x="8059" y="4075"/>
                  </a:lnTo>
                  <a:lnTo>
                    <a:pt x="8118" y="4134"/>
                  </a:lnTo>
                  <a:lnTo>
                    <a:pt x="8358" y="3894"/>
                  </a:lnTo>
                  <a:lnTo>
                    <a:pt x="8299" y="3835"/>
                  </a:lnTo>
                  <a:lnTo>
                    <a:pt x="8059" y="4075"/>
                  </a:lnTo>
                  <a:close/>
                  <a:moveTo>
                    <a:pt x="7322" y="2914"/>
                  </a:moveTo>
                  <a:lnTo>
                    <a:pt x="7322" y="2914"/>
                  </a:lnTo>
                  <a:lnTo>
                    <a:pt x="7529" y="3121"/>
                  </a:lnTo>
                  <a:lnTo>
                    <a:pt x="7598" y="3053"/>
                  </a:lnTo>
                  <a:lnTo>
                    <a:pt x="7390" y="2845"/>
                  </a:lnTo>
                  <a:lnTo>
                    <a:pt x="7322" y="2914"/>
                  </a:lnTo>
                  <a:close/>
                  <a:moveTo>
                    <a:pt x="7859" y="432"/>
                  </a:moveTo>
                  <a:lnTo>
                    <a:pt x="7859" y="432"/>
                  </a:lnTo>
                  <a:lnTo>
                    <a:pt x="7690" y="263"/>
                  </a:lnTo>
                  <a:lnTo>
                    <a:pt x="7189" y="263"/>
                  </a:lnTo>
                  <a:lnTo>
                    <a:pt x="7117" y="191"/>
                  </a:lnTo>
                  <a:lnTo>
                    <a:pt x="6732" y="191"/>
                  </a:lnTo>
                  <a:lnTo>
                    <a:pt x="6732" y="0"/>
                  </a:lnTo>
                  <a:lnTo>
                    <a:pt x="6062" y="0"/>
                  </a:lnTo>
                  <a:lnTo>
                    <a:pt x="5852" y="209"/>
                  </a:lnTo>
                  <a:lnTo>
                    <a:pt x="5697" y="209"/>
                  </a:lnTo>
                  <a:lnTo>
                    <a:pt x="5643" y="262"/>
                  </a:lnTo>
                  <a:lnTo>
                    <a:pt x="5643" y="489"/>
                  </a:lnTo>
                  <a:lnTo>
                    <a:pt x="5243" y="489"/>
                  </a:lnTo>
                  <a:lnTo>
                    <a:pt x="4953" y="779"/>
                  </a:lnTo>
                  <a:lnTo>
                    <a:pt x="4867" y="779"/>
                  </a:lnTo>
                  <a:lnTo>
                    <a:pt x="4865" y="675"/>
                  </a:lnTo>
                  <a:lnTo>
                    <a:pt x="4919" y="675"/>
                  </a:lnTo>
                  <a:lnTo>
                    <a:pt x="5004" y="590"/>
                  </a:lnTo>
                  <a:lnTo>
                    <a:pt x="4777" y="363"/>
                  </a:lnTo>
                  <a:lnTo>
                    <a:pt x="4578" y="363"/>
                  </a:lnTo>
                  <a:lnTo>
                    <a:pt x="4128" y="813"/>
                  </a:lnTo>
                  <a:lnTo>
                    <a:pt x="4128" y="1077"/>
                  </a:lnTo>
                  <a:lnTo>
                    <a:pt x="4216" y="1077"/>
                  </a:lnTo>
                  <a:lnTo>
                    <a:pt x="4341" y="1201"/>
                  </a:lnTo>
                  <a:lnTo>
                    <a:pt x="4434" y="1108"/>
                  </a:lnTo>
                  <a:lnTo>
                    <a:pt x="4434" y="848"/>
                  </a:lnTo>
                  <a:lnTo>
                    <a:pt x="4567" y="714"/>
                  </a:lnTo>
                  <a:lnTo>
                    <a:pt x="4599" y="745"/>
                  </a:lnTo>
                  <a:lnTo>
                    <a:pt x="4494" y="849"/>
                  </a:lnTo>
                  <a:lnTo>
                    <a:pt x="4494" y="1009"/>
                  </a:lnTo>
                  <a:lnTo>
                    <a:pt x="4695" y="1009"/>
                  </a:lnTo>
                  <a:lnTo>
                    <a:pt x="4468" y="1236"/>
                  </a:lnTo>
                  <a:lnTo>
                    <a:pt x="4208" y="1237"/>
                  </a:lnTo>
                  <a:lnTo>
                    <a:pt x="3961" y="1484"/>
                  </a:lnTo>
                  <a:lnTo>
                    <a:pt x="3961" y="1645"/>
                  </a:lnTo>
                  <a:lnTo>
                    <a:pt x="3784" y="1645"/>
                  </a:lnTo>
                  <a:lnTo>
                    <a:pt x="3784" y="1867"/>
                  </a:lnTo>
                  <a:lnTo>
                    <a:pt x="3946" y="1868"/>
                  </a:lnTo>
                  <a:lnTo>
                    <a:pt x="4188" y="1625"/>
                  </a:lnTo>
                  <a:lnTo>
                    <a:pt x="4377" y="1813"/>
                  </a:lnTo>
                  <a:lnTo>
                    <a:pt x="4424" y="1767"/>
                  </a:lnTo>
                  <a:lnTo>
                    <a:pt x="4307" y="1650"/>
                  </a:lnTo>
                  <a:lnTo>
                    <a:pt x="4307" y="1580"/>
                  </a:lnTo>
                  <a:lnTo>
                    <a:pt x="4476" y="1749"/>
                  </a:lnTo>
                  <a:lnTo>
                    <a:pt x="4476" y="1788"/>
                  </a:lnTo>
                  <a:lnTo>
                    <a:pt x="4532" y="1844"/>
                  </a:lnTo>
                  <a:lnTo>
                    <a:pt x="4649" y="1844"/>
                  </a:lnTo>
                  <a:lnTo>
                    <a:pt x="4727" y="1922"/>
                  </a:lnTo>
                  <a:lnTo>
                    <a:pt x="4864" y="1922"/>
                  </a:lnTo>
                  <a:lnTo>
                    <a:pt x="4864" y="2062"/>
                  </a:lnTo>
                  <a:lnTo>
                    <a:pt x="4425" y="2062"/>
                  </a:lnTo>
                  <a:lnTo>
                    <a:pt x="4283" y="1920"/>
                  </a:lnTo>
                  <a:lnTo>
                    <a:pt x="3886" y="1920"/>
                  </a:lnTo>
                  <a:lnTo>
                    <a:pt x="3577" y="2229"/>
                  </a:lnTo>
                  <a:lnTo>
                    <a:pt x="3577" y="2540"/>
                  </a:lnTo>
                  <a:lnTo>
                    <a:pt x="3732" y="2695"/>
                  </a:lnTo>
                  <a:lnTo>
                    <a:pt x="4212" y="2695"/>
                  </a:lnTo>
                  <a:lnTo>
                    <a:pt x="4212" y="2859"/>
                  </a:lnTo>
                  <a:lnTo>
                    <a:pt x="4315" y="2961"/>
                  </a:lnTo>
                  <a:lnTo>
                    <a:pt x="4315" y="3459"/>
                  </a:lnTo>
                  <a:lnTo>
                    <a:pt x="4439" y="3583"/>
                  </a:lnTo>
                  <a:lnTo>
                    <a:pt x="4439" y="3737"/>
                  </a:lnTo>
                  <a:lnTo>
                    <a:pt x="4552" y="3737"/>
                  </a:lnTo>
                  <a:lnTo>
                    <a:pt x="4795" y="3494"/>
                  </a:lnTo>
                  <a:lnTo>
                    <a:pt x="4795" y="3425"/>
                  </a:lnTo>
                  <a:lnTo>
                    <a:pt x="4992" y="3228"/>
                  </a:lnTo>
                  <a:lnTo>
                    <a:pt x="4992" y="2911"/>
                  </a:lnTo>
                  <a:lnTo>
                    <a:pt x="5215" y="2687"/>
                  </a:lnTo>
                  <a:lnTo>
                    <a:pt x="5215" y="2591"/>
                  </a:lnTo>
                  <a:lnTo>
                    <a:pt x="5101" y="2591"/>
                  </a:lnTo>
                  <a:lnTo>
                    <a:pt x="4831" y="2321"/>
                  </a:lnTo>
                  <a:lnTo>
                    <a:pt x="4875" y="2277"/>
                  </a:lnTo>
                  <a:lnTo>
                    <a:pt x="5112" y="2514"/>
                  </a:lnTo>
                  <a:lnTo>
                    <a:pt x="5267" y="2514"/>
                  </a:lnTo>
                  <a:lnTo>
                    <a:pt x="5461" y="2320"/>
                  </a:lnTo>
                  <a:lnTo>
                    <a:pt x="5237" y="2094"/>
                  </a:lnTo>
                  <a:lnTo>
                    <a:pt x="5263" y="2068"/>
                  </a:lnTo>
                  <a:lnTo>
                    <a:pt x="5395" y="2200"/>
                  </a:lnTo>
                  <a:lnTo>
                    <a:pt x="5600" y="2200"/>
                  </a:lnTo>
                  <a:lnTo>
                    <a:pt x="5715" y="2314"/>
                  </a:lnTo>
                  <a:lnTo>
                    <a:pt x="5779" y="2314"/>
                  </a:lnTo>
                  <a:lnTo>
                    <a:pt x="5779" y="2505"/>
                  </a:lnTo>
                  <a:lnTo>
                    <a:pt x="5907" y="2632"/>
                  </a:lnTo>
                  <a:lnTo>
                    <a:pt x="5963" y="2575"/>
                  </a:lnTo>
                  <a:lnTo>
                    <a:pt x="5963" y="2445"/>
                  </a:lnTo>
                  <a:lnTo>
                    <a:pt x="6162" y="2289"/>
                  </a:lnTo>
                  <a:lnTo>
                    <a:pt x="6218" y="2289"/>
                  </a:lnTo>
                  <a:lnTo>
                    <a:pt x="6307" y="2378"/>
                  </a:lnTo>
                  <a:cubicBezTo>
                    <a:pt x="6307" y="2378"/>
                    <a:pt x="6300" y="2447"/>
                    <a:pt x="6307" y="2447"/>
                  </a:cubicBezTo>
                  <a:lnTo>
                    <a:pt x="6379" y="2447"/>
                  </a:lnTo>
                  <a:lnTo>
                    <a:pt x="6579" y="2647"/>
                  </a:lnTo>
                  <a:lnTo>
                    <a:pt x="6583" y="2651"/>
                  </a:lnTo>
                  <a:lnTo>
                    <a:pt x="6669" y="2564"/>
                  </a:lnTo>
                  <a:lnTo>
                    <a:pt x="6669" y="2478"/>
                  </a:lnTo>
                  <a:lnTo>
                    <a:pt x="6567" y="2376"/>
                  </a:lnTo>
                  <a:lnTo>
                    <a:pt x="6628" y="2316"/>
                  </a:lnTo>
                  <a:lnTo>
                    <a:pt x="6749" y="2316"/>
                  </a:lnTo>
                  <a:lnTo>
                    <a:pt x="6965" y="2099"/>
                  </a:lnTo>
                  <a:lnTo>
                    <a:pt x="6965" y="1959"/>
                  </a:lnTo>
                  <a:lnTo>
                    <a:pt x="6863" y="1857"/>
                  </a:lnTo>
                  <a:lnTo>
                    <a:pt x="6947" y="1774"/>
                  </a:lnTo>
                  <a:lnTo>
                    <a:pt x="7091" y="1918"/>
                  </a:lnTo>
                  <a:lnTo>
                    <a:pt x="7153" y="1918"/>
                  </a:lnTo>
                  <a:lnTo>
                    <a:pt x="7153" y="1799"/>
                  </a:lnTo>
                  <a:lnTo>
                    <a:pt x="7371" y="1582"/>
                  </a:lnTo>
                  <a:lnTo>
                    <a:pt x="7371" y="1100"/>
                  </a:lnTo>
                  <a:lnTo>
                    <a:pt x="7450" y="1021"/>
                  </a:lnTo>
                  <a:lnTo>
                    <a:pt x="7770" y="1021"/>
                  </a:lnTo>
                  <a:lnTo>
                    <a:pt x="7883" y="908"/>
                  </a:lnTo>
                  <a:lnTo>
                    <a:pt x="8002" y="908"/>
                  </a:lnTo>
                  <a:lnTo>
                    <a:pt x="8002" y="958"/>
                  </a:lnTo>
                  <a:lnTo>
                    <a:pt x="7799" y="1162"/>
                  </a:lnTo>
                  <a:lnTo>
                    <a:pt x="7799" y="1388"/>
                  </a:lnTo>
                  <a:lnTo>
                    <a:pt x="7842" y="1388"/>
                  </a:lnTo>
                  <a:lnTo>
                    <a:pt x="7985" y="1244"/>
                  </a:lnTo>
                  <a:lnTo>
                    <a:pt x="7985" y="1119"/>
                  </a:lnTo>
                  <a:cubicBezTo>
                    <a:pt x="7985" y="1119"/>
                    <a:pt x="8427" y="699"/>
                    <a:pt x="8431" y="699"/>
                  </a:cubicBezTo>
                  <a:lnTo>
                    <a:pt x="8526" y="794"/>
                  </a:lnTo>
                  <a:lnTo>
                    <a:pt x="8611" y="709"/>
                  </a:lnTo>
                  <a:lnTo>
                    <a:pt x="8334" y="432"/>
                  </a:lnTo>
                  <a:lnTo>
                    <a:pt x="7859" y="432"/>
                  </a:lnTo>
                  <a:close/>
                  <a:moveTo>
                    <a:pt x="7254" y="1916"/>
                  </a:moveTo>
                  <a:lnTo>
                    <a:pt x="7254" y="1916"/>
                  </a:lnTo>
                  <a:lnTo>
                    <a:pt x="7311" y="1974"/>
                  </a:lnTo>
                  <a:lnTo>
                    <a:pt x="7498" y="1787"/>
                  </a:lnTo>
                  <a:lnTo>
                    <a:pt x="7441" y="1729"/>
                  </a:lnTo>
                  <a:lnTo>
                    <a:pt x="7254" y="1916"/>
                  </a:lnTo>
                  <a:close/>
                  <a:moveTo>
                    <a:pt x="7541" y="4030"/>
                  </a:moveTo>
                  <a:lnTo>
                    <a:pt x="7541" y="4030"/>
                  </a:lnTo>
                  <a:lnTo>
                    <a:pt x="7639" y="4030"/>
                  </a:lnTo>
                  <a:lnTo>
                    <a:pt x="7639" y="3946"/>
                  </a:lnTo>
                  <a:lnTo>
                    <a:pt x="7541" y="3946"/>
                  </a:lnTo>
                  <a:lnTo>
                    <a:pt x="7541" y="4030"/>
                  </a:lnTo>
                  <a:close/>
                  <a:moveTo>
                    <a:pt x="5088" y="3476"/>
                  </a:moveTo>
                  <a:lnTo>
                    <a:pt x="5088" y="3476"/>
                  </a:lnTo>
                  <a:lnTo>
                    <a:pt x="5208" y="3476"/>
                  </a:lnTo>
                  <a:lnTo>
                    <a:pt x="5208" y="3193"/>
                  </a:lnTo>
                  <a:lnTo>
                    <a:pt x="5088" y="3193"/>
                  </a:lnTo>
                  <a:lnTo>
                    <a:pt x="5088" y="3476"/>
                  </a:lnTo>
                  <a:close/>
                  <a:moveTo>
                    <a:pt x="2594" y="2576"/>
                  </a:moveTo>
                  <a:lnTo>
                    <a:pt x="2594" y="2576"/>
                  </a:lnTo>
                  <a:lnTo>
                    <a:pt x="2242" y="2576"/>
                  </a:lnTo>
                  <a:lnTo>
                    <a:pt x="2071" y="2747"/>
                  </a:lnTo>
                  <a:lnTo>
                    <a:pt x="2071" y="2999"/>
                  </a:lnTo>
                  <a:lnTo>
                    <a:pt x="2265" y="3193"/>
                  </a:lnTo>
                  <a:lnTo>
                    <a:pt x="2265" y="4354"/>
                  </a:lnTo>
                  <a:lnTo>
                    <a:pt x="2373" y="4463"/>
                  </a:lnTo>
                  <a:lnTo>
                    <a:pt x="2429" y="4463"/>
                  </a:lnTo>
                  <a:lnTo>
                    <a:pt x="2429" y="4071"/>
                  </a:lnTo>
                  <a:lnTo>
                    <a:pt x="3166" y="3334"/>
                  </a:lnTo>
                  <a:lnTo>
                    <a:pt x="3166" y="2956"/>
                  </a:lnTo>
                  <a:lnTo>
                    <a:pt x="2975" y="2956"/>
                  </a:lnTo>
                  <a:lnTo>
                    <a:pt x="2594" y="2576"/>
                  </a:lnTo>
                  <a:close/>
                  <a:moveTo>
                    <a:pt x="1937" y="787"/>
                  </a:moveTo>
                  <a:lnTo>
                    <a:pt x="1937" y="787"/>
                  </a:lnTo>
                  <a:lnTo>
                    <a:pt x="2037" y="887"/>
                  </a:lnTo>
                  <a:lnTo>
                    <a:pt x="2114" y="811"/>
                  </a:lnTo>
                  <a:lnTo>
                    <a:pt x="2013" y="710"/>
                  </a:lnTo>
                  <a:lnTo>
                    <a:pt x="1937" y="787"/>
                  </a:lnTo>
                  <a:close/>
                  <a:moveTo>
                    <a:pt x="3552" y="128"/>
                  </a:moveTo>
                  <a:lnTo>
                    <a:pt x="3552" y="128"/>
                  </a:lnTo>
                  <a:lnTo>
                    <a:pt x="2633" y="128"/>
                  </a:lnTo>
                  <a:lnTo>
                    <a:pt x="2633" y="262"/>
                  </a:lnTo>
                  <a:lnTo>
                    <a:pt x="2784" y="262"/>
                  </a:lnTo>
                  <a:cubicBezTo>
                    <a:pt x="2784" y="262"/>
                    <a:pt x="2787" y="688"/>
                    <a:pt x="2784" y="685"/>
                  </a:cubicBezTo>
                  <a:lnTo>
                    <a:pt x="2896" y="685"/>
                  </a:lnTo>
                  <a:lnTo>
                    <a:pt x="3050" y="531"/>
                  </a:lnTo>
                  <a:lnTo>
                    <a:pt x="3270" y="531"/>
                  </a:lnTo>
                  <a:lnTo>
                    <a:pt x="3552" y="249"/>
                  </a:lnTo>
                  <a:lnTo>
                    <a:pt x="3552" y="128"/>
                  </a:lnTo>
                  <a:close/>
                  <a:moveTo>
                    <a:pt x="3901" y="1399"/>
                  </a:moveTo>
                  <a:lnTo>
                    <a:pt x="3901" y="1399"/>
                  </a:lnTo>
                  <a:lnTo>
                    <a:pt x="4001" y="1399"/>
                  </a:lnTo>
                  <a:lnTo>
                    <a:pt x="4001" y="1208"/>
                  </a:lnTo>
                  <a:lnTo>
                    <a:pt x="3873" y="1080"/>
                  </a:lnTo>
                  <a:lnTo>
                    <a:pt x="3855" y="1080"/>
                  </a:lnTo>
                  <a:lnTo>
                    <a:pt x="3761" y="1173"/>
                  </a:lnTo>
                  <a:lnTo>
                    <a:pt x="3761" y="1342"/>
                  </a:lnTo>
                  <a:lnTo>
                    <a:pt x="3843" y="1342"/>
                  </a:lnTo>
                  <a:lnTo>
                    <a:pt x="3901" y="1399"/>
                  </a:lnTo>
                  <a:close/>
                  <a:moveTo>
                    <a:pt x="6870" y="2711"/>
                  </a:moveTo>
                  <a:lnTo>
                    <a:pt x="6870" y="2711"/>
                  </a:lnTo>
                  <a:lnTo>
                    <a:pt x="6830" y="2672"/>
                  </a:lnTo>
                  <a:lnTo>
                    <a:pt x="6671" y="2831"/>
                  </a:lnTo>
                  <a:lnTo>
                    <a:pt x="6671" y="2876"/>
                  </a:lnTo>
                  <a:lnTo>
                    <a:pt x="6727" y="2932"/>
                  </a:lnTo>
                  <a:lnTo>
                    <a:pt x="6870" y="2932"/>
                  </a:lnTo>
                  <a:lnTo>
                    <a:pt x="6870" y="2711"/>
                  </a:lnTo>
                  <a:close/>
                  <a:moveTo>
                    <a:pt x="1815" y="2319"/>
                  </a:moveTo>
                  <a:lnTo>
                    <a:pt x="1815" y="2319"/>
                  </a:lnTo>
                  <a:lnTo>
                    <a:pt x="1713" y="2319"/>
                  </a:lnTo>
                  <a:lnTo>
                    <a:pt x="1714" y="2085"/>
                  </a:lnTo>
                  <a:lnTo>
                    <a:pt x="2032" y="2085"/>
                  </a:lnTo>
                  <a:lnTo>
                    <a:pt x="2034" y="2177"/>
                  </a:lnTo>
                  <a:lnTo>
                    <a:pt x="2115" y="2177"/>
                  </a:lnTo>
                  <a:lnTo>
                    <a:pt x="2115" y="1900"/>
                  </a:lnTo>
                  <a:lnTo>
                    <a:pt x="2611" y="1404"/>
                  </a:lnTo>
                  <a:lnTo>
                    <a:pt x="2696" y="1404"/>
                  </a:lnTo>
                  <a:lnTo>
                    <a:pt x="2697" y="1282"/>
                  </a:lnTo>
                  <a:lnTo>
                    <a:pt x="2691" y="1277"/>
                  </a:lnTo>
                  <a:lnTo>
                    <a:pt x="2297" y="883"/>
                  </a:lnTo>
                  <a:lnTo>
                    <a:pt x="2171" y="883"/>
                  </a:lnTo>
                  <a:lnTo>
                    <a:pt x="2171" y="1188"/>
                  </a:lnTo>
                  <a:lnTo>
                    <a:pt x="1812" y="1188"/>
                  </a:lnTo>
                  <a:lnTo>
                    <a:pt x="1812" y="864"/>
                  </a:lnTo>
                  <a:lnTo>
                    <a:pt x="2099" y="578"/>
                  </a:lnTo>
                  <a:lnTo>
                    <a:pt x="2362" y="841"/>
                  </a:lnTo>
                  <a:lnTo>
                    <a:pt x="2432" y="841"/>
                  </a:lnTo>
                  <a:cubicBezTo>
                    <a:pt x="2432" y="841"/>
                    <a:pt x="2594" y="676"/>
                    <a:pt x="2594" y="676"/>
                  </a:cubicBezTo>
                  <a:lnTo>
                    <a:pt x="2182" y="265"/>
                  </a:lnTo>
                  <a:lnTo>
                    <a:pt x="1181" y="265"/>
                  </a:lnTo>
                  <a:lnTo>
                    <a:pt x="1050" y="396"/>
                  </a:lnTo>
                  <a:lnTo>
                    <a:pt x="163" y="396"/>
                  </a:lnTo>
                  <a:lnTo>
                    <a:pt x="0" y="560"/>
                  </a:lnTo>
                  <a:lnTo>
                    <a:pt x="0" y="953"/>
                  </a:lnTo>
                  <a:lnTo>
                    <a:pt x="159" y="1112"/>
                  </a:lnTo>
                  <a:lnTo>
                    <a:pt x="380" y="1112"/>
                  </a:lnTo>
                  <a:lnTo>
                    <a:pt x="380" y="978"/>
                  </a:lnTo>
                  <a:lnTo>
                    <a:pt x="577" y="978"/>
                  </a:lnTo>
                  <a:lnTo>
                    <a:pt x="1000" y="1401"/>
                  </a:lnTo>
                  <a:lnTo>
                    <a:pt x="1000" y="1829"/>
                  </a:lnTo>
                  <a:lnTo>
                    <a:pt x="1651" y="2481"/>
                  </a:lnTo>
                  <a:lnTo>
                    <a:pt x="1808" y="2481"/>
                  </a:lnTo>
                  <a:lnTo>
                    <a:pt x="1999" y="2671"/>
                  </a:lnTo>
                  <a:lnTo>
                    <a:pt x="2083" y="2587"/>
                  </a:lnTo>
                  <a:lnTo>
                    <a:pt x="1815" y="2319"/>
                  </a:lnTo>
                  <a:close/>
                  <a:moveTo>
                    <a:pt x="6560" y="2743"/>
                  </a:moveTo>
                  <a:lnTo>
                    <a:pt x="6560" y="2743"/>
                  </a:lnTo>
                  <a:lnTo>
                    <a:pt x="6539" y="2722"/>
                  </a:lnTo>
                  <a:lnTo>
                    <a:pt x="6406" y="2589"/>
                  </a:lnTo>
                  <a:cubicBezTo>
                    <a:pt x="6407" y="2588"/>
                    <a:pt x="6369" y="2625"/>
                    <a:pt x="6369" y="2625"/>
                  </a:cubicBezTo>
                  <a:lnTo>
                    <a:pt x="6523" y="2780"/>
                  </a:lnTo>
                  <a:lnTo>
                    <a:pt x="6560" y="2743"/>
                  </a:lnTo>
                  <a:close/>
                  <a:moveTo>
                    <a:pt x="6393" y="2695"/>
                  </a:moveTo>
                  <a:lnTo>
                    <a:pt x="6393" y="2695"/>
                  </a:lnTo>
                  <a:cubicBezTo>
                    <a:pt x="6395" y="2693"/>
                    <a:pt x="6346" y="2743"/>
                    <a:pt x="6346" y="2743"/>
                  </a:cubicBezTo>
                  <a:lnTo>
                    <a:pt x="6579" y="2979"/>
                  </a:lnTo>
                  <a:lnTo>
                    <a:pt x="6628" y="2930"/>
                  </a:lnTo>
                  <a:lnTo>
                    <a:pt x="6595" y="2896"/>
                  </a:lnTo>
                  <a:lnTo>
                    <a:pt x="6393" y="2695"/>
                  </a:lnTo>
                  <a:close/>
                  <a:moveTo>
                    <a:pt x="5948" y="2706"/>
                  </a:moveTo>
                  <a:lnTo>
                    <a:pt x="5948" y="2706"/>
                  </a:lnTo>
                  <a:lnTo>
                    <a:pt x="6008" y="2706"/>
                  </a:lnTo>
                  <a:lnTo>
                    <a:pt x="6008" y="2622"/>
                  </a:lnTo>
                  <a:lnTo>
                    <a:pt x="5948" y="2622"/>
                  </a:lnTo>
                  <a:lnTo>
                    <a:pt x="5948" y="2706"/>
                  </a:lnTo>
                  <a:close/>
                  <a:moveTo>
                    <a:pt x="3654" y="811"/>
                  </a:moveTo>
                  <a:lnTo>
                    <a:pt x="3654" y="811"/>
                  </a:lnTo>
                  <a:lnTo>
                    <a:pt x="3436" y="811"/>
                  </a:lnTo>
                  <a:lnTo>
                    <a:pt x="3436" y="660"/>
                  </a:lnTo>
                  <a:lnTo>
                    <a:pt x="3654" y="660"/>
                  </a:lnTo>
                  <a:lnTo>
                    <a:pt x="3654" y="81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55" name="Square">
              <a:extLst>
                <a:ext uri="{FF2B5EF4-FFF2-40B4-BE49-F238E27FC236}">
                  <a16:creationId xmlns:a16="http://schemas.microsoft.com/office/drawing/2014/main" id="{CFE1932C-A489-6519-6CA1-9FE74664AD1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18572" y="2786673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58" name="Square">
              <a:extLst>
                <a:ext uri="{FF2B5EF4-FFF2-40B4-BE49-F238E27FC236}">
                  <a16:creationId xmlns:a16="http://schemas.microsoft.com/office/drawing/2014/main" id="{D3ADB5A3-82A5-9C02-D364-A2E2DBFD63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0977" y="2381748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6" name="Square">
              <a:extLst>
                <a:ext uri="{FF2B5EF4-FFF2-40B4-BE49-F238E27FC236}">
                  <a16:creationId xmlns:a16="http://schemas.microsoft.com/office/drawing/2014/main" id="{01E1404F-FFC8-7407-AF6B-DB0DF7441A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46388" y="276716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7" name="Square">
              <a:extLst>
                <a:ext uri="{FF2B5EF4-FFF2-40B4-BE49-F238E27FC236}">
                  <a16:creationId xmlns:a16="http://schemas.microsoft.com/office/drawing/2014/main" id="{5B81512F-8771-C861-13C3-AF82649FBF5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26474" y="276716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8" name="Square">
              <a:extLst>
                <a:ext uri="{FF2B5EF4-FFF2-40B4-BE49-F238E27FC236}">
                  <a16:creationId xmlns:a16="http://schemas.microsoft.com/office/drawing/2014/main" id="{3E832451-4F22-D8FF-64B2-FBE5CF44AAB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1053" y="253845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9" name="Square">
              <a:extLst>
                <a:ext uri="{FF2B5EF4-FFF2-40B4-BE49-F238E27FC236}">
                  <a16:creationId xmlns:a16="http://schemas.microsoft.com/office/drawing/2014/main" id="{F0DC335A-EA1D-A22B-73F2-6AD85CA8ED3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81190" y="288849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0" name="Square">
              <a:extLst>
                <a:ext uri="{FF2B5EF4-FFF2-40B4-BE49-F238E27FC236}">
                  <a16:creationId xmlns:a16="http://schemas.microsoft.com/office/drawing/2014/main" id="{3F48A4D7-BC94-D3A3-F485-A073B9A6E1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6004" y="293314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1" name="Square">
              <a:extLst>
                <a:ext uri="{FF2B5EF4-FFF2-40B4-BE49-F238E27FC236}">
                  <a16:creationId xmlns:a16="http://schemas.microsoft.com/office/drawing/2014/main" id="{98853B89-0EAA-566D-8609-868DF97334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766794" y="240969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2" name="Square">
              <a:extLst>
                <a:ext uri="{FF2B5EF4-FFF2-40B4-BE49-F238E27FC236}">
                  <a16:creationId xmlns:a16="http://schemas.microsoft.com/office/drawing/2014/main" id="{ADA127F2-FA67-93DA-4A2E-35E4471389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95321" y="227295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3" name="Square">
              <a:extLst>
                <a:ext uri="{FF2B5EF4-FFF2-40B4-BE49-F238E27FC236}">
                  <a16:creationId xmlns:a16="http://schemas.microsoft.com/office/drawing/2014/main" id="{9FA77DA2-3FC7-495F-D44B-F154A7E0DC0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85076" y="340565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4" name="Square">
              <a:extLst>
                <a:ext uri="{FF2B5EF4-FFF2-40B4-BE49-F238E27FC236}">
                  <a16:creationId xmlns:a16="http://schemas.microsoft.com/office/drawing/2014/main" id="{B01CEC6B-8AC4-DC71-972F-FC3A31D1D10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827563" y="332601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5" name="Square">
              <a:extLst>
                <a:ext uri="{FF2B5EF4-FFF2-40B4-BE49-F238E27FC236}">
                  <a16:creationId xmlns:a16="http://schemas.microsoft.com/office/drawing/2014/main" id="{C2EB37BD-36B4-E020-D6A4-A41ABDE5651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6000" y="349263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6" name="Square">
              <a:extLst>
                <a:ext uri="{FF2B5EF4-FFF2-40B4-BE49-F238E27FC236}">
                  <a16:creationId xmlns:a16="http://schemas.microsoft.com/office/drawing/2014/main" id="{DEFCDE5A-4505-4ADD-5441-66419C3F769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518800" y="467448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7" name="Square">
              <a:extLst>
                <a:ext uri="{FF2B5EF4-FFF2-40B4-BE49-F238E27FC236}">
                  <a16:creationId xmlns:a16="http://schemas.microsoft.com/office/drawing/2014/main" id="{A8CBA7BD-87D4-8425-B833-24DF203F9B9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17177" y="409766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8" name="Square">
              <a:extLst>
                <a:ext uri="{FF2B5EF4-FFF2-40B4-BE49-F238E27FC236}">
                  <a16:creationId xmlns:a16="http://schemas.microsoft.com/office/drawing/2014/main" id="{619DE23F-B307-C5FD-4873-F4B77780EC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085199" y="461458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79" name="Square">
              <a:extLst>
                <a:ext uri="{FF2B5EF4-FFF2-40B4-BE49-F238E27FC236}">
                  <a16:creationId xmlns:a16="http://schemas.microsoft.com/office/drawing/2014/main" id="{35834017-6783-F622-29ED-909A620F3E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815324" y="489821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0" name="Square">
              <a:extLst>
                <a:ext uri="{FF2B5EF4-FFF2-40B4-BE49-F238E27FC236}">
                  <a16:creationId xmlns:a16="http://schemas.microsoft.com/office/drawing/2014/main" id="{B1A4B570-3608-5706-DECB-03C94ABD182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06037" y="2304280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1" name="Square">
              <a:extLst>
                <a:ext uri="{FF2B5EF4-FFF2-40B4-BE49-F238E27FC236}">
                  <a16:creationId xmlns:a16="http://schemas.microsoft.com/office/drawing/2014/main" id="{C932E0DA-5256-CEB4-5644-23B1D5D7D1A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148033" y="3600774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2" name="Square">
              <a:extLst>
                <a:ext uri="{FF2B5EF4-FFF2-40B4-BE49-F238E27FC236}">
                  <a16:creationId xmlns:a16="http://schemas.microsoft.com/office/drawing/2014/main" id="{8508CD94-F215-72C8-87DC-D36DEA6A4AC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792956" y="3626524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3" name="Square">
              <a:extLst>
                <a:ext uri="{FF2B5EF4-FFF2-40B4-BE49-F238E27FC236}">
                  <a16:creationId xmlns:a16="http://schemas.microsoft.com/office/drawing/2014/main" id="{898013C2-788F-1923-CACC-8A23E58BEC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186502" y="219336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4" name="Square">
              <a:extLst>
                <a:ext uri="{FF2B5EF4-FFF2-40B4-BE49-F238E27FC236}">
                  <a16:creationId xmlns:a16="http://schemas.microsoft.com/office/drawing/2014/main" id="{AE7A81A3-B44C-1246-FFC2-A150A8DC89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389451" y="356335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5" name="Square">
              <a:extLst>
                <a:ext uri="{FF2B5EF4-FFF2-40B4-BE49-F238E27FC236}">
                  <a16:creationId xmlns:a16="http://schemas.microsoft.com/office/drawing/2014/main" id="{ACEABF90-3212-A20D-7CD6-85CAB37975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95354" y="4653608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6" name="Square">
              <a:extLst>
                <a:ext uri="{FF2B5EF4-FFF2-40B4-BE49-F238E27FC236}">
                  <a16:creationId xmlns:a16="http://schemas.microsoft.com/office/drawing/2014/main" id="{EE61F5C3-DA6F-E8CE-F8B7-955B010FD27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095354" y="449520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7" name="Square">
              <a:extLst>
                <a:ext uri="{FF2B5EF4-FFF2-40B4-BE49-F238E27FC236}">
                  <a16:creationId xmlns:a16="http://schemas.microsoft.com/office/drawing/2014/main" id="{A726A506-756D-A9B5-8C05-1E2F468CCD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869049" y="374275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8" name="Square">
              <a:extLst>
                <a:ext uri="{FF2B5EF4-FFF2-40B4-BE49-F238E27FC236}">
                  <a16:creationId xmlns:a16="http://schemas.microsoft.com/office/drawing/2014/main" id="{979CB38D-5600-CD33-0E6A-2955FE97B7E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59656" y="310245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89" name="Square">
              <a:extLst>
                <a:ext uri="{FF2B5EF4-FFF2-40B4-BE49-F238E27FC236}">
                  <a16:creationId xmlns:a16="http://schemas.microsoft.com/office/drawing/2014/main" id="{C774FCBF-D2C3-7C61-35D5-F7B114A2C7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093206" y="3270224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0" name="Square">
              <a:extLst>
                <a:ext uri="{FF2B5EF4-FFF2-40B4-BE49-F238E27FC236}">
                  <a16:creationId xmlns:a16="http://schemas.microsoft.com/office/drawing/2014/main" id="{CC63DE46-1C34-E199-7CB9-23A1BF56A7C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413453" y="2374800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1" name="Square">
              <a:extLst>
                <a:ext uri="{FF2B5EF4-FFF2-40B4-BE49-F238E27FC236}">
                  <a16:creationId xmlns:a16="http://schemas.microsoft.com/office/drawing/2014/main" id="{E6BE4679-D19A-E106-2081-E390746EF5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91469" y="273774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2" name="Square">
              <a:extLst>
                <a:ext uri="{FF2B5EF4-FFF2-40B4-BE49-F238E27FC236}">
                  <a16:creationId xmlns:a16="http://schemas.microsoft.com/office/drawing/2014/main" id="{2E6B2018-801D-4364-AD08-337F09FB229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58166" y="248202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3" name="Square">
              <a:extLst>
                <a:ext uri="{FF2B5EF4-FFF2-40B4-BE49-F238E27FC236}">
                  <a16:creationId xmlns:a16="http://schemas.microsoft.com/office/drawing/2014/main" id="{579336E2-5106-03C2-0D61-84892213C6C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76218" y="2241725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4" name="Square">
              <a:extLst>
                <a:ext uri="{FF2B5EF4-FFF2-40B4-BE49-F238E27FC236}">
                  <a16:creationId xmlns:a16="http://schemas.microsoft.com/office/drawing/2014/main" id="{094A02E2-7B10-AE9E-05C4-0120BD4757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384508" y="261086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5" name="Square">
              <a:extLst>
                <a:ext uri="{FF2B5EF4-FFF2-40B4-BE49-F238E27FC236}">
                  <a16:creationId xmlns:a16="http://schemas.microsoft.com/office/drawing/2014/main" id="{A9380B0F-EE95-60ED-503C-180F7AFB2E6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290735" y="2702771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6" name="Square">
              <a:extLst>
                <a:ext uri="{FF2B5EF4-FFF2-40B4-BE49-F238E27FC236}">
                  <a16:creationId xmlns:a16="http://schemas.microsoft.com/office/drawing/2014/main" id="{51B0597E-4D73-0F41-00B6-96FEB1FEA95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119418" y="3496923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7" name="Square">
              <a:extLst>
                <a:ext uri="{FF2B5EF4-FFF2-40B4-BE49-F238E27FC236}">
                  <a16:creationId xmlns:a16="http://schemas.microsoft.com/office/drawing/2014/main" id="{962C365F-9CB6-ABD5-DF5C-283B5B3204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220258" y="3351319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8" name="Square">
              <a:extLst>
                <a:ext uri="{FF2B5EF4-FFF2-40B4-BE49-F238E27FC236}">
                  <a16:creationId xmlns:a16="http://schemas.microsoft.com/office/drawing/2014/main" id="{F483F5E1-FB08-66DB-C1CC-697364E3FC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069889" y="3116842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99" name="Square">
              <a:extLst>
                <a:ext uri="{FF2B5EF4-FFF2-40B4-BE49-F238E27FC236}">
                  <a16:creationId xmlns:a16="http://schemas.microsoft.com/office/drawing/2014/main" id="{B204F3C9-4E96-7532-1236-98125E0FE02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37387" y="2272956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00" name="Square">
              <a:extLst>
                <a:ext uri="{FF2B5EF4-FFF2-40B4-BE49-F238E27FC236}">
                  <a16:creationId xmlns:a16="http://schemas.microsoft.com/office/drawing/2014/main" id="{15D77EAE-3D32-B67F-2FB5-6A469CAC86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7494" y="3077817"/>
              <a:ext cx="78144" cy="78049"/>
            </a:xfrm>
            <a:custGeom>
              <a:avLst/>
              <a:gdLst>
                <a:gd name="T0" fmla="*/ 121 w 121"/>
                <a:gd name="T1" fmla="*/ 121 h 121"/>
                <a:gd name="T2" fmla="*/ 121 w 121"/>
                <a:gd name="T3" fmla="*/ 121 h 121"/>
                <a:gd name="T4" fmla="*/ 0 w 121"/>
                <a:gd name="T5" fmla="*/ 121 h 121"/>
                <a:gd name="T6" fmla="*/ 0 w 121"/>
                <a:gd name="T7" fmla="*/ 0 h 121"/>
                <a:gd name="T8" fmla="*/ 121 w 121"/>
                <a:gd name="T9" fmla="*/ 0 h 121"/>
                <a:gd name="T10" fmla="*/ 121 w 121"/>
                <a:gd name="T11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1">
                  <a:moveTo>
                    <a:pt x="121" y="121"/>
                  </a:moveTo>
                  <a:lnTo>
                    <a:pt x="121" y="121"/>
                  </a:lnTo>
                  <a:lnTo>
                    <a:pt x="0" y="121"/>
                  </a:lnTo>
                  <a:lnTo>
                    <a:pt x="0" y="0"/>
                  </a:lnTo>
                  <a:lnTo>
                    <a:pt x="121" y="0"/>
                  </a:lnTo>
                  <a:lnTo>
                    <a:pt x="121" y="121"/>
                  </a:lnTo>
                  <a:close/>
                </a:path>
              </a:pathLst>
            </a:custGeom>
            <a:solidFill>
              <a:srgbClr val="006E7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101" name="Square">
              <a:extLst>
                <a:ext uri="{FF2B5EF4-FFF2-40B4-BE49-F238E27FC236}">
                  <a16:creationId xmlns:a16="http://schemas.microsoft.com/office/drawing/2014/main" id="{3CB461B3-6507-DF14-AC49-C03DC56D5F7F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71541" y="4797838"/>
              <a:ext cx="117218" cy="11707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173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49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Worldwide office locations Updat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A48B4B-3B81-F74C-8FE3-0FD399854022}"/>
              </a:ext>
            </a:extLst>
          </p:cNvPr>
          <p:cNvSpPr txBox="1">
            <a:spLocks/>
          </p:cNvSpPr>
          <p:nvPr/>
        </p:nvSpPr>
        <p:spPr>
          <a:xfrm>
            <a:off x="365760" y="365760"/>
            <a:ext cx="997204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solidFill>
                  <a:schemeClr val="bg1"/>
                </a:solidFill>
                <a:latin typeface="Aptos Light" panose="020B0004020202020204" pitchFamily="34" charset="0"/>
              </a:rPr>
              <a:t>Engineering change </a:t>
            </a:r>
            <a:br>
              <a:rPr lang="en-US" b="0">
                <a:solidFill>
                  <a:schemeClr val="bg1"/>
                </a:solidFill>
                <a:latin typeface="Aptos Light" panose="020B0004020202020204" pitchFamily="34" charset="0"/>
              </a:rPr>
            </a:br>
            <a:r>
              <a:rPr lang="en-US" b="0">
                <a:solidFill>
                  <a:schemeClr val="bg1"/>
                </a:solidFill>
                <a:latin typeface="Aptos Light" panose="020B0004020202020204" pitchFamily="34" charset="0"/>
              </a:rPr>
              <a:t>all over the world</a:t>
            </a:r>
          </a:p>
        </p:txBody>
      </p:sp>
      <p:sp>
        <p:nvSpPr>
          <p:cNvPr id="56" name="TextBox 55">
            <a:hlinkClick r:id="rId2"/>
            <a:extLst>
              <a:ext uri="{FF2B5EF4-FFF2-40B4-BE49-F238E27FC236}">
                <a16:creationId xmlns:a16="http://schemas.microsoft.com/office/drawing/2014/main" id="{1732A860-6A91-4E4F-856E-71CE8D1089D1}"/>
              </a:ext>
            </a:extLst>
          </p:cNvPr>
          <p:cNvSpPr txBox="1"/>
          <p:nvPr/>
        </p:nvSpPr>
        <p:spPr>
          <a:xfrm>
            <a:off x="365125" y="1385476"/>
            <a:ext cx="2479130" cy="3321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050" i="0">
                <a:solidFill>
                  <a:schemeClr val="bg1"/>
                </a:solidFill>
                <a:latin typeface="Aptos Light" panose="020B0004020202020204" pitchFamily="34" charset="0"/>
              </a:rPr>
              <a:t>*To see a list of all offices, visit </a:t>
            </a:r>
            <a:r>
              <a:rPr lang="en-US" sz="1050" b="1" i="0" u="sng">
                <a:solidFill>
                  <a:schemeClr val="bg1"/>
                </a:solidFill>
                <a:latin typeface="Aptos Light" panose="020B0004020202020204" pitchFamily="34" charset="0"/>
              </a:rPr>
              <a:t>ust.com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B132C5-CC10-412E-AD94-F36D86E5AF4B}"/>
              </a:ext>
            </a:extLst>
          </p:cNvPr>
          <p:cNvGrpSpPr/>
          <p:nvPr/>
        </p:nvGrpSpPr>
        <p:grpSpPr>
          <a:xfrm>
            <a:off x="365125" y="5468863"/>
            <a:ext cx="1933173" cy="402342"/>
            <a:chOff x="505022" y="1208296"/>
            <a:chExt cx="1933173" cy="402342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913AE0-B9F7-4413-8397-0FC8AD99E10B}"/>
                </a:ext>
              </a:extLst>
            </p:cNvPr>
            <p:cNvSpPr txBox="1"/>
            <p:nvPr/>
          </p:nvSpPr>
          <p:spPr>
            <a:xfrm>
              <a:off x="775880" y="1456750"/>
              <a:ext cx="76302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Other Centers</a:t>
              </a:r>
            </a:p>
          </p:txBody>
        </p:sp>
        <p:sp>
          <p:nvSpPr>
            <p:cNvPr id="60" name="Square">
              <a:extLst>
                <a:ext uri="{FF2B5EF4-FFF2-40B4-BE49-F238E27FC236}">
                  <a16:creationId xmlns:a16="http://schemas.microsoft.com/office/drawing/2014/main" id="{C75C07E8-0C08-4227-B303-CA8744030FE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236605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1" name="Square">
              <a:extLst>
                <a:ext uri="{FF2B5EF4-FFF2-40B4-BE49-F238E27FC236}">
                  <a16:creationId xmlns:a16="http://schemas.microsoft.com/office/drawing/2014/main" id="{6AC559D2-DFFF-4ED4-9221-1023751DD5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05022" y="1464413"/>
              <a:ext cx="131596" cy="131432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9649D56-614B-49F9-8ABC-79863BB56E96}"/>
                </a:ext>
              </a:extLst>
            </p:cNvPr>
            <p:cNvSpPr txBox="1"/>
            <p:nvPr/>
          </p:nvSpPr>
          <p:spPr>
            <a:xfrm>
              <a:off x="775880" y="1208296"/>
              <a:ext cx="166231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200"/>
                </a:spcBef>
                <a:buSzPct val="100000"/>
              </a:pPr>
              <a:r>
                <a:rPr lang="en-GB" sz="1000">
                  <a:solidFill>
                    <a:schemeClr val="bg1"/>
                  </a:solidFill>
                  <a:latin typeface="Aptos Light" panose="020B0004020202020204" pitchFamily="34" charset="0"/>
                </a:rPr>
                <a:t>Main Offices &amp; Innovation Labs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55D4FDE3-3E8F-43F3-8282-6B3FACF3C636}"/>
              </a:ext>
            </a:extLst>
          </p:cNvPr>
          <p:cNvSpPr/>
          <p:nvPr/>
        </p:nvSpPr>
        <p:spPr>
          <a:xfrm>
            <a:off x="365125" y="1966988"/>
            <a:ext cx="2007961" cy="18430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IN" sz="1800">
              <a:latin typeface="Aptos Light" panose="020B00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0934E2A-55C6-4E66-A9D0-72BE32B65200}"/>
              </a:ext>
            </a:extLst>
          </p:cNvPr>
          <p:cNvSpPr>
            <a:spLocks/>
          </p:cNvSpPr>
          <p:nvPr/>
        </p:nvSpPr>
        <p:spPr>
          <a:xfrm>
            <a:off x="525519" y="2233661"/>
            <a:ext cx="1764000" cy="77422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86% of our global footprint is ISO 14001:2015 (Environmental Management System)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1F2AAE-832C-4863-9906-685EC7D61FF2}"/>
              </a:ext>
            </a:extLst>
          </p:cNvPr>
          <p:cNvSpPr>
            <a:spLocks/>
          </p:cNvSpPr>
          <p:nvPr/>
        </p:nvSpPr>
        <p:spPr>
          <a:xfrm>
            <a:off x="525519" y="3102453"/>
            <a:ext cx="1764000" cy="3880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2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 Light" panose="020B0004020202020204" pitchFamily="34" charset="0"/>
                <a:ea typeface="Calibri" panose="020F0502020204030204" pitchFamily="34" charset="0"/>
                <a:cs typeface="+mn-cs"/>
              </a:rPr>
              <a:t>43% of our global footprint is LEED Gold Certified</a:t>
            </a:r>
            <a:endParaRPr kumimoji="0" lang="en-IN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 Light" panose="020B000402020202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72D52E3F-9A96-46B2-35AF-A2385C66C267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760" y="6238277"/>
            <a:ext cx="320040" cy="35409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</a:endParaRPr>
          </a:p>
        </p:txBody>
      </p:sp>
      <p:sp>
        <p:nvSpPr>
          <p:cNvPr id="6" name="Legal">
            <a:extLst>
              <a:ext uri="{FF2B5EF4-FFF2-40B4-BE49-F238E27FC236}">
                <a16:creationId xmlns:a16="http://schemas.microsoft.com/office/drawing/2014/main" id="{91C9DE65-92FF-E31B-4F50-1D04E1E2AEE3}"/>
              </a:ext>
            </a:extLst>
          </p:cNvPr>
          <p:cNvSpPr txBox="1"/>
          <p:nvPr/>
        </p:nvSpPr>
        <p:spPr>
          <a:xfrm>
            <a:off x="8223294" y="6402070"/>
            <a:ext cx="3142698" cy="18288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solidFill>
                  <a:schemeClr val="bg1"/>
                </a:solidFill>
                <a:latin typeface="Aptos Light" panose="020B0004020202020204" pitchFamily="34" charset="0"/>
              </a:rPr>
              <a:t>Confidential and Proprietary. © 2025 UST Global Inc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B0A46B1E-3B82-5F78-393F-101F550F1FF5}"/>
              </a:ext>
            </a:extLst>
          </p:cNvPr>
          <p:cNvSpPr txBox="1">
            <a:spLocks/>
          </p:cNvSpPr>
          <p:nvPr/>
        </p:nvSpPr>
        <p:spPr>
          <a:xfrm>
            <a:off x="11365992" y="6317730"/>
            <a:ext cx="457200" cy="27463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892894" rtl="0" eaLnBrk="1" latinLnBrk="0" hangingPunct="1">
              <a:defRPr sz="1000" kern="1200">
                <a:solidFill>
                  <a:schemeClr val="accent3"/>
                </a:solidFill>
                <a:latin typeface="Helvetica"/>
                <a:ea typeface="+mn-ea"/>
                <a:cs typeface="Helvetica"/>
              </a:defRPr>
            </a:lvl1pPr>
            <a:lvl2pPr marL="44644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289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340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578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3223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8681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512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7157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bg1"/>
                </a:solidFill>
                <a:latin typeface="Aptos Light" panose="020B0004020202020204" pitchFamily="34" charset="0"/>
                <a:cs typeface="Trebuchet MS"/>
              </a:rPr>
              <a:t> </a:t>
            </a:r>
            <a:fld id="{110FD68B-4EE4-9D43-89F2-B87D6C9CEE3A}" type="slidenum">
              <a:rPr lang="en-US" sz="800" smtClean="0">
                <a:solidFill>
                  <a:schemeClr val="bg1"/>
                </a:solidFill>
                <a:latin typeface="Aptos Light" panose="020B0004020202020204" pitchFamily="34" charset="0"/>
                <a:cs typeface="Trebuchet MS"/>
              </a:rPr>
              <a:pPr algn="r"/>
              <a:t>‹#›</a:t>
            </a:fld>
            <a:endParaRPr lang="en-US" sz="800">
              <a:solidFill>
                <a:schemeClr val="bg1"/>
              </a:solidFill>
              <a:latin typeface="Aptos Light" panose="020B0004020202020204" pitchFamily="34" charset="0"/>
              <a:cs typeface="Trebuchet M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AA0CAE-2412-D667-93F8-99143722631D}"/>
              </a:ext>
            </a:extLst>
          </p:cNvPr>
          <p:cNvGrpSpPr/>
          <p:nvPr/>
        </p:nvGrpSpPr>
        <p:grpSpPr>
          <a:xfrm>
            <a:off x="2845949" y="1020802"/>
            <a:ext cx="8869680" cy="5531539"/>
            <a:chOff x="2845949" y="1020802"/>
            <a:chExt cx="8869680" cy="553153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197B5D4-95ED-74A2-3647-62DE4271BFE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2845949" y="1020802"/>
              <a:ext cx="8869680" cy="5531539"/>
              <a:chOff x="2983517" y="963640"/>
              <a:chExt cx="9089403" cy="5668569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C52C69-8DF0-37A2-CA5E-28499212BC8D}"/>
                  </a:ext>
                </a:extLst>
              </p:cNvPr>
              <p:cNvSpPr txBox="1"/>
              <p:nvPr/>
            </p:nvSpPr>
            <p:spPr>
              <a:xfrm>
                <a:off x="2983517" y="2312060"/>
                <a:ext cx="1125259" cy="3325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 b="1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AMERICAS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accent6"/>
                    </a:solidFill>
                    <a:latin typeface="Aptos Light" panose="020B0004020202020204" pitchFamily="34" charset="0"/>
                  </a:rPr>
                  <a:t>Global HQ – Orange </a:t>
                </a:r>
                <a:br>
                  <a:rPr lang="en-US" sz="1000">
                    <a:solidFill>
                      <a:schemeClr val="accent6"/>
                    </a:solidFill>
                    <a:latin typeface="Aptos Light" panose="020B0004020202020204" pitchFamily="34" charset="0"/>
                  </a:rPr>
                </a:br>
                <a:r>
                  <a:rPr lang="en-US" sz="1000">
                    <a:solidFill>
                      <a:schemeClr val="accent6"/>
                    </a:solidFill>
                    <a:latin typeface="Aptos Light" panose="020B0004020202020204" pitchFamily="34" charset="0"/>
                  </a:rPr>
                  <a:t>County, CA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Bentonville, AR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Chicago, IL 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Norfolk, VA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Columbus, OH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Atlanta, GA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Dallas, TX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Ames, IA 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Toronto, CA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Guadalajara, MX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Leon, MX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San Jose, CR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Santiago, CL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Lima, PE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Sao Paulo, BR</a:t>
                </a:r>
              </a:p>
              <a:p>
                <a:pPr>
                  <a:lnSpc>
                    <a:spcPct val="110000"/>
                  </a:lnSpc>
                  <a:spcAft>
                    <a:spcPts val="100"/>
                  </a:spcAft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Buenos Aires, AR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0D7A7C7-CDCF-96B8-CB72-E5EAA248452F}"/>
                  </a:ext>
                </a:extLst>
              </p:cNvPr>
              <p:cNvSpPr txBox="1"/>
              <p:nvPr/>
            </p:nvSpPr>
            <p:spPr>
              <a:xfrm>
                <a:off x="11025049" y="2450336"/>
                <a:ext cx="1047871" cy="1901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 b="1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APAC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accent3"/>
                    </a:solidFill>
                    <a:latin typeface="Aptos Light" panose="020B0004020202020204" pitchFamily="34" charset="0"/>
                  </a:rPr>
                  <a:t>Singapore, SG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Manila, PH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Sydney, AU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Melbourne, AU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Brisbane, AU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Penang, MY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Kuala Lumpur, MY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Shanghai, CN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Taipei, TW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Hong Kong, HK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AA8534D-13C7-D906-C04C-CC4AF29FE7DB}"/>
                  </a:ext>
                </a:extLst>
              </p:cNvPr>
              <p:cNvSpPr txBox="1"/>
              <p:nvPr/>
            </p:nvSpPr>
            <p:spPr>
              <a:xfrm>
                <a:off x="8950848" y="3803083"/>
                <a:ext cx="1099814" cy="17277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 b="1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INDIA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accent3"/>
                    </a:solidFill>
                    <a:latin typeface="Aptos Light" panose="020B0004020202020204" pitchFamily="34" charset="0"/>
                  </a:rPr>
                  <a:t>Trivandrum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Bangalore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Chennai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Hyderabad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Kochi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Delhi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Coimbatore 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Hosur 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Pune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EAA5007-3ED3-A147-2AD9-CC254E815CF4}"/>
                  </a:ext>
                </a:extLst>
              </p:cNvPr>
              <p:cNvSpPr txBox="1"/>
              <p:nvPr/>
            </p:nvSpPr>
            <p:spPr>
              <a:xfrm>
                <a:off x="6163343" y="2482157"/>
                <a:ext cx="686654" cy="13807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 b="1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EMEA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accent3"/>
                    </a:solidFill>
                    <a:latin typeface="Aptos Light" panose="020B0004020202020204" pitchFamily="34" charset="0"/>
                  </a:rPr>
                  <a:t>London, UK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Leeds, UK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Dublin, IE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Madrid, ES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Tel Aviv, IS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Cologne, DE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Lisbon, PT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83EF09-5165-EE3B-5243-BA9FD01793CC}"/>
                  </a:ext>
                </a:extLst>
              </p:cNvPr>
              <p:cNvSpPr txBox="1"/>
              <p:nvPr/>
            </p:nvSpPr>
            <p:spPr>
              <a:xfrm>
                <a:off x="6542019" y="3863646"/>
                <a:ext cx="933061" cy="2768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Paris, FR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Gdansk, PL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Bucharest, RO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Sofia, BG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Helmond, NL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Barcelona, ES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 b="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Bilbao, ES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Salamanca, ES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Valencia, ES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Zaragoza, ES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Copenhagen, DK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Zurich, CH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Fribourg, CH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Kyiv, UA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Prague, CZ</a:t>
                </a:r>
              </a:p>
              <a:p>
                <a:pPr>
                  <a:lnSpc>
                    <a:spcPct val="110000"/>
                  </a:lnSpc>
                  <a:buSzPct val="100000"/>
                </a:pPr>
                <a:r>
                  <a:rPr lang="en-US" sz="1000">
                    <a:solidFill>
                      <a:schemeClr val="bg1"/>
                    </a:solidFill>
                    <a:latin typeface="Aptos Light" panose="020B0004020202020204" pitchFamily="34" charset="0"/>
                  </a:rPr>
                  <a:t>Cape Town, ZA</a:t>
                </a:r>
              </a:p>
            </p:txBody>
          </p:sp>
          <p:sp>
            <p:nvSpPr>
              <p:cNvPr id="68" name="World">
                <a:extLst>
                  <a:ext uri="{FF2B5EF4-FFF2-40B4-BE49-F238E27FC236}">
                    <a16:creationId xmlns:a16="http://schemas.microsoft.com/office/drawing/2014/main" id="{3FE8F938-34F8-0B7F-FFFD-32CF1F5A0C1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3197218" y="963640"/>
                <a:ext cx="8858218" cy="4592051"/>
              </a:xfrm>
              <a:custGeom>
                <a:avLst/>
                <a:gdLst>
                  <a:gd name="T0" fmla="*/ 7449 w 8611"/>
                  <a:gd name="T1" fmla="*/ 1277 h 4463"/>
                  <a:gd name="T2" fmla="*/ 6996 w 8611"/>
                  <a:gd name="T3" fmla="*/ 2869 h 4463"/>
                  <a:gd name="T4" fmla="*/ 6945 w 8611"/>
                  <a:gd name="T5" fmla="*/ 3360 h 4463"/>
                  <a:gd name="T6" fmla="*/ 7246 w 8611"/>
                  <a:gd name="T7" fmla="*/ 3672 h 4463"/>
                  <a:gd name="T8" fmla="*/ 7447 w 8611"/>
                  <a:gd name="T9" fmla="*/ 3150 h 4463"/>
                  <a:gd name="T10" fmla="*/ 6989 w 8611"/>
                  <a:gd name="T11" fmla="*/ 2545 h 4463"/>
                  <a:gd name="T12" fmla="*/ 6997 w 8611"/>
                  <a:gd name="T13" fmla="*/ 2386 h 4463"/>
                  <a:gd name="T14" fmla="*/ 8358 w 8611"/>
                  <a:gd name="T15" fmla="*/ 3894 h 4463"/>
                  <a:gd name="T16" fmla="*/ 7529 w 8611"/>
                  <a:gd name="T17" fmla="*/ 3121 h 4463"/>
                  <a:gd name="T18" fmla="*/ 7859 w 8611"/>
                  <a:gd name="T19" fmla="*/ 432 h 4463"/>
                  <a:gd name="T20" fmla="*/ 6732 w 8611"/>
                  <a:gd name="T21" fmla="*/ 0 h 4463"/>
                  <a:gd name="T22" fmla="*/ 5643 w 8611"/>
                  <a:gd name="T23" fmla="*/ 489 h 4463"/>
                  <a:gd name="T24" fmla="*/ 4919 w 8611"/>
                  <a:gd name="T25" fmla="*/ 675 h 4463"/>
                  <a:gd name="T26" fmla="*/ 4128 w 8611"/>
                  <a:gd name="T27" fmla="*/ 1077 h 4463"/>
                  <a:gd name="T28" fmla="*/ 4567 w 8611"/>
                  <a:gd name="T29" fmla="*/ 714 h 4463"/>
                  <a:gd name="T30" fmla="*/ 4468 w 8611"/>
                  <a:gd name="T31" fmla="*/ 1236 h 4463"/>
                  <a:gd name="T32" fmla="*/ 3784 w 8611"/>
                  <a:gd name="T33" fmla="*/ 1867 h 4463"/>
                  <a:gd name="T34" fmla="*/ 4307 w 8611"/>
                  <a:gd name="T35" fmla="*/ 1650 h 4463"/>
                  <a:gd name="T36" fmla="*/ 4649 w 8611"/>
                  <a:gd name="T37" fmla="*/ 1844 h 4463"/>
                  <a:gd name="T38" fmla="*/ 4283 w 8611"/>
                  <a:gd name="T39" fmla="*/ 1920 h 4463"/>
                  <a:gd name="T40" fmla="*/ 4212 w 8611"/>
                  <a:gd name="T41" fmla="*/ 2695 h 4463"/>
                  <a:gd name="T42" fmla="*/ 4439 w 8611"/>
                  <a:gd name="T43" fmla="*/ 3737 h 4463"/>
                  <a:gd name="T44" fmla="*/ 4992 w 8611"/>
                  <a:gd name="T45" fmla="*/ 2911 h 4463"/>
                  <a:gd name="T46" fmla="*/ 4875 w 8611"/>
                  <a:gd name="T47" fmla="*/ 2277 h 4463"/>
                  <a:gd name="T48" fmla="*/ 5263 w 8611"/>
                  <a:gd name="T49" fmla="*/ 2068 h 4463"/>
                  <a:gd name="T50" fmla="*/ 5779 w 8611"/>
                  <a:gd name="T51" fmla="*/ 2505 h 4463"/>
                  <a:gd name="T52" fmla="*/ 6218 w 8611"/>
                  <a:gd name="T53" fmla="*/ 2289 h 4463"/>
                  <a:gd name="T54" fmla="*/ 6583 w 8611"/>
                  <a:gd name="T55" fmla="*/ 2651 h 4463"/>
                  <a:gd name="T56" fmla="*/ 6749 w 8611"/>
                  <a:gd name="T57" fmla="*/ 2316 h 4463"/>
                  <a:gd name="T58" fmla="*/ 7091 w 8611"/>
                  <a:gd name="T59" fmla="*/ 1918 h 4463"/>
                  <a:gd name="T60" fmla="*/ 7450 w 8611"/>
                  <a:gd name="T61" fmla="*/ 1021 h 4463"/>
                  <a:gd name="T62" fmla="*/ 7799 w 8611"/>
                  <a:gd name="T63" fmla="*/ 1162 h 4463"/>
                  <a:gd name="T64" fmla="*/ 8431 w 8611"/>
                  <a:gd name="T65" fmla="*/ 699 h 4463"/>
                  <a:gd name="T66" fmla="*/ 7254 w 8611"/>
                  <a:gd name="T67" fmla="*/ 1916 h 4463"/>
                  <a:gd name="T68" fmla="*/ 7254 w 8611"/>
                  <a:gd name="T69" fmla="*/ 1916 h 4463"/>
                  <a:gd name="T70" fmla="*/ 7541 w 8611"/>
                  <a:gd name="T71" fmla="*/ 3946 h 4463"/>
                  <a:gd name="T72" fmla="*/ 5208 w 8611"/>
                  <a:gd name="T73" fmla="*/ 3193 h 4463"/>
                  <a:gd name="T74" fmla="*/ 2242 w 8611"/>
                  <a:gd name="T75" fmla="*/ 2576 h 4463"/>
                  <a:gd name="T76" fmla="*/ 2373 w 8611"/>
                  <a:gd name="T77" fmla="*/ 4463 h 4463"/>
                  <a:gd name="T78" fmla="*/ 2975 w 8611"/>
                  <a:gd name="T79" fmla="*/ 2956 h 4463"/>
                  <a:gd name="T80" fmla="*/ 2114 w 8611"/>
                  <a:gd name="T81" fmla="*/ 811 h 4463"/>
                  <a:gd name="T82" fmla="*/ 2633 w 8611"/>
                  <a:gd name="T83" fmla="*/ 128 h 4463"/>
                  <a:gd name="T84" fmla="*/ 3050 w 8611"/>
                  <a:gd name="T85" fmla="*/ 531 h 4463"/>
                  <a:gd name="T86" fmla="*/ 3901 w 8611"/>
                  <a:gd name="T87" fmla="*/ 1399 h 4463"/>
                  <a:gd name="T88" fmla="*/ 3761 w 8611"/>
                  <a:gd name="T89" fmla="*/ 1173 h 4463"/>
                  <a:gd name="T90" fmla="*/ 6870 w 8611"/>
                  <a:gd name="T91" fmla="*/ 2711 h 4463"/>
                  <a:gd name="T92" fmla="*/ 6870 w 8611"/>
                  <a:gd name="T93" fmla="*/ 2932 h 4463"/>
                  <a:gd name="T94" fmla="*/ 1714 w 8611"/>
                  <a:gd name="T95" fmla="*/ 2085 h 4463"/>
                  <a:gd name="T96" fmla="*/ 2611 w 8611"/>
                  <a:gd name="T97" fmla="*/ 1404 h 4463"/>
                  <a:gd name="T98" fmla="*/ 2171 w 8611"/>
                  <a:gd name="T99" fmla="*/ 883 h 4463"/>
                  <a:gd name="T100" fmla="*/ 2362 w 8611"/>
                  <a:gd name="T101" fmla="*/ 841 h 4463"/>
                  <a:gd name="T102" fmla="*/ 1050 w 8611"/>
                  <a:gd name="T103" fmla="*/ 396 h 4463"/>
                  <a:gd name="T104" fmla="*/ 380 w 8611"/>
                  <a:gd name="T105" fmla="*/ 1112 h 4463"/>
                  <a:gd name="T106" fmla="*/ 1651 w 8611"/>
                  <a:gd name="T107" fmla="*/ 2481 h 4463"/>
                  <a:gd name="T108" fmla="*/ 6560 w 8611"/>
                  <a:gd name="T109" fmla="*/ 2743 h 4463"/>
                  <a:gd name="T110" fmla="*/ 6523 w 8611"/>
                  <a:gd name="T111" fmla="*/ 2780 h 4463"/>
                  <a:gd name="T112" fmla="*/ 6579 w 8611"/>
                  <a:gd name="T113" fmla="*/ 2979 h 4463"/>
                  <a:gd name="T114" fmla="*/ 5948 w 8611"/>
                  <a:gd name="T115" fmla="*/ 2706 h 4463"/>
                  <a:gd name="T116" fmla="*/ 3654 w 8611"/>
                  <a:gd name="T117" fmla="*/ 811 h 4463"/>
                  <a:gd name="T118" fmla="*/ 3654 w 8611"/>
                  <a:gd name="T119" fmla="*/ 811 h 4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8611" h="4463">
                    <a:moveTo>
                      <a:pt x="7449" y="1700"/>
                    </a:moveTo>
                    <a:lnTo>
                      <a:pt x="7449" y="1700"/>
                    </a:lnTo>
                    <a:lnTo>
                      <a:pt x="7510" y="1700"/>
                    </a:lnTo>
                    <a:lnTo>
                      <a:pt x="7510" y="1277"/>
                    </a:lnTo>
                    <a:lnTo>
                      <a:pt x="7449" y="1277"/>
                    </a:lnTo>
                    <a:lnTo>
                      <a:pt x="7449" y="1700"/>
                    </a:lnTo>
                    <a:close/>
                    <a:moveTo>
                      <a:pt x="6916" y="2980"/>
                    </a:moveTo>
                    <a:lnTo>
                      <a:pt x="6916" y="2980"/>
                    </a:lnTo>
                    <a:lnTo>
                      <a:pt x="6996" y="2980"/>
                    </a:lnTo>
                    <a:lnTo>
                      <a:pt x="6996" y="2869"/>
                    </a:lnTo>
                    <a:lnTo>
                      <a:pt x="6916" y="2869"/>
                    </a:lnTo>
                    <a:lnTo>
                      <a:pt x="6916" y="2980"/>
                    </a:lnTo>
                    <a:close/>
                    <a:moveTo>
                      <a:pt x="7155" y="3150"/>
                    </a:moveTo>
                    <a:lnTo>
                      <a:pt x="7155" y="3150"/>
                    </a:lnTo>
                    <a:lnTo>
                      <a:pt x="6945" y="3360"/>
                    </a:lnTo>
                    <a:lnTo>
                      <a:pt x="6803" y="3360"/>
                    </a:lnTo>
                    <a:lnTo>
                      <a:pt x="6803" y="3741"/>
                    </a:lnTo>
                    <a:lnTo>
                      <a:pt x="7014" y="3741"/>
                    </a:lnTo>
                    <a:lnTo>
                      <a:pt x="7083" y="3672"/>
                    </a:lnTo>
                    <a:lnTo>
                      <a:pt x="7246" y="3672"/>
                    </a:lnTo>
                    <a:lnTo>
                      <a:pt x="7428" y="3854"/>
                    </a:lnTo>
                    <a:lnTo>
                      <a:pt x="7578" y="3854"/>
                    </a:lnTo>
                    <a:lnTo>
                      <a:pt x="7751" y="3682"/>
                    </a:lnTo>
                    <a:lnTo>
                      <a:pt x="7751" y="3453"/>
                    </a:lnTo>
                    <a:lnTo>
                      <a:pt x="7447" y="3150"/>
                    </a:lnTo>
                    <a:lnTo>
                      <a:pt x="7155" y="3150"/>
                    </a:lnTo>
                    <a:close/>
                    <a:moveTo>
                      <a:pt x="6938" y="2386"/>
                    </a:moveTo>
                    <a:lnTo>
                      <a:pt x="6938" y="2386"/>
                    </a:lnTo>
                    <a:lnTo>
                      <a:pt x="6938" y="2494"/>
                    </a:lnTo>
                    <a:lnTo>
                      <a:pt x="6989" y="2545"/>
                    </a:lnTo>
                    <a:lnTo>
                      <a:pt x="6989" y="2707"/>
                    </a:lnTo>
                    <a:lnTo>
                      <a:pt x="7091" y="2707"/>
                    </a:lnTo>
                    <a:lnTo>
                      <a:pt x="7091" y="2566"/>
                    </a:lnTo>
                    <a:lnTo>
                      <a:pt x="6997" y="2472"/>
                    </a:lnTo>
                    <a:lnTo>
                      <a:pt x="6997" y="2386"/>
                    </a:lnTo>
                    <a:lnTo>
                      <a:pt x="6938" y="2386"/>
                    </a:lnTo>
                    <a:close/>
                    <a:moveTo>
                      <a:pt x="8059" y="4075"/>
                    </a:moveTo>
                    <a:lnTo>
                      <a:pt x="8059" y="4075"/>
                    </a:lnTo>
                    <a:lnTo>
                      <a:pt x="8118" y="4134"/>
                    </a:lnTo>
                    <a:lnTo>
                      <a:pt x="8358" y="3894"/>
                    </a:lnTo>
                    <a:lnTo>
                      <a:pt x="8299" y="3835"/>
                    </a:lnTo>
                    <a:lnTo>
                      <a:pt x="8059" y="4075"/>
                    </a:lnTo>
                    <a:close/>
                    <a:moveTo>
                      <a:pt x="7322" y="2914"/>
                    </a:moveTo>
                    <a:lnTo>
                      <a:pt x="7322" y="2914"/>
                    </a:lnTo>
                    <a:lnTo>
                      <a:pt x="7529" y="3121"/>
                    </a:lnTo>
                    <a:lnTo>
                      <a:pt x="7598" y="3053"/>
                    </a:lnTo>
                    <a:lnTo>
                      <a:pt x="7390" y="2845"/>
                    </a:lnTo>
                    <a:lnTo>
                      <a:pt x="7322" y="2914"/>
                    </a:lnTo>
                    <a:close/>
                    <a:moveTo>
                      <a:pt x="7859" y="432"/>
                    </a:moveTo>
                    <a:lnTo>
                      <a:pt x="7859" y="432"/>
                    </a:lnTo>
                    <a:lnTo>
                      <a:pt x="7690" y="263"/>
                    </a:lnTo>
                    <a:lnTo>
                      <a:pt x="7189" y="263"/>
                    </a:lnTo>
                    <a:lnTo>
                      <a:pt x="7117" y="191"/>
                    </a:lnTo>
                    <a:lnTo>
                      <a:pt x="6732" y="191"/>
                    </a:lnTo>
                    <a:lnTo>
                      <a:pt x="6732" y="0"/>
                    </a:lnTo>
                    <a:lnTo>
                      <a:pt x="6062" y="0"/>
                    </a:lnTo>
                    <a:lnTo>
                      <a:pt x="5852" y="209"/>
                    </a:lnTo>
                    <a:lnTo>
                      <a:pt x="5697" y="209"/>
                    </a:lnTo>
                    <a:lnTo>
                      <a:pt x="5643" y="262"/>
                    </a:lnTo>
                    <a:lnTo>
                      <a:pt x="5643" y="489"/>
                    </a:lnTo>
                    <a:lnTo>
                      <a:pt x="5243" y="489"/>
                    </a:lnTo>
                    <a:lnTo>
                      <a:pt x="4953" y="779"/>
                    </a:lnTo>
                    <a:lnTo>
                      <a:pt x="4867" y="779"/>
                    </a:lnTo>
                    <a:lnTo>
                      <a:pt x="4865" y="675"/>
                    </a:lnTo>
                    <a:lnTo>
                      <a:pt x="4919" y="675"/>
                    </a:lnTo>
                    <a:lnTo>
                      <a:pt x="5004" y="590"/>
                    </a:lnTo>
                    <a:lnTo>
                      <a:pt x="4777" y="363"/>
                    </a:lnTo>
                    <a:lnTo>
                      <a:pt x="4578" y="363"/>
                    </a:lnTo>
                    <a:lnTo>
                      <a:pt x="4128" y="813"/>
                    </a:lnTo>
                    <a:lnTo>
                      <a:pt x="4128" y="1077"/>
                    </a:lnTo>
                    <a:lnTo>
                      <a:pt x="4216" y="1077"/>
                    </a:lnTo>
                    <a:lnTo>
                      <a:pt x="4341" y="1201"/>
                    </a:lnTo>
                    <a:lnTo>
                      <a:pt x="4434" y="1108"/>
                    </a:lnTo>
                    <a:lnTo>
                      <a:pt x="4434" y="848"/>
                    </a:lnTo>
                    <a:lnTo>
                      <a:pt x="4567" y="714"/>
                    </a:lnTo>
                    <a:lnTo>
                      <a:pt x="4599" y="745"/>
                    </a:lnTo>
                    <a:lnTo>
                      <a:pt x="4494" y="849"/>
                    </a:lnTo>
                    <a:lnTo>
                      <a:pt x="4494" y="1009"/>
                    </a:lnTo>
                    <a:lnTo>
                      <a:pt x="4695" y="1009"/>
                    </a:lnTo>
                    <a:lnTo>
                      <a:pt x="4468" y="1236"/>
                    </a:lnTo>
                    <a:lnTo>
                      <a:pt x="4208" y="1237"/>
                    </a:lnTo>
                    <a:lnTo>
                      <a:pt x="3961" y="1484"/>
                    </a:lnTo>
                    <a:lnTo>
                      <a:pt x="3961" y="1645"/>
                    </a:lnTo>
                    <a:lnTo>
                      <a:pt x="3784" y="1645"/>
                    </a:lnTo>
                    <a:lnTo>
                      <a:pt x="3784" y="1867"/>
                    </a:lnTo>
                    <a:lnTo>
                      <a:pt x="3946" y="1868"/>
                    </a:lnTo>
                    <a:lnTo>
                      <a:pt x="4188" y="1625"/>
                    </a:lnTo>
                    <a:lnTo>
                      <a:pt x="4377" y="1813"/>
                    </a:lnTo>
                    <a:lnTo>
                      <a:pt x="4424" y="1767"/>
                    </a:lnTo>
                    <a:lnTo>
                      <a:pt x="4307" y="1650"/>
                    </a:lnTo>
                    <a:lnTo>
                      <a:pt x="4307" y="1580"/>
                    </a:lnTo>
                    <a:lnTo>
                      <a:pt x="4476" y="1749"/>
                    </a:lnTo>
                    <a:lnTo>
                      <a:pt x="4476" y="1788"/>
                    </a:lnTo>
                    <a:lnTo>
                      <a:pt x="4532" y="1844"/>
                    </a:lnTo>
                    <a:lnTo>
                      <a:pt x="4649" y="1844"/>
                    </a:lnTo>
                    <a:lnTo>
                      <a:pt x="4727" y="1922"/>
                    </a:lnTo>
                    <a:lnTo>
                      <a:pt x="4864" y="1922"/>
                    </a:lnTo>
                    <a:lnTo>
                      <a:pt x="4864" y="2062"/>
                    </a:lnTo>
                    <a:lnTo>
                      <a:pt x="4425" y="2062"/>
                    </a:lnTo>
                    <a:lnTo>
                      <a:pt x="4283" y="1920"/>
                    </a:lnTo>
                    <a:lnTo>
                      <a:pt x="3886" y="1920"/>
                    </a:lnTo>
                    <a:lnTo>
                      <a:pt x="3577" y="2229"/>
                    </a:lnTo>
                    <a:lnTo>
                      <a:pt x="3577" y="2540"/>
                    </a:lnTo>
                    <a:lnTo>
                      <a:pt x="3732" y="2695"/>
                    </a:lnTo>
                    <a:lnTo>
                      <a:pt x="4212" y="2695"/>
                    </a:lnTo>
                    <a:lnTo>
                      <a:pt x="4212" y="2859"/>
                    </a:lnTo>
                    <a:lnTo>
                      <a:pt x="4315" y="2961"/>
                    </a:lnTo>
                    <a:lnTo>
                      <a:pt x="4315" y="3459"/>
                    </a:lnTo>
                    <a:lnTo>
                      <a:pt x="4439" y="3583"/>
                    </a:lnTo>
                    <a:lnTo>
                      <a:pt x="4439" y="3737"/>
                    </a:lnTo>
                    <a:lnTo>
                      <a:pt x="4552" y="3737"/>
                    </a:lnTo>
                    <a:lnTo>
                      <a:pt x="4795" y="3494"/>
                    </a:lnTo>
                    <a:lnTo>
                      <a:pt x="4795" y="3425"/>
                    </a:lnTo>
                    <a:lnTo>
                      <a:pt x="4992" y="3228"/>
                    </a:lnTo>
                    <a:lnTo>
                      <a:pt x="4992" y="2911"/>
                    </a:lnTo>
                    <a:lnTo>
                      <a:pt x="5215" y="2687"/>
                    </a:lnTo>
                    <a:lnTo>
                      <a:pt x="5215" y="2591"/>
                    </a:lnTo>
                    <a:lnTo>
                      <a:pt x="5101" y="2591"/>
                    </a:lnTo>
                    <a:lnTo>
                      <a:pt x="4831" y="2321"/>
                    </a:lnTo>
                    <a:lnTo>
                      <a:pt x="4875" y="2277"/>
                    </a:lnTo>
                    <a:lnTo>
                      <a:pt x="5112" y="2514"/>
                    </a:lnTo>
                    <a:lnTo>
                      <a:pt x="5267" y="2514"/>
                    </a:lnTo>
                    <a:lnTo>
                      <a:pt x="5461" y="2320"/>
                    </a:lnTo>
                    <a:lnTo>
                      <a:pt x="5237" y="2094"/>
                    </a:lnTo>
                    <a:lnTo>
                      <a:pt x="5263" y="2068"/>
                    </a:lnTo>
                    <a:lnTo>
                      <a:pt x="5395" y="2200"/>
                    </a:lnTo>
                    <a:lnTo>
                      <a:pt x="5600" y="2200"/>
                    </a:lnTo>
                    <a:lnTo>
                      <a:pt x="5715" y="2314"/>
                    </a:lnTo>
                    <a:lnTo>
                      <a:pt x="5779" y="2314"/>
                    </a:lnTo>
                    <a:lnTo>
                      <a:pt x="5779" y="2505"/>
                    </a:lnTo>
                    <a:lnTo>
                      <a:pt x="5907" y="2632"/>
                    </a:lnTo>
                    <a:lnTo>
                      <a:pt x="5963" y="2575"/>
                    </a:lnTo>
                    <a:lnTo>
                      <a:pt x="5963" y="2445"/>
                    </a:lnTo>
                    <a:lnTo>
                      <a:pt x="6162" y="2289"/>
                    </a:lnTo>
                    <a:lnTo>
                      <a:pt x="6218" y="2289"/>
                    </a:lnTo>
                    <a:lnTo>
                      <a:pt x="6307" y="2378"/>
                    </a:lnTo>
                    <a:cubicBezTo>
                      <a:pt x="6307" y="2378"/>
                      <a:pt x="6300" y="2447"/>
                      <a:pt x="6307" y="2447"/>
                    </a:cubicBezTo>
                    <a:lnTo>
                      <a:pt x="6379" y="2447"/>
                    </a:lnTo>
                    <a:lnTo>
                      <a:pt x="6579" y="2647"/>
                    </a:lnTo>
                    <a:lnTo>
                      <a:pt x="6583" y="2651"/>
                    </a:lnTo>
                    <a:lnTo>
                      <a:pt x="6669" y="2564"/>
                    </a:lnTo>
                    <a:lnTo>
                      <a:pt x="6669" y="2478"/>
                    </a:lnTo>
                    <a:lnTo>
                      <a:pt x="6567" y="2376"/>
                    </a:lnTo>
                    <a:lnTo>
                      <a:pt x="6628" y="2316"/>
                    </a:lnTo>
                    <a:lnTo>
                      <a:pt x="6749" y="2316"/>
                    </a:lnTo>
                    <a:lnTo>
                      <a:pt x="6965" y="2099"/>
                    </a:lnTo>
                    <a:lnTo>
                      <a:pt x="6965" y="1959"/>
                    </a:lnTo>
                    <a:lnTo>
                      <a:pt x="6863" y="1857"/>
                    </a:lnTo>
                    <a:lnTo>
                      <a:pt x="6947" y="1774"/>
                    </a:lnTo>
                    <a:lnTo>
                      <a:pt x="7091" y="1918"/>
                    </a:lnTo>
                    <a:lnTo>
                      <a:pt x="7153" y="1918"/>
                    </a:lnTo>
                    <a:lnTo>
                      <a:pt x="7153" y="1799"/>
                    </a:lnTo>
                    <a:lnTo>
                      <a:pt x="7371" y="1582"/>
                    </a:lnTo>
                    <a:lnTo>
                      <a:pt x="7371" y="1100"/>
                    </a:lnTo>
                    <a:lnTo>
                      <a:pt x="7450" y="1021"/>
                    </a:lnTo>
                    <a:lnTo>
                      <a:pt x="7770" y="1021"/>
                    </a:lnTo>
                    <a:lnTo>
                      <a:pt x="7883" y="908"/>
                    </a:lnTo>
                    <a:lnTo>
                      <a:pt x="8002" y="908"/>
                    </a:lnTo>
                    <a:lnTo>
                      <a:pt x="8002" y="958"/>
                    </a:lnTo>
                    <a:lnTo>
                      <a:pt x="7799" y="1162"/>
                    </a:lnTo>
                    <a:lnTo>
                      <a:pt x="7799" y="1388"/>
                    </a:lnTo>
                    <a:lnTo>
                      <a:pt x="7842" y="1388"/>
                    </a:lnTo>
                    <a:lnTo>
                      <a:pt x="7985" y="1244"/>
                    </a:lnTo>
                    <a:lnTo>
                      <a:pt x="7985" y="1119"/>
                    </a:lnTo>
                    <a:cubicBezTo>
                      <a:pt x="7985" y="1119"/>
                      <a:pt x="8427" y="699"/>
                      <a:pt x="8431" y="699"/>
                    </a:cubicBezTo>
                    <a:lnTo>
                      <a:pt x="8526" y="794"/>
                    </a:lnTo>
                    <a:lnTo>
                      <a:pt x="8611" y="709"/>
                    </a:lnTo>
                    <a:lnTo>
                      <a:pt x="8334" y="432"/>
                    </a:lnTo>
                    <a:lnTo>
                      <a:pt x="7859" y="432"/>
                    </a:lnTo>
                    <a:close/>
                    <a:moveTo>
                      <a:pt x="7254" y="1916"/>
                    </a:moveTo>
                    <a:lnTo>
                      <a:pt x="7254" y="1916"/>
                    </a:lnTo>
                    <a:lnTo>
                      <a:pt x="7311" y="1974"/>
                    </a:lnTo>
                    <a:lnTo>
                      <a:pt x="7498" y="1787"/>
                    </a:lnTo>
                    <a:lnTo>
                      <a:pt x="7441" y="1729"/>
                    </a:lnTo>
                    <a:lnTo>
                      <a:pt x="7254" y="1916"/>
                    </a:lnTo>
                    <a:close/>
                    <a:moveTo>
                      <a:pt x="7541" y="4030"/>
                    </a:moveTo>
                    <a:lnTo>
                      <a:pt x="7541" y="4030"/>
                    </a:lnTo>
                    <a:lnTo>
                      <a:pt x="7639" y="4030"/>
                    </a:lnTo>
                    <a:lnTo>
                      <a:pt x="7639" y="3946"/>
                    </a:lnTo>
                    <a:lnTo>
                      <a:pt x="7541" y="3946"/>
                    </a:lnTo>
                    <a:lnTo>
                      <a:pt x="7541" y="4030"/>
                    </a:lnTo>
                    <a:close/>
                    <a:moveTo>
                      <a:pt x="5088" y="3476"/>
                    </a:moveTo>
                    <a:lnTo>
                      <a:pt x="5088" y="3476"/>
                    </a:lnTo>
                    <a:lnTo>
                      <a:pt x="5208" y="3476"/>
                    </a:lnTo>
                    <a:lnTo>
                      <a:pt x="5208" y="3193"/>
                    </a:lnTo>
                    <a:lnTo>
                      <a:pt x="5088" y="3193"/>
                    </a:lnTo>
                    <a:lnTo>
                      <a:pt x="5088" y="3476"/>
                    </a:lnTo>
                    <a:close/>
                    <a:moveTo>
                      <a:pt x="2594" y="2576"/>
                    </a:moveTo>
                    <a:lnTo>
                      <a:pt x="2594" y="2576"/>
                    </a:lnTo>
                    <a:lnTo>
                      <a:pt x="2242" y="2576"/>
                    </a:lnTo>
                    <a:lnTo>
                      <a:pt x="2071" y="2747"/>
                    </a:lnTo>
                    <a:lnTo>
                      <a:pt x="2071" y="2999"/>
                    </a:lnTo>
                    <a:lnTo>
                      <a:pt x="2265" y="3193"/>
                    </a:lnTo>
                    <a:lnTo>
                      <a:pt x="2265" y="4354"/>
                    </a:lnTo>
                    <a:lnTo>
                      <a:pt x="2373" y="4463"/>
                    </a:lnTo>
                    <a:lnTo>
                      <a:pt x="2429" y="4463"/>
                    </a:lnTo>
                    <a:lnTo>
                      <a:pt x="2429" y="4071"/>
                    </a:lnTo>
                    <a:lnTo>
                      <a:pt x="3166" y="3334"/>
                    </a:lnTo>
                    <a:lnTo>
                      <a:pt x="3166" y="2956"/>
                    </a:lnTo>
                    <a:lnTo>
                      <a:pt x="2975" y="2956"/>
                    </a:lnTo>
                    <a:lnTo>
                      <a:pt x="2594" y="2576"/>
                    </a:lnTo>
                    <a:close/>
                    <a:moveTo>
                      <a:pt x="1937" y="787"/>
                    </a:moveTo>
                    <a:lnTo>
                      <a:pt x="1937" y="787"/>
                    </a:lnTo>
                    <a:lnTo>
                      <a:pt x="2037" y="887"/>
                    </a:lnTo>
                    <a:lnTo>
                      <a:pt x="2114" y="811"/>
                    </a:lnTo>
                    <a:lnTo>
                      <a:pt x="2013" y="710"/>
                    </a:lnTo>
                    <a:lnTo>
                      <a:pt x="1937" y="787"/>
                    </a:lnTo>
                    <a:close/>
                    <a:moveTo>
                      <a:pt x="3552" y="128"/>
                    </a:moveTo>
                    <a:lnTo>
                      <a:pt x="3552" y="128"/>
                    </a:lnTo>
                    <a:lnTo>
                      <a:pt x="2633" y="128"/>
                    </a:lnTo>
                    <a:lnTo>
                      <a:pt x="2633" y="262"/>
                    </a:lnTo>
                    <a:lnTo>
                      <a:pt x="2784" y="262"/>
                    </a:lnTo>
                    <a:cubicBezTo>
                      <a:pt x="2784" y="262"/>
                      <a:pt x="2787" y="688"/>
                      <a:pt x="2784" y="685"/>
                    </a:cubicBezTo>
                    <a:lnTo>
                      <a:pt x="2896" y="685"/>
                    </a:lnTo>
                    <a:lnTo>
                      <a:pt x="3050" y="531"/>
                    </a:lnTo>
                    <a:lnTo>
                      <a:pt x="3270" y="531"/>
                    </a:lnTo>
                    <a:lnTo>
                      <a:pt x="3552" y="249"/>
                    </a:lnTo>
                    <a:lnTo>
                      <a:pt x="3552" y="128"/>
                    </a:lnTo>
                    <a:close/>
                    <a:moveTo>
                      <a:pt x="3901" y="1399"/>
                    </a:moveTo>
                    <a:lnTo>
                      <a:pt x="3901" y="1399"/>
                    </a:lnTo>
                    <a:lnTo>
                      <a:pt x="4001" y="1399"/>
                    </a:lnTo>
                    <a:lnTo>
                      <a:pt x="4001" y="1208"/>
                    </a:lnTo>
                    <a:lnTo>
                      <a:pt x="3873" y="1080"/>
                    </a:lnTo>
                    <a:lnTo>
                      <a:pt x="3855" y="1080"/>
                    </a:lnTo>
                    <a:lnTo>
                      <a:pt x="3761" y="1173"/>
                    </a:lnTo>
                    <a:lnTo>
                      <a:pt x="3761" y="1342"/>
                    </a:lnTo>
                    <a:lnTo>
                      <a:pt x="3843" y="1342"/>
                    </a:lnTo>
                    <a:lnTo>
                      <a:pt x="3901" y="1399"/>
                    </a:lnTo>
                    <a:close/>
                    <a:moveTo>
                      <a:pt x="6870" y="2711"/>
                    </a:moveTo>
                    <a:lnTo>
                      <a:pt x="6870" y="2711"/>
                    </a:lnTo>
                    <a:lnTo>
                      <a:pt x="6830" y="2672"/>
                    </a:lnTo>
                    <a:lnTo>
                      <a:pt x="6671" y="2831"/>
                    </a:lnTo>
                    <a:lnTo>
                      <a:pt x="6671" y="2876"/>
                    </a:lnTo>
                    <a:lnTo>
                      <a:pt x="6727" y="2932"/>
                    </a:lnTo>
                    <a:lnTo>
                      <a:pt x="6870" y="2932"/>
                    </a:lnTo>
                    <a:lnTo>
                      <a:pt x="6870" y="2711"/>
                    </a:lnTo>
                    <a:close/>
                    <a:moveTo>
                      <a:pt x="1815" y="2319"/>
                    </a:moveTo>
                    <a:lnTo>
                      <a:pt x="1815" y="2319"/>
                    </a:lnTo>
                    <a:lnTo>
                      <a:pt x="1713" y="2319"/>
                    </a:lnTo>
                    <a:lnTo>
                      <a:pt x="1714" y="2085"/>
                    </a:lnTo>
                    <a:lnTo>
                      <a:pt x="2032" y="2085"/>
                    </a:lnTo>
                    <a:lnTo>
                      <a:pt x="2034" y="2177"/>
                    </a:lnTo>
                    <a:lnTo>
                      <a:pt x="2115" y="2177"/>
                    </a:lnTo>
                    <a:lnTo>
                      <a:pt x="2115" y="1900"/>
                    </a:lnTo>
                    <a:lnTo>
                      <a:pt x="2611" y="1404"/>
                    </a:lnTo>
                    <a:lnTo>
                      <a:pt x="2696" y="1404"/>
                    </a:lnTo>
                    <a:lnTo>
                      <a:pt x="2697" y="1282"/>
                    </a:lnTo>
                    <a:lnTo>
                      <a:pt x="2691" y="1277"/>
                    </a:lnTo>
                    <a:lnTo>
                      <a:pt x="2297" y="883"/>
                    </a:lnTo>
                    <a:lnTo>
                      <a:pt x="2171" y="883"/>
                    </a:lnTo>
                    <a:lnTo>
                      <a:pt x="2171" y="1188"/>
                    </a:lnTo>
                    <a:lnTo>
                      <a:pt x="1812" y="1188"/>
                    </a:lnTo>
                    <a:lnTo>
                      <a:pt x="1812" y="864"/>
                    </a:lnTo>
                    <a:lnTo>
                      <a:pt x="2099" y="578"/>
                    </a:lnTo>
                    <a:lnTo>
                      <a:pt x="2362" y="841"/>
                    </a:lnTo>
                    <a:lnTo>
                      <a:pt x="2432" y="841"/>
                    </a:lnTo>
                    <a:cubicBezTo>
                      <a:pt x="2432" y="841"/>
                      <a:pt x="2594" y="676"/>
                      <a:pt x="2594" y="676"/>
                    </a:cubicBezTo>
                    <a:lnTo>
                      <a:pt x="2182" y="265"/>
                    </a:lnTo>
                    <a:lnTo>
                      <a:pt x="1181" y="265"/>
                    </a:lnTo>
                    <a:lnTo>
                      <a:pt x="1050" y="396"/>
                    </a:lnTo>
                    <a:lnTo>
                      <a:pt x="163" y="396"/>
                    </a:lnTo>
                    <a:lnTo>
                      <a:pt x="0" y="560"/>
                    </a:lnTo>
                    <a:lnTo>
                      <a:pt x="0" y="953"/>
                    </a:lnTo>
                    <a:lnTo>
                      <a:pt x="159" y="1112"/>
                    </a:lnTo>
                    <a:lnTo>
                      <a:pt x="380" y="1112"/>
                    </a:lnTo>
                    <a:lnTo>
                      <a:pt x="380" y="978"/>
                    </a:lnTo>
                    <a:lnTo>
                      <a:pt x="577" y="978"/>
                    </a:lnTo>
                    <a:lnTo>
                      <a:pt x="1000" y="1401"/>
                    </a:lnTo>
                    <a:lnTo>
                      <a:pt x="1000" y="1829"/>
                    </a:lnTo>
                    <a:lnTo>
                      <a:pt x="1651" y="2481"/>
                    </a:lnTo>
                    <a:lnTo>
                      <a:pt x="1808" y="2481"/>
                    </a:lnTo>
                    <a:lnTo>
                      <a:pt x="1999" y="2671"/>
                    </a:lnTo>
                    <a:lnTo>
                      <a:pt x="2083" y="2587"/>
                    </a:lnTo>
                    <a:lnTo>
                      <a:pt x="1815" y="2319"/>
                    </a:lnTo>
                    <a:close/>
                    <a:moveTo>
                      <a:pt x="6560" y="2743"/>
                    </a:moveTo>
                    <a:lnTo>
                      <a:pt x="6560" y="2743"/>
                    </a:lnTo>
                    <a:lnTo>
                      <a:pt x="6539" y="2722"/>
                    </a:lnTo>
                    <a:lnTo>
                      <a:pt x="6406" y="2589"/>
                    </a:lnTo>
                    <a:cubicBezTo>
                      <a:pt x="6407" y="2588"/>
                      <a:pt x="6369" y="2625"/>
                      <a:pt x="6369" y="2625"/>
                    </a:cubicBezTo>
                    <a:lnTo>
                      <a:pt x="6523" y="2780"/>
                    </a:lnTo>
                    <a:lnTo>
                      <a:pt x="6560" y="2743"/>
                    </a:lnTo>
                    <a:close/>
                    <a:moveTo>
                      <a:pt x="6393" y="2695"/>
                    </a:moveTo>
                    <a:lnTo>
                      <a:pt x="6393" y="2695"/>
                    </a:lnTo>
                    <a:cubicBezTo>
                      <a:pt x="6395" y="2693"/>
                      <a:pt x="6346" y="2743"/>
                      <a:pt x="6346" y="2743"/>
                    </a:cubicBezTo>
                    <a:lnTo>
                      <a:pt x="6579" y="2979"/>
                    </a:lnTo>
                    <a:lnTo>
                      <a:pt x="6628" y="2930"/>
                    </a:lnTo>
                    <a:lnTo>
                      <a:pt x="6595" y="2896"/>
                    </a:lnTo>
                    <a:lnTo>
                      <a:pt x="6393" y="2695"/>
                    </a:lnTo>
                    <a:close/>
                    <a:moveTo>
                      <a:pt x="5948" y="2706"/>
                    </a:moveTo>
                    <a:lnTo>
                      <a:pt x="5948" y="2706"/>
                    </a:lnTo>
                    <a:lnTo>
                      <a:pt x="6008" y="2706"/>
                    </a:lnTo>
                    <a:lnTo>
                      <a:pt x="6008" y="2622"/>
                    </a:lnTo>
                    <a:lnTo>
                      <a:pt x="5948" y="2622"/>
                    </a:lnTo>
                    <a:lnTo>
                      <a:pt x="5948" y="2706"/>
                    </a:lnTo>
                    <a:close/>
                    <a:moveTo>
                      <a:pt x="3654" y="811"/>
                    </a:moveTo>
                    <a:lnTo>
                      <a:pt x="3654" y="811"/>
                    </a:lnTo>
                    <a:lnTo>
                      <a:pt x="3436" y="811"/>
                    </a:lnTo>
                    <a:lnTo>
                      <a:pt x="3436" y="660"/>
                    </a:lnTo>
                    <a:lnTo>
                      <a:pt x="3654" y="660"/>
                    </a:lnTo>
                    <a:lnTo>
                      <a:pt x="3654" y="811"/>
                    </a:lnTo>
                    <a:close/>
                  </a:path>
                </a:pathLst>
              </a:custGeom>
              <a:solidFill>
                <a:srgbClr val="ECECE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69" name="Square">
                <a:extLst>
                  <a:ext uri="{FF2B5EF4-FFF2-40B4-BE49-F238E27FC236}">
                    <a16:creationId xmlns:a16="http://schemas.microsoft.com/office/drawing/2014/main" id="{67A26279-B929-9BC2-044B-77426A7DAD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218572" y="2786673"/>
                <a:ext cx="117218" cy="117073"/>
              </a:xfrm>
              <a:custGeom>
                <a:avLst/>
                <a:gdLst>
                  <a:gd name="T0" fmla="*/ 185 w 185"/>
                  <a:gd name="T1" fmla="*/ 185 h 185"/>
                  <a:gd name="T2" fmla="*/ 185 w 185"/>
                  <a:gd name="T3" fmla="*/ 185 h 185"/>
                  <a:gd name="T4" fmla="*/ 0 w 185"/>
                  <a:gd name="T5" fmla="*/ 185 h 185"/>
                  <a:gd name="T6" fmla="*/ 0 w 185"/>
                  <a:gd name="T7" fmla="*/ 0 h 185"/>
                  <a:gd name="T8" fmla="*/ 185 w 185"/>
                  <a:gd name="T9" fmla="*/ 0 h 185"/>
                  <a:gd name="T10" fmla="*/ 185 w 185"/>
                  <a:gd name="T11" fmla="*/ 18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185">
                    <a:moveTo>
                      <a:pt x="185" y="185"/>
                    </a:moveTo>
                    <a:lnTo>
                      <a:pt x="185" y="185"/>
                    </a:lnTo>
                    <a:lnTo>
                      <a:pt x="0" y="185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881E87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0" name="Square">
                <a:extLst>
                  <a:ext uri="{FF2B5EF4-FFF2-40B4-BE49-F238E27FC236}">
                    <a16:creationId xmlns:a16="http://schemas.microsoft.com/office/drawing/2014/main" id="{9328C6FB-19D0-BE02-EE66-EFA7D8FB28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20977" y="2381748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1" name="Square">
                <a:extLst>
                  <a:ext uri="{FF2B5EF4-FFF2-40B4-BE49-F238E27FC236}">
                    <a16:creationId xmlns:a16="http://schemas.microsoft.com/office/drawing/2014/main" id="{1E11430B-A31C-AEF2-8547-A04398C87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346388" y="2767161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2" name="Square">
                <a:extLst>
                  <a:ext uri="{FF2B5EF4-FFF2-40B4-BE49-F238E27FC236}">
                    <a16:creationId xmlns:a16="http://schemas.microsoft.com/office/drawing/2014/main" id="{DD0EDE27-D86A-8C68-7C37-B6D9C77427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026474" y="2767161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3" name="Square">
                <a:extLst>
                  <a:ext uri="{FF2B5EF4-FFF2-40B4-BE49-F238E27FC236}">
                    <a16:creationId xmlns:a16="http://schemas.microsoft.com/office/drawing/2014/main" id="{138267B0-4825-D4EB-542E-EDF2AAB455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311053" y="2538456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4" name="Square">
                <a:extLst>
                  <a:ext uri="{FF2B5EF4-FFF2-40B4-BE49-F238E27FC236}">
                    <a16:creationId xmlns:a16="http://schemas.microsoft.com/office/drawing/2014/main" id="{7FA37A15-237C-2F73-300C-00224B4AFA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81190" y="2888494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5" name="Square">
                <a:extLst>
                  <a:ext uri="{FF2B5EF4-FFF2-40B4-BE49-F238E27FC236}">
                    <a16:creationId xmlns:a16="http://schemas.microsoft.com/office/drawing/2014/main" id="{ED96E231-F9AB-7A2A-1A0A-960D5749C0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46004" y="2933145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6" name="Square">
                <a:extLst>
                  <a:ext uri="{FF2B5EF4-FFF2-40B4-BE49-F238E27FC236}">
                    <a16:creationId xmlns:a16="http://schemas.microsoft.com/office/drawing/2014/main" id="{AC65D65A-2C4A-B143-0527-82C40E777B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766794" y="2409695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7" name="Square">
                <a:extLst>
                  <a:ext uri="{FF2B5EF4-FFF2-40B4-BE49-F238E27FC236}">
                    <a16:creationId xmlns:a16="http://schemas.microsoft.com/office/drawing/2014/main" id="{D7A69F09-86AF-790E-96D2-DA105B6F95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495321" y="2272957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8" name="Square">
                <a:extLst>
                  <a:ext uri="{FF2B5EF4-FFF2-40B4-BE49-F238E27FC236}">
                    <a16:creationId xmlns:a16="http://schemas.microsoft.com/office/drawing/2014/main" id="{87DB51B2-A8B1-E158-8929-9DA4177D73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85076" y="3405652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79" name="Square">
                <a:extLst>
                  <a:ext uri="{FF2B5EF4-FFF2-40B4-BE49-F238E27FC236}">
                    <a16:creationId xmlns:a16="http://schemas.microsoft.com/office/drawing/2014/main" id="{43B835E9-9846-82C7-6AD4-675E69910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827563" y="3326016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0" name="Square">
                <a:extLst>
                  <a:ext uri="{FF2B5EF4-FFF2-40B4-BE49-F238E27FC236}">
                    <a16:creationId xmlns:a16="http://schemas.microsoft.com/office/drawing/2014/main" id="{8B4D612C-B096-0420-FF96-59DCBDFE81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26000" y="3492635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1" name="Square">
                <a:extLst>
                  <a:ext uri="{FF2B5EF4-FFF2-40B4-BE49-F238E27FC236}">
                    <a16:creationId xmlns:a16="http://schemas.microsoft.com/office/drawing/2014/main" id="{D63A0856-32E0-0F35-27C2-70955F7DC0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518800" y="4674489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2" name="Square">
                <a:extLst>
                  <a:ext uri="{FF2B5EF4-FFF2-40B4-BE49-F238E27FC236}">
                    <a16:creationId xmlns:a16="http://schemas.microsoft.com/office/drawing/2014/main" id="{95D1C2E3-FEA2-8231-77C2-C8D03658E1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417177" y="4097664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3" name="Square">
                <a:extLst>
                  <a:ext uri="{FF2B5EF4-FFF2-40B4-BE49-F238E27FC236}">
                    <a16:creationId xmlns:a16="http://schemas.microsoft.com/office/drawing/2014/main" id="{30FBE2CB-BAEF-6F48-F9C3-C80000EA20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85199" y="4614584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4" name="Square">
                <a:extLst>
                  <a:ext uri="{FF2B5EF4-FFF2-40B4-BE49-F238E27FC236}">
                    <a16:creationId xmlns:a16="http://schemas.microsoft.com/office/drawing/2014/main" id="{8D82CE69-10AC-B7EE-C97D-8A2B72B0B7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15324" y="4898217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5" name="Square">
                <a:extLst>
                  <a:ext uri="{FF2B5EF4-FFF2-40B4-BE49-F238E27FC236}">
                    <a16:creationId xmlns:a16="http://schemas.microsoft.com/office/drawing/2014/main" id="{0D5ABB8D-E420-7FF6-CDE9-208381692C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206037" y="2304280"/>
                <a:ext cx="117218" cy="117073"/>
              </a:xfrm>
              <a:custGeom>
                <a:avLst/>
                <a:gdLst>
                  <a:gd name="T0" fmla="*/ 185 w 185"/>
                  <a:gd name="T1" fmla="*/ 185 h 185"/>
                  <a:gd name="T2" fmla="*/ 185 w 185"/>
                  <a:gd name="T3" fmla="*/ 185 h 185"/>
                  <a:gd name="T4" fmla="*/ 0 w 185"/>
                  <a:gd name="T5" fmla="*/ 185 h 185"/>
                  <a:gd name="T6" fmla="*/ 0 w 185"/>
                  <a:gd name="T7" fmla="*/ 0 h 185"/>
                  <a:gd name="T8" fmla="*/ 185 w 185"/>
                  <a:gd name="T9" fmla="*/ 0 h 185"/>
                  <a:gd name="T10" fmla="*/ 185 w 185"/>
                  <a:gd name="T11" fmla="*/ 18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185">
                    <a:moveTo>
                      <a:pt x="185" y="185"/>
                    </a:moveTo>
                    <a:lnTo>
                      <a:pt x="185" y="185"/>
                    </a:lnTo>
                    <a:lnTo>
                      <a:pt x="0" y="185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881E87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6" name="Square">
                <a:extLst>
                  <a:ext uri="{FF2B5EF4-FFF2-40B4-BE49-F238E27FC236}">
                    <a16:creationId xmlns:a16="http://schemas.microsoft.com/office/drawing/2014/main" id="{592B8B7E-6D0F-08C4-A5DA-BF09236EA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48033" y="3600774"/>
                <a:ext cx="117218" cy="117073"/>
              </a:xfrm>
              <a:custGeom>
                <a:avLst/>
                <a:gdLst>
                  <a:gd name="T0" fmla="*/ 185 w 185"/>
                  <a:gd name="T1" fmla="*/ 185 h 185"/>
                  <a:gd name="T2" fmla="*/ 185 w 185"/>
                  <a:gd name="T3" fmla="*/ 185 h 185"/>
                  <a:gd name="T4" fmla="*/ 0 w 185"/>
                  <a:gd name="T5" fmla="*/ 185 h 185"/>
                  <a:gd name="T6" fmla="*/ 0 w 185"/>
                  <a:gd name="T7" fmla="*/ 0 h 185"/>
                  <a:gd name="T8" fmla="*/ 185 w 185"/>
                  <a:gd name="T9" fmla="*/ 0 h 185"/>
                  <a:gd name="T10" fmla="*/ 185 w 185"/>
                  <a:gd name="T11" fmla="*/ 18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185">
                    <a:moveTo>
                      <a:pt x="185" y="185"/>
                    </a:moveTo>
                    <a:lnTo>
                      <a:pt x="185" y="185"/>
                    </a:lnTo>
                    <a:lnTo>
                      <a:pt x="0" y="185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881E87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7" name="Square">
                <a:extLst>
                  <a:ext uri="{FF2B5EF4-FFF2-40B4-BE49-F238E27FC236}">
                    <a16:creationId xmlns:a16="http://schemas.microsoft.com/office/drawing/2014/main" id="{8910958B-1F4E-446A-51AE-EB40B6B623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792956" y="3626524"/>
                <a:ext cx="117218" cy="117073"/>
              </a:xfrm>
              <a:custGeom>
                <a:avLst/>
                <a:gdLst>
                  <a:gd name="T0" fmla="*/ 185 w 185"/>
                  <a:gd name="T1" fmla="*/ 185 h 185"/>
                  <a:gd name="T2" fmla="*/ 185 w 185"/>
                  <a:gd name="T3" fmla="*/ 185 h 185"/>
                  <a:gd name="T4" fmla="*/ 0 w 185"/>
                  <a:gd name="T5" fmla="*/ 185 h 185"/>
                  <a:gd name="T6" fmla="*/ 0 w 185"/>
                  <a:gd name="T7" fmla="*/ 0 h 185"/>
                  <a:gd name="T8" fmla="*/ 185 w 185"/>
                  <a:gd name="T9" fmla="*/ 0 h 185"/>
                  <a:gd name="T10" fmla="*/ 185 w 185"/>
                  <a:gd name="T11" fmla="*/ 18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5" h="185">
                    <a:moveTo>
                      <a:pt x="185" y="185"/>
                    </a:moveTo>
                    <a:lnTo>
                      <a:pt x="185" y="185"/>
                    </a:lnTo>
                    <a:lnTo>
                      <a:pt x="0" y="185"/>
                    </a:lnTo>
                    <a:lnTo>
                      <a:pt x="0" y="0"/>
                    </a:lnTo>
                    <a:lnTo>
                      <a:pt x="185" y="0"/>
                    </a:lnTo>
                    <a:lnTo>
                      <a:pt x="185" y="185"/>
                    </a:lnTo>
                    <a:close/>
                  </a:path>
                </a:pathLst>
              </a:custGeom>
              <a:solidFill>
                <a:srgbClr val="881E87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8" name="Square">
                <a:extLst>
                  <a:ext uri="{FF2B5EF4-FFF2-40B4-BE49-F238E27FC236}">
                    <a16:creationId xmlns:a16="http://schemas.microsoft.com/office/drawing/2014/main" id="{C7E05D64-4D2C-21C9-16B8-007A74C49F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186502" y="2193369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89" name="Square">
                <a:extLst>
                  <a:ext uri="{FF2B5EF4-FFF2-40B4-BE49-F238E27FC236}">
                    <a16:creationId xmlns:a16="http://schemas.microsoft.com/office/drawing/2014/main" id="{C70C53DA-A0E4-9D6C-7E08-061CC8DF28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89451" y="3563357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0" name="Square">
                <a:extLst>
                  <a:ext uri="{FF2B5EF4-FFF2-40B4-BE49-F238E27FC236}">
                    <a16:creationId xmlns:a16="http://schemas.microsoft.com/office/drawing/2014/main" id="{A70E6316-2F59-6FF9-FFBE-6448FFED2C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095354" y="4653608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1" name="Square">
                <a:extLst>
                  <a:ext uri="{FF2B5EF4-FFF2-40B4-BE49-F238E27FC236}">
                    <a16:creationId xmlns:a16="http://schemas.microsoft.com/office/drawing/2014/main" id="{E5ABBFA6-2329-0C11-9205-CF9882EB4A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095354" y="4495201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2" name="Square">
                <a:extLst>
                  <a:ext uri="{FF2B5EF4-FFF2-40B4-BE49-F238E27FC236}">
                    <a16:creationId xmlns:a16="http://schemas.microsoft.com/office/drawing/2014/main" id="{57253D0C-020D-CD34-839C-AF10340A12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869049" y="3742750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3" name="Square">
                <a:extLst>
                  <a:ext uri="{FF2B5EF4-FFF2-40B4-BE49-F238E27FC236}">
                    <a16:creationId xmlns:a16="http://schemas.microsoft.com/office/drawing/2014/main" id="{2B8AD9ED-0D48-EB41-CE76-2123EEB02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59656" y="3102452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4" name="Square">
                <a:extLst>
                  <a:ext uri="{FF2B5EF4-FFF2-40B4-BE49-F238E27FC236}">
                    <a16:creationId xmlns:a16="http://schemas.microsoft.com/office/drawing/2014/main" id="{80970C8F-AF98-5E82-9DC5-D3887559C4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093206" y="3270224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5" name="Square">
                <a:extLst>
                  <a:ext uri="{FF2B5EF4-FFF2-40B4-BE49-F238E27FC236}">
                    <a16:creationId xmlns:a16="http://schemas.microsoft.com/office/drawing/2014/main" id="{DAA58229-4FCC-B2FF-00C3-FE7C34CDD7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413453" y="2374800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6" name="Square">
                <a:extLst>
                  <a:ext uri="{FF2B5EF4-FFF2-40B4-BE49-F238E27FC236}">
                    <a16:creationId xmlns:a16="http://schemas.microsoft.com/office/drawing/2014/main" id="{E6708028-F2B1-C4EE-B159-3C4E65433B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91469" y="2737742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7" name="Square">
                <a:extLst>
                  <a:ext uri="{FF2B5EF4-FFF2-40B4-BE49-F238E27FC236}">
                    <a16:creationId xmlns:a16="http://schemas.microsoft.com/office/drawing/2014/main" id="{8325C179-21ED-B3AA-8F1B-AA8C3C7124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358166" y="2482027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8" name="Square">
                <a:extLst>
                  <a:ext uri="{FF2B5EF4-FFF2-40B4-BE49-F238E27FC236}">
                    <a16:creationId xmlns:a16="http://schemas.microsoft.com/office/drawing/2014/main" id="{11EC5895-F354-F3AA-47E1-6770E6662A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676218" y="2241725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99" name="Square">
                <a:extLst>
                  <a:ext uri="{FF2B5EF4-FFF2-40B4-BE49-F238E27FC236}">
                    <a16:creationId xmlns:a16="http://schemas.microsoft.com/office/drawing/2014/main" id="{D5FE631E-5625-D21A-41EA-6399EF3BBE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384508" y="2610862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100" name="Square">
                <a:extLst>
                  <a:ext uri="{FF2B5EF4-FFF2-40B4-BE49-F238E27FC236}">
                    <a16:creationId xmlns:a16="http://schemas.microsoft.com/office/drawing/2014/main" id="{D991AC59-3DEB-3393-7252-D866B3F7BF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290735" y="2702771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101" name="Square">
                <a:extLst>
                  <a:ext uri="{FF2B5EF4-FFF2-40B4-BE49-F238E27FC236}">
                    <a16:creationId xmlns:a16="http://schemas.microsoft.com/office/drawing/2014/main" id="{6138F91D-8B75-CAEA-1588-8C090238EF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19418" y="3496923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102" name="Square">
                <a:extLst>
                  <a:ext uri="{FF2B5EF4-FFF2-40B4-BE49-F238E27FC236}">
                    <a16:creationId xmlns:a16="http://schemas.microsoft.com/office/drawing/2014/main" id="{5E046FFC-23AA-7465-968E-D43F4BCF92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20258" y="3351319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103" name="Square">
                <a:extLst>
                  <a:ext uri="{FF2B5EF4-FFF2-40B4-BE49-F238E27FC236}">
                    <a16:creationId xmlns:a16="http://schemas.microsoft.com/office/drawing/2014/main" id="{8B89AAF0-3ABD-7B46-1F98-82429C1F12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069889" y="3116842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104" name="Square">
                <a:extLst>
                  <a:ext uri="{FF2B5EF4-FFF2-40B4-BE49-F238E27FC236}">
                    <a16:creationId xmlns:a16="http://schemas.microsoft.com/office/drawing/2014/main" id="{41D95BC9-88D3-2E5C-A1D3-B48F6B8E53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37387" y="2272956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  <p:sp>
            <p:nvSpPr>
              <p:cNvPr id="105" name="Square">
                <a:extLst>
                  <a:ext uri="{FF2B5EF4-FFF2-40B4-BE49-F238E27FC236}">
                    <a16:creationId xmlns:a16="http://schemas.microsoft.com/office/drawing/2014/main" id="{A57B613D-3B82-D39F-7596-6F608373C4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167494" y="3077817"/>
                <a:ext cx="78144" cy="78049"/>
              </a:xfrm>
              <a:custGeom>
                <a:avLst/>
                <a:gdLst>
                  <a:gd name="T0" fmla="*/ 121 w 121"/>
                  <a:gd name="T1" fmla="*/ 121 h 121"/>
                  <a:gd name="T2" fmla="*/ 121 w 121"/>
                  <a:gd name="T3" fmla="*/ 121 h 121"/>
                  <a:gd name="T4" fmla="*/ 0 w 121"/>
                  <a:gd name="T5" fmla="*/ 121 h 121"/>
                  <a:gd name="T6" fmla="*/ 0 w 121"/>
                  <a:gd name="T7" fmla="*/ 0 h 121"/>
                  <a:gd name="T8" fmla="*/ 121 w 121"/>
                  <a:gd name="T9" fmla="*/ 0 h 121"/>
                  <a:gd name="T10" fmla="*/ 121 w 121"/>
                  <a:gd name="T11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1" h="121">
                    <a:moveTo>
                      <a:pt x="121" y="121"/>
                    </a:moveTo>
                    <a:lnTo>
                      <a:pt x="121" y="121"/>
                    </a:lnTo>
                    <a:lnTo>
                      <a:pt x="0" y="121"/>
                    </a:lnTo>
                    <a:lnTo>
                      <a:pt x="0" y="0"/>
                    </a:lnTo>
                    <a:lnTo>
                      <a:pt x="121" y="0"/>
                    </a:lnTo>
                    <a:lnTo>
                      <a:pt x="121" y="121"/>
                    </a:lnTo>
                    <a:close/>
                  </a:path>
                </a:pathLst>
              </a:custGeom>
              <a:solidFill>
                <a:srgbClr val="006E7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00">
                  <a:solidFill>
                    <a:schemeClr val="bg1"/>
                  </a:solidFill>
                  <a:latin typeface="Aptos Light" panose="020B0004020202020204" pitchFamily="34" charset="0"/>
                </a:endParaRPr>
              </a:p>
            </p:txBody>
          </p:sp>
        </p:grpSp>
        <p:sp>
          <p:nvSpPr>
            <p:cNvPr id="53" name="Square">
              <a:extLst>
                <a:ext uri="{FF2B5EF4-FFF2-40B4-BE49-F238E27FC236}">
                  <a16:creationId xmlns:a16="http://schemas.microsoft.com/office/drawing/2014/main" id="{1C20DC24-85B3-52ED-7AF5-18D6E01583B6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543292" y="4762314"/>
              <a:ext cx="114384" cy="114243"/>
            </a:xfrm>
            <a:custGeom>
              <a:avLst/>
              <a:gdLst>
                <a:gd name="T0" fmla="*/ 185 w 185"/>
                <a:gd name="T1" fmla="*/ 185 h 185"/>
                <a:gd name="T2" fmla="*/ 185 w 185"/>
                <a:gd name="T3" fmla="*/ 185 h 185"/>
                <a:gd name="T4" fmla="*/ 0 w 185"/>
                <a:gd name="T5" fmla="*/ 185 h 185"/>
                <a:gd name="T6" fmla="*/ 0 w 185"/>
                <a:gd name="T7" fmla="*/ 0 h 185"/>
                <a:gd name="T8" fmla="*/ 185 w 185"/>
                <a:gd name="T9" fmla="*/ 0 h 185"/>
                <a:gd name="T10" fmla="*/ 185 w 185"/>
                <a:gd name="T11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" h="185">
                  <a:moveTo>
                    <a:pt x="185" y="185"/>
                  </a:moveTo>
                  <a:lnTo>
                    <a:pt x="185" y="185"/>
                  </a:lnTo>
                  <a:lnTo>
                    <a:pt x="0" y="185"/>
                  </a:lnTo>
                  <a:lnTo>
                    <a:pt x="0" y="0"/>
                  </a:lnTo>
                  <a:lnTo>
                    <a:pt x="185" y="0"/>
                  </a:lnTo>
                  <a:lnTo>
                    <a:pt x="185" y="185"/>
                  </a:lnTo>
                  <a:close/>
                </a:path>
              </a:pathLst>
            </a:custGeom>
            <a:solidFill>
              <a:srgbClr val="881E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000">
                <a:latin typeface="Aptos Light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5305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149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undless Imp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4">
            <a:extLst>
              <a:ext uri="{FF2B5EF4-FFF2-40B4-BE49-F238E27FC236}">
                <a16:creationId xmlns:a16="http://schemas.microsoft.com/office/drawing/2014/main" id="{44A18571-BA59-2444-8AD2-3A332C2E7293}"/>
              </a:ext>
            </a:extLst>
          </p:cNvPr>
          <p:cNvSpPr/>
          <p:nvPr/>
        </p:nvSpPr>
        <p:spPr>
          <a:xfrm>
            <a:off x="0" y="1280160"/>
            <a:ext cx="7189470" cy="348878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lIns="548640" tIns="182880" rtlCol="0" anchor="ctr" anchorCtr="0"/>
          <a:lstStyle/>
          <a:p>
            <a:pPr lvl="0">
              <a:defRPr/>
            </a:pPr>
            <a:r>
              <a:rPr lang="en-US" sz="2000" b="1">
                <a:latin typeface="Aptos Light" panose="020B0004020202020204" pitchFamily="34" charset="0"/>
              </a:rPr>
              <a:t>We transform lives through the power of technology. </a:t>
            </a:r>
          </a:p>
          <a:p>
            <a:pPr lvl="0">
              <a:defRPr/>
            </a:pPr>
            <a:endParaRPr lang="en-US" sz="2000" b="1">
              <a:latin typeface="Aptos Light" panose="020B0004020202020204" pitchFamily="34" charset="0"/>
            </a:endParaRPr>
          </a:p>
          <a:p>
            <a:pPr lvl="0">
              <a:defRPr/>
            </a:pPr>
            <a:r>
              <a:rPr lang="en-US" sz="2000" b="1">
                <a:latin typeface="Aptos Light" panose="020B0004020202020204" pitchFamily="34" charset="0"/>
              </a:rPr>
              <a:t>We do it collaboratively, in partnership with our clients and communities. </a:t>
            </a:r>
          </a:p>
          <a:p>
            <a:pPr lvl="0">
              <a:defRPr/>
            </a:pPr>
            <a:endParaRPr lang="en-US" sz="2000" b="1">
              <a:latin typeface="Aptos Light" panose="020B0004020202020204" pitchFamily="34" charset="0"/>
            </a:endParaRPr>
          </a:p>
          <a:p>
            <a:pPr lvl="0">
              <a:defRPr/>
            </a:pPr>
            <a:r>
              <a:rPr lang="en-US" sz="2000" b="1">
                <a:latin typeface="Aptos Light" panose="020B0004020202020204" pitchFamily="34" charset="0"/>
              </a:rPr>
              <a:t>And we do it sustainably, building enduring, boundless impact.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Light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8D21BF-8F0E-964C-A7AE-A80D8349B265}"/>
              </a:ext>
            </a:extLst>
          </p:cNvPr>
          <p:cNvGrpSpPr/>
          <p:nvPr/>
        </p:nvGrpSpPr>
        <p:grpSpPr>
          <a:xfrm>
            <a:off x="234660" y="4004750"/>
            <a:ext cx="6377233" cy="389951"/>
            <a:chOff x="234660" y="3540516"/>
            <a:chExt cx="6377233" cy="389951"/>
          </a:xfrm>
        </p:grpSpPr>
        <p:sp>
          <p:nvSpPr>
            <p:cNvPr id="4" name="Rectangle: Rounded Corners 2">
              <a:extLst>
                <a:ext uri="{FF2B5EF4-FFF2-40B4-BE49-F238E27FC236}">
                  <a16:creationId xmlns:a16="http://schemas.microsoft.com/office/drawing/2014/main" id="{D1F04FD5-573C-3440-9424-B9A4AAA92C48}"/>
                </a:ext>
              </a:extLst>
            </p:cNvPr>
            <p:cNvSpPr/>
            <p:nvPr userDrawn="1"/>
          </p:nvSpPr>
          <p:spPr>
            <a:xfrm>
              <a:off x="234660" y="3540516"/>
              <a:ext cx="1497281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Customers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Rectangle: Rounded Corners 8">
              <a:extLst>
                <a:ext uri="{FF2B5EF4-FFF2-40B4-BE49-F238E27FC236}">
                  <a16:creationId xmlns:a16="http://schemas.microsoft.com/office/drawing/2014/main" id="{1F491FC2-AA9D-3843-9CC8-FA217D2FFE73}"/>
                </a:ext>
              </a:extLst>
            </p:cNvPr>
            <p:cNvSpPr/>
            <p:nvPr userDrawn="1"/>
          </p:nvSpPr>
          <p:spPr>
            <a:xfrm>
              <a:off x="1833890" y="3568702"/>
              <a:ext cx="1497280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Consumers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Rectangle: Rounded Corners 9">
              <a:extLst>
                <a:ext uri="{FF2B5EF4-FFF2-40B4-BE49-F238E27FC236}">
                  <a16:creationId xmlns:a16="http://schemas.microsoft.com/office/drawing/2014/main" id="{2581A3A2-45A1-8B45-8F61-741CB0247053}"/>
                </a:ext>
              </a:extLst>
            </p:cNvPr>
            <p:cNvSpPr/>
            <p:nvPr userDrawn="1"/>
          </p:nvSpPr>
          <p:spPr>
            <a:xfrm>
              <a:off x="3370635" y="3568701"/>
              <a:ext cx="1497279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Employees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Rectangle: Rounded Corners 11">
              <a:extLst>
                <a:ext uri="{FF2B5EF4-FFF2-40B4-BE49-F238E27FC236}">
                  <a16:creationId xmlns:a16="http://schemas.microsoft.com/office/drawing/2014/main" id="{586D6AF1-EF91-AC40-8335-17C5301FC94D}"/>
                </a:ext>
              </a:extLst>
            </p:cNvPr>
            <p:cNvSpPr/>
            <p:nvPr userDrawn="1"/>
          </p:nvSpPr>
          <p:spPr>
            <a:xfrm>
              <a:off x="4907380" y="3568700"/>
              <a:ext cx="1704513" cy="36176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+mn-cs"/>
                </a:rPr>
                <a:t>Communities</a:t>
              </a: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70061C9-1270-C944-A44A-6A8B31081D98}"/>
                </a:ext>
              </a:extLst>
            </p:cNvPr>
            <p:cNvCxnSpPr/>
            <p:nvPr userDrawn="1"/>
          </p:nvCxnSpPr>
          <p:spPr>
            <a:xfrm>
              <a:off x="1598337" y="3749582"/>
              <a:ext cx="407963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7B019A-09C6-B04D-AF37-291938490C8E}"/>
                </a:ext>
              </a:extLst>
            </p:cNvPr>
            <p:cNvCxnSpPr/>
            <p:nvPr userDrawn="1"/>
          </p:nvCxnSpPr>
          <p:spPr>
            <a:xfrm>
              <a:off x="3145783" y="3749582"/>
              <a:ext cx="407963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B59662-ADDE-9347-97E1-46BE8F654601}"/>
                </a:ext>
              </a:extLst>
            </p:cNvPr>
            <p:cNvCxnSpPr/>
            <p:nvPr userDrawn="1"/>
          </p:nvCxnSpPr>
          <p:spPr>
            <a:xfrm>
              <a:off x="4693229" y="3749582"/>
              <a:ext cx="407963" cy="0"/>
            </a:xfrm>
            <a:prstGeom prst="line">
              <a:avLst/>
            </a:prstGeom>
            <a:ln w="12700" cap="sq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</p:cxnSp>
      </p:grpSp>
      <p:pic>
        <p:nvPicPr>
          <p:cNvPr id="11" name="Picture 10" descr="Qr code&#10;&#10;Description automatically generated">
            <a:extLst>
              <a:ext uri="{FF2B5EF4-FFF2-40B4-BE49-F238E27FC236}">
                <a16:creationId xmlns:a16="http://schemas.microsoft.com/office/drawing/2014/main" id="{9271F48D-275A-3849-ABCD-3640C100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772" y="2789896"/>
            <a:ext cx="3113461" cy="311346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062D16-F0D5-7845-B702-64122E8F9AAF}"/>
              </a:ext>
            </a:extLst>
          </p:cNvPr>
          <p:cNvSpPr txBox="1">
            <a:spLocks/>
          </p:cNvSpPr>
          <p:nvPr/>
        </p:nvSpPr>
        <p:spPr>
          <a:xfrm>
            <a:off x="365760" y="365760"/>
            <a:ext cx="9972040" cy="914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latin typeface="Aptos Light" panose="020B0004020202020204" pitchFamily="34" charset="0"/>
              </a:rPr>
              <a:t>Together, we build for boundless impact</a:t>
            </a:r>
          </a:p>
        </p:txBody>
      </p:sp>
    </p:spTree>
    <p:extLst>
      <p:ext uri="{BB962C8B-B14F-4D97-AF65-F5344CB8AC3E}">
        <p14:creationId xmlns:p14="http://schemas.microsoft.com/office/powerpoint/2010/main" val="1360387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3832">
          <p15:clr>
            <a:srgbClr val="FBAE40"/>
          </p15:clr>
        </p15:guide>
        <p15:guide id="3" orient="horz" pos="41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meline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7620-E0BF-8F22-1ABA-4F56EF9B6DA9}"/>
              </a:ext>
            </a:extLst>
          </p:cNvPr>
          <p:cNvSpPr txBox="1">
            <a:spLocks/>
          </p:cNvSpPr>
          <p:nvPr/>
        </p:nvSpPr>
        <p:spPr>
          <a:xfrm>
            <a:off x="365760" y="365760"/>
            <a:ext cx="407044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latin typeface="Aptos Light" panose="020B0004020202020204" pitchFamily="34" charset="0"/>
              </a:rPr>
              <a:t>UST’s evolution</a:t>
            </a:r>
          </a:p>
          <a:p>
            <a:r>
              <a:rPr lang="en-US" sz="2400" b="0">
                <a:latin typeface="Aptos Light" panose="020B0004020202020204" pitchFamily="34" charset="0"/>
              </a:rPr>
              <a:t>Digital from day one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63FAE-37F3-0876-5C85-ACF05B11DAFD}"/>
              </a:ext>
            </a:extLst>
          </p:cNvPr>
          <p:cNvSpPr/>
          <p:nvPr/>
        </p:nvSpPr>
        <p:spPr>
          <a:xfrm>
            <a:off x="5857596" y="-4516"/>
            <a:ext cx="6334403" cy="6176830"/>
          </a:xfrm>
          <a:prstGeom prst="rect">
            <a:avLst/>
          </a:prstGeom>
          <a:solidFill>
            <a:srgbClr val="C2BCBE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endParaRPr lang="en-US" sz="180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2DF3A-D6EB-633C-9C29-DF27EC70580D}"/>
              </a:ext>
            </a:extLst>
          </p:cNvPr>
          <p:cNvSpPr/>
          <p:nvPr/>
        </p:nvSpPr>
        <p:spPr>
          <a:xfrm>
            <a:off x="2432511" y="1455947"/>
            <a:ext cx="3428589" cy="4716367"/>
          </a:xfrm>
          <a:prstGeom prst="rect">
            <a:avLst/>
          </a:prstGeom>
          <a:solidFill>
            <a:srgbClr val="D7E0E3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9F25CF-D456-691B-C6C0-EA5B97E7B2F4}"/>
              </a:ext>
            </a:extLst>
          </p:cNvPr>
          <p:cNvSpPr/>
          <p:nvPr/>
        </p:nvSpPr>
        <p:spPr>
          <a:xfrm>
            <a:off x="1" y="2494200"/>
            <a:ext cx="2436483" cy="3678114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AF015-64DB-D590-F478-D4CD1A8062AC}"/>
              </a:ext>
            </a:extLst>
          </p:cNvPr>
          <p:cNvSpPr txBox="1"/>
          <p:nvPr/>
        </p:nvSpPr>
        <p:spPr>
          <a:xfrm>
            <a:off x="365760" y="2851596"/>
            <a:ext cx="1310381" cy="301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800" b="1">
                <a:latin typeface="+mn-lt"/>
              </a:rPr>
              <a:t>1999 – 2005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8CB415-F53F-20AD-1148-CED8566F80FA}"/>
              </a:ext>
            </a:extLst>
          </p:cNvPr>
          <p:cNvSpPr txBox="1"/>
          <p:nvPr/>
        </p:nvSpPr>
        <p:spPr>
          <a:xfrm>
            <a:off x="2691415" y="1754474"/>
            <a:ext cx="1310381" cy="301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ts val="1200"/>
              </a:spcBef>
              <a:buSzPct val="100000"/>
              <a:defRPr b="1"/>
            </a:lvl1pPr>
          </a:lstStyle>
          <a:p>
            <a:pPr lvl="0"/>
            <a:r>
              <a:rPr lang="en-US">
                <a:latin typeface="+mn-lt"/>
              </a:rPr>
              <a:t>2006 – 2016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8AE08-9A4D-E1DA-6EA0-4279E8E394A5}"/>
              </a:ext>
            </a:extLst>
          </p:cNvPr>
          <p:cNvSpPr txBox="1"/>
          <p:nvPr/>
        </p:nvSpPr>
        <p:spPr>
          <a:xfrm>
            <a:off x="6140158" y="294148"/>
            <a:ext cx="1310381" cy="301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lvl="0">
              <a:lnSpc>
                <a:spcPct val="100000"/>
              </a:lnSpc>
              <a:spcBef>
                <a:spcPts val="1200"/>
              </a:spcBef>
              <a:buSzPct val="100000"/>
              <a:defRPr b="1"/>
            </a:lvl1pPr>
          </a:lstStyle>
          <a:p>
            <a:pPr lvl="0"/>
            <a:r>
              <a:rPr lang="en-US">
                <a:latin typeface="+mn-lt"/>
              </a:rPr>
              <a:t>2017 – 2024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74205A-2DDF-1706-B08E-492DB6259DD6}"/>
              </a:ext>
            </a:extLst>
          </p:cNvPr>
          <p:cNvCxnSpPr>
            <a:cxnSpLocks/>
          </p:cNvCxnSpPr>
          <p:nvPr/>
        </p:nvCxnSpPr>
        <p:spPr>
          <a:xfrm flipV="1">
            <a:off x="7159330" y="2551488"/>
            <a:ext cx="0" cy="635463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D1E614-C723-CFC1-97E7-C7CC48927AEF}"/>
              </a:ext>
            </a:extLst>
          </p:cNvPr>
          <p:cNvCxnSpPr>
            <a:cxnSpLocks/>
          </p:cNvCxnSpPr>
          <p:nvPr/>
        </p:nvCxnSpPr>
        <p:spPr>
          <a:xfrm flipV="1">
            <a:off x="6816123" y="2070728"/>
            <a:ext cx="0" cy="432395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6632F4-6D5C-242F-DD55-264593A7A1B2}"/>
              </a:ext>
            </a:extLst>
          </p:cNvPr>
          <p:cNvSpPr txBox="1"/>
          <p:nvPr/>
        </p:nvSpPr>
        <p:spPr>
          <a:xfrm>
            <a:off x="3099659" y="3100601"/>
            <a:ext cx="922843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2009</a:t>
            </a:r>
          </a:p>
          <a:p>
            <a:pPr marL="0" algn="l" defTabSz="914400" rtl="0" eaLnBrk="1" latinLnBrk="0" hangingPunct="1"/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Expanded into Latin America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07EBDA-987B-309B-8AD1-DD903228C757}"/>
              </a:ext>
            </a:extLst>
          </p:cNvPr>
          <p:cNvCxnSpPr>
            <a:cxnSpLocks/>
          </p:cNvCxnSpPr>
          <p:nvPr/>
        </p:nvCxnSpPr>
        <p:spPr>
          <a:xfrm flipV="1">
            <a:off x="3114161" y="3686512"/>
            <a:ext cx="0" cy="56974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D22368-7983-435C-F7D0-61E70210C702}"/>
              </a:ext>
            </a:extLst>
          </p:cNvPr>
          <p:cNvCxnSpPr>
            <a:cxnSpLocks/>
          </p:cNvCxnSpPr>
          <p:nvPr/>
        </p:nvCxnSpPr>
        <p:spPr>
          <a:xfrm flipV="1">
            <a:off x="2754226" y="4407093"/>
            <a:ext cx="0" cy="835037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E5DE39-F160-13D6-8AAA-60C063FCEC82}"/>
              </a:ext>
            </a:extLst>
          </p:cNvPr>
          <p:cNvCxnSpPr>
            <a:cxnSpLocks/>
          </p:cNvCxnSpPr>
          <p:nvPr/>
        </p:nvCxnSpPr>
        <p:spPr>
          <a:xfrm flipV="1">
            <a:off x="1269913" y="4644000"/>
            <a:ext cx="0" cy="109728"/>
          </a:xfrm>
          <a:prstGeom prst="line">
            <a:avLst/>
          </a:prstGeom>
          <a:ln w="12700" cap="sq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33F7AE-31D7-6A42-6A85-A09932497B40}"/>
              </a:ext>
            </a:extLst>
          </p:cNvPr>
          <p:cNvSpPr txBox="1"/>
          <p:nvPr/>
        </p:nvSpPr>
        <p:spPr>
          <a:xfrm>
            <a:off x="2692286" y="5307044"/>
            <a:ext cx="1791608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2006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algn="l" defTabSz="914400" rtl="0" eaLnBrk="1" latinLnBrk="0" hangingPunct="1"/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Opened operations in the UK, expanding its EU footprint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55A24E-E8E1-4FC3-3E99-447C3BAAD09B}"/>
              </a:ext>
            </a:extLst>
          </p:cNvPr>
          <p:cNvSpPr txBox="1"/>
          <p:nvPr/>
        </p:nvSpPr>
        <p:spPr>
          <a:xfrm>
            <a:off x="3493530" y="4889733"/>
            <a:ext cx="1101839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10,000 employees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D451D2-5A01-A88F-5065-7DB88EF3C883}"/>
              </a:ext>
            </a:extLst>
          </p:cNvPr>
          <p:cNvSpPr txBox="1"/>
          <p:nvPr/>
        </p:nvSpPr>
        <p:spPr>
          <a:xfrm>
            <a:off x="6743187" y="1505021"/>
            <a:ext cx="1020250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2018</a:t>
            </a:r>
          </a:p>
          <a:p>
            <a:r>
              <a:rPr lang="en-US" sz="1000" b="0">
                <a:solidFill>
                  <a:srgbClr val="231F20"/>
                </a:solidFill>
                <a:latin typeface="+mn-lt"/>
              </a:rPr>
              <a:t>Temasek invested $250M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ED23B-CB4F-563F-1ED7-5B8074464828}"/>
              </a:ext>
            </a:extLst>
          </p:cNvPr>
          <p:cNvSpPr txBox="1"/>
          <p:nvPr/>
        </p:nvSpPr>
        <p:spPr>
          <a:xfrm>
            <a:off x="7086757" y="3268379"/>
            <a:ext cx="1007381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2018</a:t>
            </a:r>
          </a:p>
          <a:p>
            <a:r>
              <a:rPr lang="en-US" sz="1000">
                <a:latin typeface="+mn-lt"/>
              </a:rPr>
              <a:t>Reached 20,000 employees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8B891A-8C52-9F2D-EA87-94182AEB3A60}"/>
              </a:ext>
            </a:extLst>
          </p:cNvPr>
          <p:cNvSpPr txBox="1"/>
          <p:nvPr/>
        </p:nvSpPr>
        <p:spPr>
          <a:xfrm>
            <a:off x="4015037" y="2628019"/>
            <a:ext cx="951631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2013</a:t>
            </a:r>
          </a:p>
          <a:p>
            <a:pPr marL="0" algn="l" defTabSz="914400" rtl="0" eaLnBrk="1" latinLnBrk="0" hangingPunct="1"/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Launched Step IT Up America</a:t>
            </a: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35739F0F-848D-C638-2C52-A50AAC12B682}"/>
              </a:ext>
            </a:extLst>
          </p:cNvPr>
          <p:cNvSpPr/>
          <p:nvPr/>
        </p:nvSpPr>
        <p:spPr>
          <a:xfrm>
            <a:off x="382867" y="557421"/>
            <a:ext cx="11431905" cy="4313979"/>
          </a:xfrm>
          <a:custGeom>
            <a:avLst/>
            <a:gdLst>
              <a:gd name="connsiteX0" fmla="*/ 0 w 6256421"/>
              <a:gd name="connsiteY0" fmla="*/ 3850105 h 3850105"/>
              <a:gd name="connsiteX1" fmla="*/ 613611 w 6256421"/>
              <a:gd name="connsiteY1" fmla="*/ 3272590 h 3850105"/>
              <a:gd name="connsiteX2" fmla="*/ 1732548 w 6256421"/>
              <a:gd name="connsiteY2" fmla="*/ 3164305 h 3850105"/>
              <a:gd name="connsiteX3" fmla="*/ 2598821 w 6256421"/>
              <a:gd name="connsiteY3" fmla="*/ 2334126 h 3850105"/>
              <a:gd name="connsiteX4" fmla="*/ 4535906 w 6256421"/>
              <a:gd name="connsiteY4" fmla="*/ 1876926 h 3850105"/>
              <a:gd name="connsiteX5" fmla="*/ 4860758 w 6256421"/>
              <a:gd name="connsiteY5" fmla="*/ 938463 h 3850105"/>
              <a:gd name="connsiteX6" fmla="*/ 6256421 w 6256421"/>
              <a:gd name="connsiteY6" fmla="*/ 0 h 3850105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7430542 w 7430542"/>
              <a:gd name="connsiteY6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7430542 w 7430542"/>
              <a:gd name="connsiteY6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6083869 w 7430542"/>
              <a:gd name="connsiteY6" fmla="*/ 613187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2598821 w 7430542"/>
              <a:gd name="connsiteY3" fmla="*/ 2610163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3049983 w 7430542"/>
              <a:gd name="connsiteY3" fmla="*/ 2414386 h 4126142"/>
              <a:gd name="connsiteX4" fmla="*/ 4535906 w 7430542"/>
              <a:gd name="connsiteY4" fmla="*/ 2152963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1732548 w 7430542"/>
              <a:gd name="connsiteY2" fmla="*/ 3440342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6239188 w 7430542"/>
              <a:gd name="connsiteY6" fmla="*/ 808966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6626523 w 7430542"/>
              <a:gd name="connsiteY6" fmla="*/ 726730 h 4126142"/>
              <a:gd name="connsiteX7" fmla="*/ 7430542 w 7430542"/>
              <a:gd name="connsiteY7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6626523 w 7430542"/>
              <a:gd name="connsiteY7" fmla="*/ 726730 h 4126142"/>
              <a:gd name="connsiteX8" fmla="*/ 7430542 w 7430542"/>
              <a:gd name="connsiteY8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5743540 w 7430542"/>
              <a:gd name="connsiteY7" fmla="*/ 96992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5820808 w 7430542"/>
              <a:gd name="connsiteY7" fmla="*/ 1089174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34280 w 7430542"/>
              <a:gd name="connsiteY6" fmla="*/ 978617 h 4126142"/>
              <a:gd name="connsiteX7" fmla="*/ 5801492 w 7430542"/>
              <a:gd name="connsiteY7" fmla="*/ 104147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613611 w 7430542"/>
              <a:gd name="connsiteY1" fmla="*/ 3548627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92232 w 7430542"/>
              <a:gd name="connsiteY6" fmla="*/ 1042218 h 4126142"/>
              <a:gd name="connsiteX7" fmla="*/ 5801492 w 7430542"/>
              <a:gd name="connsiteY7" fmla="*/ 104147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30542"/>
              <a:gd name="connsiteY0" fmla="*/ 4126142 h 4126142"/>
              <a:gd name="connsiteX1" fmla="*/ 1045020 w 7430542"/>
              <a:gd name="connsiteY1" fmla="*/ 3365772 h 4126142"/>
              <a:gd name="connsiteX2" fmla="*/ 2080165 w 7430542"/>
              <a:gd name="connsiteY2" fmla="*/ 3227540 h 4126142"/>
              <a:gd name="connsiteX3" fmla="*/ 3049983 w 7430542"/>
              <a:gd name="connsiteY3" fmla="*/ 2414386 h 4126142"/>
              <a:gd name="connsiteX4" fmla="*/ 4173496 w 7430542"/>
              <a:gd name="connsiteY4" fmla="*/ 2101891 h 4126142"/>
              <a:gd name="connsiteX5" fmla="*/ 4860758 w 7430542"/>
              <a:gd name="connsiteY5" fmla="*/ 1214500 h 4126142"/>
              <a:gd name="connsiteX6" fmla="*/ 5792232 w 7430542"/>
              <a:gd name="connsiteY6" fmla="*/ 1042218 h 4126142"/>
              <a:gd name="connsiteX7" fmla="*/ 5801492 w 7430542"/>
              <a:gd name="connsiteY7" fmla="*/ 1041472 h 4126142"/>
              <a:gd name="connsiteX8" fmla="*/ 6626523 w 7430542"/>
              <a:gd name="connsiteY8" fmla="*/ 726730 h 4126142"/>
              <a:gd name="connsiteX9" fmla="*/ 7430542 w 7430542"/>
              <a:gd name="connsiteY9" fmla="*/ 0 h 4126142"/>
              <a:gd name="connsiteX0" fmla="*/ 0 w 7456298"/>
              <a:gd name="connsiteY0" fmla="*/ 3831986 h 3831986"/>
              <a:gd name="connsiteX1" fmla="*/ 1070776 w 7456298"/>
              <a:gd name="connsiteY1" fmla="*/ 3365772 h 3831986"/>
              <a:gd name="connsiteX2" fmla="*/ 2105921 w 7456298"/>
              <a:gd name="connsiteY2" fmla="*/ 3227540 h 3831986"/>
              <a:gd name="connsiteX3" fmla="*/ 3075739 w 7456298"/>
              <a:gd name="connsiteY3" fmla="*/ 2414386 h 3831986"/>
              <a:gd name="connsiteX4" fmla="*/ 4199252 w 7456298"/>
              <a:gd name="connsiteY4" fmla="*/ 2101891 h 3831986"/>
              <a:gd name="connsiteX5" fmla="*/ 4886514 w 7456298"/>
              <a:gd name="connsiteY5" fmla="*/ 1214500 h 3831986"/>
              <a:gd name="connsiteX6" fmla="*/ 5817988 w 7456298"/>
              <a:gd name="connsiteY6" fmla="*/ 1042218 h 3831986"/>
              <a:gd name="connsiteX7" fmla="*/ 5827248 w 7456298"/>
              <a:gd name="connsiteY7" fmla="*/ 1041472 h 3831986"/>
              <a:gd name="connsiteX8" fmla="*/ 6652279 w 7456298"/>
              <a:gd name="connsiteY8" fmla="*/ 726730 h 3831986"/>
              <a:gd name="connsiteX9" fmla="*/ 7456298 w 7456298"/>
              <a:gd name="connsiteY9" fmla="*/ 0 h 3831986"/>
              <a:gd name="connsiteX0" fmla="*/ 0 w 7932779"/>
              <a:gd name="connsiteY0" fmla="*/ 4157943 h 4157943"/>
              <a:gd name="connsiteX1" fmla="*/ 1070776 w 7932779"/>
              <a:gd name="connsiteY1" fmla="*/ 3691729 h 4157943"/>
              <a:gd name="connsiteX2" fmla="*/ 2105921 w 7932779"/>
              <a:gd name="connsiteY2" fmla="*/ 3553497 h 4157943"/>
              <a:gd name="connsiteX3" fmla="*/ 3075739 w 7932779"/>
              <a:gd name="connsiteY3" fmla="*/ 2740343 h 4157943"/>
              <a:gd name="connsiteX4" fmla="*/ 4199252 w 7932779"/>
              <a:gd name="connsiteY4" fmla="*/ 2427848 h 4157943"/>
              <a:gd name="connsiteX5" fmla="*/ 4886514 w 7932779"/>
              <a:gd name="connsiteY5" fmla="*/ 1540457 h 4157943"/>
              <a:gd name="connsiteX6" fmla="*/ 5817988 w 7932779"/>
              <a:gd name="connsiteY6" fmla="*/ 1368175 h 4157943"/>
              <a:gd name="connsiteX7" fmla="*/ 5827248 w 7932779"/>
              <a:gd name="connsiteY7" fmla="*/ 1367429 h 4157943"/>
              <a:gd name="connsiteX8" fmla="*/ 6652279 w 7932779"/>
              <a:gd name="connsiteY8" fmla="*/ 1052687 h 4157943"/>
              <a:gd name="connsiteX9" fmla="*/ 7932779 w 7932779"/>
              <a:gd name="connsiteY9" fmla="*/ 0 h 4157943"/>
              <a:gd name="connsiteX0" fmla="*/ 0 w 7620753"/>
              <a:gd name="connsiteY0" fmla="*/ 4029524 h 4029524"/>
              <a:gd name="connsiteX1" fmla="*/ 1070776 w 7620753"/>
              <a:gd name="connsiteY1" fmla="*/ 3563310 h 4029524"/>
              <a:gd name="connsiteX2" fmla="*/ 2105921 w 7620753"/>
              <a:gd name="connsiteY2" fmla="*/ 3425078 h 4029524"/>
              <a:gd name="connsiteX3" fmla="*/ 3075739 w 7620753"/>
              <a:gd name="connsiteY3" fmla="*/ 2611924 h 4029524"/>
              <a:gd name="connsiteX4" fmla="*/ 4199252 w 7620753"/>
              <a:gd name="connsiteY4" fmla="*/ 2299429 h 4029524"/>
              <a:gd name="connsiteX5" fmla="*/ 4886514 w 7620753"/>
              <a:gd name="connsiteY5" fmla="*/ 1412038 h 4029524"/>
              <a:gd name="connsiteX6" fmla="*/ 5817988 w 7620753"/>
              <a:gd name="connsiteY6" fmla="*/ 1239756 h 4029524"/>
              <a:gd name="connsiteX7" fmla="*/ 5827248 w 7620753"/>
              <a:gd name="connsiteY7" fmla="*/ 1239010 h 4029524"/>
              <a:gd name="connsiteX8" fmla="*/ 6652279 w 7620753"/>
              <a:gd name="connsiteY8" fmla="*/ 924268 h 4029524"/>
              <a:gd name="connsiteX9" fmla="*/ 7620753 w 7620753"/>
              <a:gd name="connsiteY9" fmla="*/ 0 h 4029524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8943146 w 8943146"/>
              <a:gd name="connsiteY9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727993 w 8943146"/>
              <a:gd name="connsiteY9" fmla="*/ 1056043 h 5102743"/>
              <a:gd name="connsiteX10" fmla="*/ 8943146 w 8943146"/>
              <a:gd name="connsiteY10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727993 w 8943146"/>
              <a:gd name="connsiteY9" fmla="*/ 1056043 h 5102743"/>
              <a:gd name="connsiteX10" fmla="*/ 8396619 w 8943146"/>
              <a:gd name="connsiteY10" fmla="*/ 468982 h 5102743"/>
              <a:gd name="connsiteX11" fmla="*/ 8943146 w 8943146"/>
              <a:gd name="connsiteY11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846859 w 8943146"/>
              <a:gd name="connsiteY9" fmla="*/ 1202808 h 5102743"/>
              <a:gd name="connsiteX10" fmla="*/ 8396619 w 8943146"/>
              <a:gd name="connsiteY10" fmla="*/ 468982 h 5102743"/>
              <a:gd name="connsiteX11" fmla="*/ 8943146 w 8943146"/>
              <a:gd name="connsiteY11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601696 w 8943146"/>
              <a:gd name="connsiteY9" fmla="*/ 1413783 h 5102743"/>
              <a:gd name="connsiteX10" fmla="*/ 8396619 w 8943146"/>
              <a:gd name="connsiteY10" fmla="*/ 468982 h 5102743"/>
              <a:gd name="connsiteX11" fmla="*/ 8943146 w 8943146"/>
              <a:gd name="connsiteY11" fmla="*/ 0 h 5102743"/>
              <a:gd name="connsiteX0" fmla="*/ 0 w 8943146"/>
              <a:gd name="connsiteY0" fmla="*/ 5102743 h 5102743"/>
              <a:gd name="connsiteX1" fmla="*/ 1070776 w 8943146"/>
              <a:gd name="connsiteY1" fmla="*/ 4636529 h 5102743"/>
              <a:gd name="connsiteX2" fmla="*/ 2105921 w 8943146"/>
              <a:gd name="connsiteY2" fmla="*/ 4498297 h 5102743"/>
              <a:gd name="connsiteX3" fmla="*/ 3075739 w 8943146"/>
              <a:gd name="connsiteY3" fmla="*/ 3685143 h 5102743"/>
              <a:gd name="connsiteX4" fmla="*/ 4199252 w 8943146"/>
              <a:gd name="connsiteY4" fmla="*/ 3372648 h 5102743"/>
              <a:gd name="connsiteX5" fmla="*/ 4886514 w 8943146"/>
              <a:gd name="connsiteY5" fmla="*/ 2485257 h 5102743"/>
              <a:gd name="connsiteX6" fmla="*/ 5817988 w 8943146"/>
              <a:gd name="connsiteY6" fmla="*/ 2312975 h 5102743"/>
              <a:gd name="connsiteX7" fmla="*/ 5827248 w 8943146"/>
              <a:gd name="connsiteY7" fmla="*/ 2312229 h 5102743"/>
              <a:gd name="connsiteX8" fmla="*/ 6652279 w 8943146"/>
              <a:gd name="connsiteY8" fmla="*/ 1997487 h 5102743"/>
              <a:gd name="connsiteX9" fmla="*/ 7601696 w 8943146"/>
              <a:gd name="connsiteY9" fmla="*/ 1413783 h 5102743"/>
              <a:gd name="connsiteX10" fmla="*/ 8181173 w 8943146"/>
              <a:gd name="connsiteY10" fmla="*/ 881759 h 5102743"/>
              <a:gd name="connsiteX11" fmla="*/ 8943146 w 8943146"/>
              <a:gd name="connsiteY11" fmla="*/ 0 h 5102743"/>
              <a:gd name="connsiteX0" fmla="*/ 0 w 8690553"/>
              <a:gd name="connsiteY0" fmla="*/ 4800040 h 4800040"/>
              <a:gd name="connsiteX1" fmla="*/ 1070776 w 8690553"/>
              <a:gd name="connsiteY1" fmla="*/ 4333826 h 4800040"/>
              <a:gd name="connsiteX2" fmla="*/ 2105921 w 8690553"/>
              <a:gd name="connsiteY2" fmla="*/ 4195594 h 4800040"/>
              <a:gd name="connsiteX3" fmla="*/ 3075739 w 8690553"/>
              <a:gd name="connsiteY3" fmla="*/ 3382440 h 4800040"/>
              <a:gd name="connsiteX4" fmla="*/ 4199252 w 8690553"/>
              <a:gd name="connsiteY4" fmla="*/ 3069945 h 4800040"/>
              <a:gd name="connsiteX5" fmla="*/ 4886514 w 8690553"/>
              <a:gd name="connsiteY5" fmla="*/ 2182554 h 4800040"/>
              <a:gd name="connsiteX6" fmla="*/ 5817988 w 8690553"/>
              <a:gd name="connsiteY6" fmla="*/ 2010272 h 4800040"/>
              <a:gd name="connsiteX7" fmla="*/ 5827248 w 8690553"/>
              <a:gd name="connsiteY7" fmla="*/ 2009526 h 4800040"/>
              <a:gd name="connsiteX8" fmla="*/ 6652279 w 8690553"/>
              <a:gd name="connsiteY8" fmla="*/ 1694784 h 4800040"/>
              <a:gd name="connsiteX9" fmla="*/ 7601696 w 8690553"/>
              <a:gd name="connsiteY9" fmla="*/ 1111080 h 4800040"/>
              <a:gd name="connsiteX10" fmla="*/ 8181173 w 8690553"/>
              <a:gd name="connsiteY10" fmla="*/ 579056 h 4800040"/>
              <a:gd name="connsiteX11" fmla="*/ 8690553 w 8690553"/>
              <a:gd name="connsiteY11" fmla="*/ 0 h 480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690553" h="4800040">
                <a:moveTo>
                  <a:pt x="0" y="4800040"/>
                </a:moveTo>
                <a:lnTo>
                  <a:pt x="1070776" y="4333826"/>
                </a:lnTo>
                <a:lnTo>
                  <a:pt x="2105921" y="4195594"/>
                </a:lnTo>
                <a:lnTo>
                  <a:pt x="3075739" y="3382440"/>
                </a:lnTo>
                <a:lnTo>
                  <a:pt x="4199252" y="3069945"/>
                </a:lnTo>
                <a:lnTo>
                  <a:pt x="4886514" y="2182554"/>
                </a:lnTo>
                <a:lnTo>
                  <a:pt x="5817988" y="2010272"/>
                </a:lnTo>
                <a:lnTo>
                  <a:pt x="5827248" y="2009526"/>
                </a:lnTo>
                <a:lnTo>
                  <a:pt x="6652279" y="1694784"/>
                </a:lnTo>
                <a:cubicBezTo>
                  <a:pt x="6969070" y="1485420"/>
                  <a:pt x="7219885" y="1443994"/>
                  <a:pt x="7601696" y="1111080"/>
                </a:cubicBezTo>
                <a:lnTo>
                  <a:pt x="8181173" y="579056"/>
                </a:lnTo>
                <a:lnTo>
                  <a:pt x="8690553" y="0"/>
                </a:lnTo>
              </a:path>
            </a:pathLst>
          </a:custGeom>
          <a:ln w="190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6938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877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814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7752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4689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1627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8563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5499" algn="l" defTabSz="45693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6938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10BADF-2BD5-5943-7C90-63BF4B316946}"/>
              </a:ext>
            </a:extLst>
          </p:cNvPr>
          <p:cNvSpPr txBox="1"/>
          <p:nvPr/>
        </p:nvSpPr>
        <p:spPr>
          <a:xfrm>
            <a:off x="9539144" y="537668"/>
            <a:ext cx="1432188" cy="656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2021</a:t>
            </a:r>
          </a:p>
          <a:p>
            <a:pPr lvl="0"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Certified “Top Employer of the year” in US, UK and Spain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990FEA-0B28-96F6-7091-EDB9BC5468A6}"/>
              </a:ext>
            </a:extLst>
          </p:cNvPr>
          <p:cNvSpPr/>
          <p:nvPr/>
        </p:nvSpPr>
        <p:spPr>
          <a:xfrm>
            <a:off x="1204267" y="4497460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E76959-258E-B08B-5209-20F1FAFD5F45}"/>
              </a:ext>
            </a:extLst>
          </p:cNvPr>
          <p:cNvSpPr/>
          <p:nvPr/>
        </p:nvSpPr>
        <p:spPr>
          <a:xfrm>
            <a:off x="2681653" y="4294608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76AA7A-AABF-C3D7-0522-BA723DCFF597}"/>
              </a:ext>
            </a:extLst>
          </p:cNvPr>
          <p:cNvSpPr/>
          <p:nvPr/>
        </p:nvSpPr>
        <p:spPr>
          <a:xfrm>
            <a:off x="3041588" y="4254909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A9151A-FD4A-31FD-D99C-B0BF1404B9B3}"/>
              </a:ext>
            </a:extLst>
          </p:cNvPr>
          <p:cNvSpPr/>
          <p:nvPr/>
        </p:nvSpPr>
        <p:spPr>
          <a:xfrm>
            <a:off x="6743187" y="2468685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2433DC-339D-55D4-5A79-6AEEE2F17E7C}"/>
              </a:ext>
            </a:extLst>
          </p:cNvPr>
          <p:cNvSpPr/>
          <p:nvPr/>
        </p:nvSpPr>
        <p:spPr>
          <a:xfrm>
            <a:off x="7086757" y="2406344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E903B-ACDE-E386-8696-C47A285B5947}"/>
              </a:ext>
            </a:extLst>
          </p:cNvPr>
          <p:cNvSpPr txBox="1"/>
          <p:nvPr/>
        </p:nvSpPr>
        <p:spPr>
          <a:xfrm>
            <a:off x="1225533" y="4809691"/>
            <a:ext cx="1058332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2002</a:t>
            </a:r>
          </a:p>
          <a:p>
            <a:r>
              <a:rPr lang="en-US" sz="1000">
                <a:latin typeface="+mn-lt"/>
              </a:rPr>
              <a:t>Launched UST’s Colors Program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99D5D3-4663-06BE-5567-58B2E571D4D7}"/>
              </a:ext>
            </a:extLst>
          </p:cNvPr>
          <p:cNvGrpSpPr/>
          <p:nvPr/>
        </p:nvGrpSpPr>
        <p:grpSpPr>
          <a:xfrm>
            <a:off x="10202275" y="4864524"/>
            <a:ext cx="1801302" cy="1141537"/>
            <a:chOff x="10086044" y="4843757"/>
            <a:chExt cx="1801302" cy="114153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5C17E4-3A21-29CC-603D-4BACC517434B}"/>
                </a:ext>
              </a:extLst>
            </p:cNvPr>
            <p:cNvSpPr/>
            <p:nvPr userDrawn="1"/>
          </p:nvSpPr>
          <p:spPr>
            <a:xfrm>
              <a:off x="10086044" y="4843757"/>
              <a:ext cx="1801302" cy="114153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bg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A" sz="1800">
                <a:latin typeface="+mn-lt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1BB73F9-9174-912D-E880-CFEEA519CDE3}"/>
                </a:ext>
              </a:extLst>
            </p:cNvPr>
            <p:cNvGrpSpPr/>
            <p:nvPr userDrawn="1"/>
          </p:nvGrpSpPr>
          <p:grpSpPr>
            <a:xfrm>
              <a:off x="10299557" y="5015198"/>
              <a:ext cx="1376943" cy="190821"/>
              <a:chOff x="10377348" y="4992493"/>
              <a:chExt cx="1376943" cy="190821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3EA049-020E-966E-290B-67BDD4710BC0}"/>
                  </a:ext>
                </a:extLst>
              </p:cNvPr>
              <p:cNvSpPr txBox="1"/>
              <p:nvPr/>
            </p:nvSpPr>
            <p:spPr>
              <a:xfrm>
                <a:off x="10540817" y="4992493"/>
                <a:ext cx="1213474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Corporate milestones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AAC0D76-719E-1D7A-19D8-6D883C9B3A2B}"/>
                  </a:ext>
                </a:extLst>
              </p:cNvPr>
              <p:cNvSpPr/>
              <p:nvPr/>
            </p:nvSpPr>
            <p:spPr>
              <a:xfrm>
                <a:off x="10377348" y="5037611"/>
                <a:ext cx="100584" cy="10058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BD2D279-36FD-9999-AEEE-5EFAD8B1A26E}"/>
                </a:ext>
              </a:extLst>
            </p:cNvPr>
            <p:cNvGrpSpPr/>
            <p:nvPr userDrawn="1"/>
          </p:nvGrpSpPr>
          <p:grpSpPr>
            <a:xfrm>
              <a:off x="10299557" y="5223595"/>
              <a:ext cx="655591" cy="190821"/>
              <a:chOff x="10377348" y="5265668"/>
              <a:chExt cx="655591" cy="190821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CFFF15E-A30B-1E40-B325-1C7D6CBD13CE}"/>
                  </a:ext>
                </a:extLst>
              </p:cNvPr>
              <p:cNvSpPr txBox="1"/>
              <p:nvPr/>
            </p:nvSpPr>
            <p:spPr>
              <a:xfrm>
                <a:off x="10540817" y="5265668"/>
                <a:ext cx="492122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Offerings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2831879-8453-75F0-48D0-2B6DD475DE62}"/>
                  </a:ext>
                </a:extLst>
              </p:cNvPr>
              <p:cNvSpPr/>
              <p:nvPr/>
            </p:nvSpPr>
            <p:spPr>
              <a:xfrm>
                <a:off x="10377348" y="5310786"/>
                <a:ext cx="100584" cy="10058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0C74C2F-B5F2-3369-D6BA-17373B473B8F}"/>
                </a:ext>
              </a:extLst>
            </p:cNvPr>
            <p:cNvGrpSpPr/>
            <p:nvPr userDrawn="1"/>
          </p:nvGrpSpPr>
          <p:grpSpPr>
            <a:xfrm>
              <a:off x="10299557" y="5431992"/>
              <a:ext cx="758184" cy="190821"/>
              <a:chOff x="10377348" y="5538843"/>
              <a:chExt cx="758184" cy="1908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7F0BA1D-5A8B-5007-03CA-A7DFF702DF09}"/>
                  </a:ext>
                </a:extLst>
              </p:cNvPr>
              <p:cNvSpPr txBox="1"/>
              <p:nvPr/>
            </p:nvSpPr>
            <p:spPr>
              <a:xfrm>
                <a:off x="10540817" y="5538843"/>
                <a:ext cx="594715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Employees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937BC4C-4C1A-BF7B-46D9-2021C012061E}"/>
                  </a:ext>
                </a:extLst>
              </p:cNvPr>
              <p:cNvSpPr/>
              <p:nvPr/>
            </p:nvSpPr>
            <p:spPr>
              <a:xfrm>
                <a:off x="10377348" y="5583961"/>
                <a:ext cx="100584" cy="10058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1E41CCD-ADFB-6617-A0E9-965E4685E0E3}"/>
                </a:ext>
              </a:extLst>
            </p:cNvPr>
            <p:cNvGrpSpPr/>
            <p:nvPr userDrawn="1"/>
          </p:nvGrpSpPr>
          <p:grpSpPr>
            <a:xfrm>
              <a:off x="10299557" y="5640390"/>
              <a:ext cx="1035503" cy="190821"/>
              <a:chOff x="10377348" y="5819712"/>
              <a:chExt cx="1035503" cy="190821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009F6C0-A2B8-CD96-C719-249EA423267E}"/>
                  </a:ext>
                </a:extLst>
              </p:cNvPr>
              <p:cNvSpPr txBox="1"/>
              <p:nvPr/>
            </p:nvSpPr>
            <p:spPr>
              <a:xfrm>
                <a:off x="10540817" y="5819712"/>
                <a:ext cx="872034" cy="190821"/>
              </a:xfrm>
              <a:prstGeom prst="rect">
                <a:avLst/>
              </a:prstGeom>
              <a:noFill/>
            </p:spPr>
            <p:txBody>
              <a:bodyPr wrap="none" lIns="0" tIns="18288" rIns="0" bIns="18288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E7E6E6">
                        <a:lumMod val="1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Annual Revenue</a:t>
                </a:r>
                <a:endParaRPr kumimoji="0" lang="en-IN" sz="10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A8C7A58-8294-935F-FA17-7280528C5154}"/>
                  </a:ext>
                </a:extLst>
              </p:cNvPr>
              <p:cNvSpPr/>
              <p:nvPr/>
            </p:nvSpPr>
            <p:spPr>
              <a:xfrm>
                <a:off x="10377348" y="5864830"/>
                <a:ext cx="100584" cy="10058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rgbClr val="000000"/>
              </a:effectRef>
              <a:fontRef idx="minor">
                <a:schemeClr val="bg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A" sz="1600">
                  <a:latin typeface="+mn-lt"/>
                </a:endParaRPr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75DC1A7-FD30-71BF-6EAE-F9E1AD421A5E}"/>
              </a:ext>
            </a:extLst>
          </p:cNvPr>
          <p:cNvSpPr txBox="1"/>
          <p:nvPr/>
        </p:nvSpPr>
        <p:spPr>
          <a:xfrm>
            <a:off x="6153376" y="5307044"/>
            <a:ext cx="1069498" cy="6565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2017</a:t>
            </a:r>
          </a:p>
          <a:p>
            <a:pPr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Launched CyberProof and UST SmartOps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3B5DD2-CF42-E120-0DA5-229905FE7B1B}"/>
              </a:ext>
            </a:extLst>
          </p:cNvPr>
          <p:cNvSpPr txBox="1"/>
          <p:nvPr/>
        </p:nvSpPr>
        <p:spPr>
          <a:xfrm>
            <a:off x="8405414" y="1290666"/>
            <a:ext cx="972440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Glassdoor Best Places to Work</a:t>
            </a:r>
            <a:endParaRPr kumimoji="0" lang="en-US" sz="9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272A72-AFA3-184D-20F2-ED036D018E3E}"/>
              </a:ext>
            </a:extLst>
          </p:cNvPr>
          <p:cNvSpPr txBox="1"/>
          <p:nvPr/>
        </p:nvSpPr>
        <p:spPr>
          <a:xfrm>
            <a:off x="7681931" y="648966"/>
            <a:ext cx="1070482" cy="5027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2019</a:t>
            </a:r>
          </a:p>
          <a:p>
            <a:r>
              <a:rPr lang="en-US" sz="1000">
                <a:latin typeface="+mn-lt"/>
              </a:rPr>
              <a:t>Launched UST HealthProof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A93D87F-BF4B-D338-C73F-016998A4E572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8477987" y="1857798"/>
            <a:ext cx="0" cy="29812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752093B-AE01-6684-6090-045B628E5BED}"/>
              </a:ext>
            </a:extLst>
          </p:cNvPr>
          <p:cNvSpPr txBox="1"/>
          <p:nvPr/>
        </p:nvSpPr>
        <p:spPr>
          <a:xfrm>
            <a:off x="8802541" y="5064632"/>
            <a:ext cx="1297184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pPr marL="0" algn="l" defTabSz="914400" rtl="0" eaLnBrk="1" latinLnBrk="0" hangingPunct="1"/>
            <a:r>
              <a:rPr lang="en-US" sz="1000" b="0" kern="1200">
                <a:solidFill>
                  <a:srgbClr val="231F20"/>
                </a:solidFill>
                <a:latin typeface="+mn-lt"/>
                <a:ea typeface="+mn-ea"/>
                <a:cs typeface="+mn-cs"/>
              </a:rPr>
              <a:t>Temasek follow on investment of $120M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7E52A0C-9F81-69FD-9360-E7571180E54E}"/>
              </a:ext>
            </a:extLst>
          </p:cNvPr>
          <p:cNvCxnSpPr>
            <a:cxnSpLocks/>
          </p:cNvCxnSpPr>
          <p:nvPr/>
        </p:nvCxnSpPr>
        <p:spPr>
          <a:xfrm flipV="1">
            <a:off x="8141216" y="2334434"/>
            <a:ext cx="0" cy="300533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15BA047-1689-4E01-6731-1FF89F9A2532}"/>
              </a:ext>
            </a:extLst>
          </p:cNvPr>
          <p:cNvSpPr/>
          <p:nvPr/>
        </p:nvSpPr>
        <p:spPr>
          <a:xfrm>
            <a:off x="8068643" y="2263522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F9CA13-ED27-EA33-3551-2505E17A922C}"/>
              </a:ext>
            </a:extLst>
          </p:cNvPr>
          <p:cNvSpPr txBox="1"/>
          <p:nvPr/>
        </p:nvSpPr>
        <p:spPr>
          <a:xfrm>
            <a:off x="8068643" y="5450476"/>
            <a:ext cx="1164814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r>
              <a:rPr lang="en-US" sz="1000">
                <a:latin typeface="+mn-lt"/>
              </a:rPr>
              <a:t>Acquired </a:t>
            </a:r>
          </a:p>
          <a:p>
            <a:r>
              <a:rPr lang="en-US" sz="1000">
                <a:latin typeface="+mn-lt"/>
              </a:rPr>
              <a:t>Advalent healthcare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A5E825-3C35-1ED7-DD55-8D2568156911}"/>
              </a:ext>
            </a:extLst>
          </p:cNvPr>
          <p:cNvSpPr txBox="1"/>
          <p:nvPr/>
        </p:nvSpPr>
        <p:spPr>
          <a:xfrm>
            <a:off x="9911051" y="4200740"/>
            <a:ext cx="1242511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2022</a:t>
            </a:r>
          </a:p>
          <a:p>
            <a:pPr lvl="0">
              <a:spcAft>
                <a:spcPts val="200"/>
              </a:spcAft>
              <a:defRPr/>
            </a:pPr>
            <a:r>
              <a:rPr lang="en-US" sz="1000" b="0">
                <a:solidFill>
                  <a:srgbClr val="231F20"/>
                </a:solidFill>
                <a:latin typeface="+mn-lt"/>
                <a:cs typeface="Arial"/>
              </a:rPr>
              <a:t>30,000+ employees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+mn-lt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5A4D86-948F-9F7E-ADED-81036C9CEA9A}"/>
              </a:ext>
            </a:extLst>
          </p:cNvPr>
          <p:cNvCxnSpPr>
            <a:cxnSpLocks/>
          </p:cNvCxnSpPr>
          <p:nvPr/>
        </p:nvCxnSpPr>
        <p:spPr>
          <a:xfrm flipV="1">
            <a:off x="386958" y="4942445"/>
            <a:ext cx="0" cy="259152"/>
          </a:xfrm>
          <a:prstGeom prst="line">
            <a:avLst/>
          </a:prstGeom>
          <a:ln w="12700" cap="sq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540C531-695B-0FC4-833C-6C3920B1DBCA}"/>
              </a:ext>
            </a:extLst>
          </p:cNvPr>
          <p:cNvSpPr txBox="1"/>
          <p:nvPr/>
        </p:nvSpPr>
        <p:spPr>
          <a:xfrm>
            <a:off x="645312" y="3660228"/>
            <a:ext cx="929571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1999</a:t>
            </a:r>
          </a:p>
          <a:p>
            <a:r>
              <a:rPr lang="en-US" sz="1000" b="0">
                <a:solidFill>
                  <a:srgbClr val="231F20"/>
                </a:solidFill>
                <a:latin typeface="+mn-lt"/>
              </a:rPr>
              <a:t>Born digital with 14 employees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AF3D00-547D-A992-D1D6-45381BF4353B}"/>
              </a:ext>
            </a:extLst>
          </p:cNvPr>
          <p:cNvSpPr/>
          <p:nvPr/>
        </p:nvSpPr>
        <p:spPr>
          <a:xfrm>
            <a:off x="314385" y="4817161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0824AE-9F5E-CC76-7281-E876F49CF182}"/>
              </a:ext>
            </a:extLst>
          </p:cNvPr>
          <p:cNvSpPr txBox="1"/>
          <p:nvPr/>
        </p:nvSpPr>
        <p:spPr>
          <a:xfrm>
            <a:off x="4964057" y="1888451"/>
            <a:ext cx="773710" cy="502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2016</a:t>
            </a:r>
          </a:p>
          <a:p>
            <a:r>
              <a:rPr lang="en-US" sz="1000">
                <a:latin typeface="+mn-lt"/>
              </a:rPr>
              <a:t>Acquired BlueConch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9751941-3676-6228-C79D-0609275ABD99}"/>
              </a:ext>
            </a:extLst>
          </p:cNvPr>
          <p:cNvCxnSpPr>
            <a:cxnSpLocks/>
          </p:cNvCxnSpPr>
          <p:nvPr/>
        </p:nvCxnSpPr>
        <p:spPr>
          <a:xfrm flipV="1">
            <a:off x="5033622" y="2481568"/>
            <a:ext cx="0" cy="93934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E332CCA-2974-852F-0312-D53639F35555}"/>
              </a:ext>
            </a:extLst>
          </p:cNvPr>
          <p:cNvSpPr/>
          <p:nvPr/>
        </p:nvSpPr>
        <p:spPr>
          <a:xfrm>
            <a:off x="4964057" y="3382877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6ED213-D898-C0DD-E48C-AADE55734E26}"/>
              </a:ext>
            </a:extLst>
          </p:cNvPr>
          <p:cNvSpPr txBox="1"/>
          <p:nvPr/>
        </p:nvSpPr>
        <p:spPr>
          <a:xfrm>
            <a:off x="4359273" y="3999766"/>
            <a:ext cx="1161552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2014</a:t>
            </a:r>
          </a:p>
          <a:p>
            <a:r>
              <a:rPr lang="en-US" sz="1000">
                <a:latin typeface="+mn-lt"/>
              </a:rPr>
              <a:t>Acquired Moonraft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CCCF105-C9C3-31F7-1364-D604B7D8408B}"/>
              </a:ext>
            </a:extLst>
          </p:cNvPr>
          <p:cNvCxnSpPr>
            <a:cxnSpLocks/>
          </p:cNvCxnSpPr>
          <p:nvPr/>
        </p:nvCxnSpPr>
        <p:spPr>
          <a:xfrm flipV="1">
            <a:off x="4431846" y="3607399"/>
            <a:ext cx="0" cy="338769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068745C7-BD13-ECB6-7B9D-393CB8D4B593}"/>
              </a:ext>
            </a:extLst>
          </p:cNvPr>
          <p:cNvSpPr/>
          <p:nvPr/>
        </p:nvSpPr>
        <p:spPr>
          <a:xfrm>
            <a:off x="4359273" y="3508398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878223-05C9-2FF9-BF67-727B5E9A61BD}"/>
              </a:ext>
            </a:extLst>
          </p:cNvPr>
          <p:cNvSpPr txBox="1"/>
          <p:nvPr/>
        </p:nvSpPr>
        <p:spPr>
          <a:xfrm>
            <a:off x="10258645" y="3224331"/>
            <a:ext cx="985941" cy="8758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2023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Acquired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Prodigy Labs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Advantasure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MobileComm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29FD5FA-62DA-4B8F-AFC6-D9DFF2B35EF1}"/>
              </a:ext>
            </a:extLst>
          </p:cNvPr>
          <p:cNvCxnSpPr>
            <a:cxnSpLocks/>
          </p:cNvCxnSpPr>
          <p:nvPr/>
        </p:nvCxnSpPr>
        <p:spPr>
          <a:xfrm flipV="1">
            <a:off x="10331217" y="1590631"/>
            <a:ext cx="0" cy="150997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43ADF280-CBA0-B30A-9F89-D7B94B9BB1F2}"/>
              </a:ext>
            </a:extLst>
          </p:cNvPr>
          <p:cNvSpPr/>
          <p:nvPr/>
        </p:nvSpPr>
        <p:spPr>
          <a:xfrm>
            <a:off x="10258644" y="1491630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36B0A9-DCB1-57D3-592D-AD11E280A50E}"/>
              </a:ext>
            </a:extLst>
          </p:cNvPr>
          <p:cNvSpPr txBox="1"/>
          <p:nvPr/>
        </p:nvSpPr>
        <p:spPr>
          <a:xfrm>
            <a:off x="346451" y="5285922"/>
            <a:ext cx="1620834" cy="720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1999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Founded in Aliso Viejo, CA and Trivandrum, India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1000" b="0">
                <a:solidFill>
                  <a:srgbClr val="231F20"/>
                </a:solidFill>
                <a:latin typeface="+mn-lt"/>
              </a:rPr>
              <a:t>Majority-owned by family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5ED71A7-5CE9-F959-2C5A-7636676ED42F}"/>
              </a:ext>
            </a:extLst>
          </p:cNvPr>
          <p:cNvCxnSpPr>
            <a:cxnSpLocks/>
          </p:cNvCxnSpPr>
          <p:nvPr/>
        </p:nvCxnSpPr>
        <p:spPr>
          <a:xfrm flipV="1">
            <a:off x="682617" y="4238413"/>
            <a:ext cx="0" cy="457200"/>
          </a:xfrm>
          <a:prstGeom prst="line">
            <a:avLst/>
          </a:prstGeom>
          <a:ln w="12700" cap="sq"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DE5F236-C813-FCE8-5426-7D1F8A179BC9}"/>
              </a:ext>
            </a:extLst>
          </p:cNvPr>
          <p:cNvSpPr txBox="1"/>
          <p:nvPr/>
        </p:nvSpPr>
        <p:spPr>
          <a:xfrm>
            <a:off x="6451103" y="4241355"/>
            <a:ext cx="917101" cy="5283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2017</a:t>
            </a:r>
          </a:p>
          <a:p>
            <a:pPr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Acquired </a:t>
            </a:r>
          </a:p>
          <a:p>
            <a:pPr>
              <a:spcAft>
                <a:spcPts val="200"/>
              </a:spcAft>
              <a:defRPr/>
            </a:pPr>
            <a:r>
              <a:rPr lang="en-US" sz="1000">
                <a:latin typeface="+mn-lt"/>
              </a:rPr>
              <a:t>Round Feather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0B35D4F-7367-5EF6-E6C2-E413316AA3CF}"/>
              </a:ext>
            </a:extLst>
          </p:cNvPr>
          <p:cNvCxnSpPr>
            <a:cxnSpLocks/>
          </p:cNvCxnSpPr>
          <p:nvPr/>
        </p:nvCxnSpPr>
        <p:spPr>
          <a:xfrm flipV="1">
            <a:off x="9266150" y="2107067"/>
            <a:ext cx="0" cy="2292986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544AEF0-66FF-FCEF-AB14-8DB967410F26}"/>
              </a:ext>
            </a:extLst>
          </p:cNvPr>
          <p:cNvSpPr txBox="1"/>
          <p:nvPr/>
        </p:nvSpPr>
        <p:spPr>
          <a:xfrm>
            <a:off x="9193577" y="4475798"/>
            <a:ext cx="1001145" cy="3488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2020</a:t>
            </a:r>
          </a:p>
          <a:p>
            <a:pPr marL="0" algn="l" defTabSz="914400" rtl="0" eaLnBrk="1" latinLnBrk="0" hangingPunct="1"/>
            <a:r>
              <a:rPr lang="en-US" sz="1000" b="0" kern="1200">
                <a:solidFill>
                  <a:srgbClr val="231F20"/>
                </a:solidFill>
                <a:latin typeface="+mn-lt"/>
                <a:ea typeface="+mn-ea"/>
                <a:cs typeface="+mn-cs"/>
              </a:rPr>
              <a:t>Revenue of $1B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0B0280A-70C5-6ED3-592F-6BBEC5EA5378}"/>
              </a:ext>
            </a:extLst>
          </p:cNvPr>
          <p:cNvSpPr/>
          <p:nvPr/>
        </p:nvSpPr>
        <p:spPr>
          <a:xfrm>
            <a:off x="610044" y="4698614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895E2D0-C2F0-A1E7-35F9-BA11524CB3FA}"/>
              </a:ext>
            </a:extLst>
          </p:cNvPr>
          <p:cNvCxnSpPr>
            <a:cxnSpLocks/>
          </p:cNvCxnSpPr>
          <p:nvPr/>
        </p:nvCxnSpPr>
        <p:spPr>
          <a:xfrm flipV="1">
            <a:off x="3556271" y="4135861"/>
            <a:ext cx="0" cy="64008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10FB591C-91CF-DD99-4201-251554BA473E}"/>
              </a:ext>
            </a:extLst>
          </p:cNvPr>
          <p:cNvSpPr/>
          <p:nvPr/>
        </p:nvSpPr>
        <p:spPr>
          <a:xfrm>
            <a:off x="3493530" y="3995529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75BF37-D6E6-C6EA-FF89-29748E975164}"/>
              </a:ext>
            </a:extLst>
          </p:cNvPr>
          <p:cNvCxnSpPr>
            <a:cxnSpLocks/>
          </p:cNvCxnSpPr>
          <p:nvPr/>
        </p:nvCxnSpPr>
        <p:spPr>
          <a:xfrm flipH="1" flipV="1">
            <a:off x="4018144" y="3159559"/>
            <a:ext cx="1746" cy="579573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8CA81BD-8533-81B0-EE20-45193416DBCF}"/>
              </a:ext>
            </a:extLst>
          </p:cNvPr>
          <p:cNvSpPr/>
          <p:nvPr/>
        </p:nvSpPr>
        <p:spPr>
          <a:xfrm>
            <a:off x="3947317" y="3733816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2000">
                <a:latin typeface="+mn-lt"/>
              </a:rPr>
              <a:t> </a:t>
            </a:r>
            <a:endParaRPr lang="en-UA" sz="2000">
              <a:latin typeface="+mn-lt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530D35-94EC-F886-E58C-11D55DA445F6}"/>
              </a:ext>
            </a:extLst>
          </p:cNvPr>
          <p:cNvCxnSpPr>
            <a:cxnSpLocks/>
          </p:cNvCxnSpPr>
          <p:nvPr/>
        </p:nvCxnSpPr>
        <p:spPr>
          <a:xfrm flipV="1">
            <a:off x="6225949" y="3100601"/>
            <a:ext cx="0" cy="2093681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D0D5BEA2-9BB4-D01B-20CF-1B8929538A15}"/>
              </a:ext>
            </a:extLst>
          </p:cNvPr>
          <p:cNvSpPr/>
          <p:nvPr/>
        </p:nvSpPr>
        <p:spPr>
          <a:xfrm>
            <a:off x="6153376" y="2955457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FFCC117-146B-5DCF-A2F9-A2509500EE06}"/>
              </a:ext>
            </a:extLst>
          </p:cNvPr>
          <p:cNvCxnSpPr>
            <a:cxnSpLocks/>
          </p:cNvCxnSpPr>
          <p:nvPr/>
        </p:nvCxnSpPr>
        <p:spPr>
          <a:xfrm flipV="1">
            <a:off x="6519386" y="2819647"/>
            <a:ext cx="4290" cy="1345173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3FDEB83-7401-B50B-09BB-D307F9BEC965}"/>
              </a:ext>
            </a:extLst>
          </p:cNvPr>
          <p:cNvSpPr/>
          <p:nvPr/>
        </p:nvSpPr>
        <p:spPr>
          <a:xfrm>
            <a:off x="6451103" y="2674503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403B19E-5347-E3E4-6393-EF6550A6306F}"/>
              </a:ext>
            </a:extLst>
          </p:cNvPr>
          <p:cNvCxnSpPr>
            <a:cxnSpLocks/>
          </p:cNvCxnSpPr>
          <p:nvPr/>
        </p:nvCxnSpPr>
        <p:spPr>
          <a:xfrm flipV="1">
            <a:off x="7754504" y="1202681"/>
            <a:ext cx="0" cy="112777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F1839482-92ED-8ABD-BA1B-21E3F5C93E22}"/>
              </a:ext>
            </a:extLst>
          </p:cNvPr>
          <p:cNvSpPr/>
          <p:nvPr/>
        </p:nvSpPr>
        <p:spPr>
          <a:xfrm>
            <a:off x="7681931" y="2301070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3A5915D-0D97-8063-D729-2EDD7443BA24}"/>
              </a:ext>
            </a:extLst>
          </p:cNvPr>
          <p:cNvSpPr/>
          <p:nvPr/>
        </p:nvSpPr>
        <p:spPr>
          <a:xfrm>
            <a:off x="8405414" y="2155926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A931C29-587F-90F3-B7B4-24EDB1EBBBA0}"/>
              </a:ext>
            </a:extLst>
          </p:cNvPr>
          <p:cNvCxnSpPr>
            <a:cxnSpLocks/>
          </p:cNvCxnSpPr>
          <p:nvPr/>
        </p:nvCxnSpPr>
        <p:spPr>
          <a:xfrm flipV="1">
            <a:off x="8864481" y="2214950"/>
            <a:ext cx="0" cy="2747355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03012A3-0D3A-C529-5209-A431488A66AE}"/>
              </a:ext>
            </a:extLst>
          </p:cNvPr>
          <p:cNvSpPr/>
          <p:nvPr/>
        </p:nvSpPr>
        <p:spPr>
          <a:xfrm>
            <a:off x="8802541" y="2069806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D434289-72D7-B6B2-0716-9D6DEE022F68}"/>
              </a:ext>
            </a:extLst>
          </p:cNvPr>
          <p:cNvSpPr/>
          <p:nvPr/>
        </p:nvSpPr>
        <p:spPr>
          <a:xfrm>
            <a:off x="9193577" y="1956776"/>
            <a:ext cx="145146" cy="145144"/>
          </a:xfrm>
          <a:prstGeom prst="rect">
            <a:avLst/>
          </a:prstGeom>
          <a:solidFill>
            <a:srgbClr val="01B27C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F27F8AB-3370-DFE0-40B7-794658B6A06F}"/>
              </a:ext>
            </a:extLst>
          </p:cNvPr>
          <p:cNvCxnSpPr>
            <a:cxnSpLocks/>
          </p:cNvCxnSpPr>
          <p:nvPr/>
        </p:nvCxnSpPr>
        <p:spPr>
          <a:xfrm flipV="1">
            <a:off x="9611718" y="1280160"/>
            <a:ext cx="0" cy="533168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7768FB77-2E31-DBA3-B82B-B7673033A9E8}"/>
              </a:ext>
            </a:extLst>
          </p:cNvPr>
          <p:cNvSpPr/>
          <p:nvPr/>
        </p:nvSpPr>
        <p:spPr>
          <a:xfrm>
            <a:off x="9539145" y="1813328"/>
            <a:ext cx="145146" cy="145144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4BF9D8F-F31C-F669-8B2E-4C106488F3D0}"/>
              </a:ext>
            </a:extLst>
          </p:cNvPr>
          <p:cNvCxnSpPr>
            <a:cxnSpLocks/>
          </p:cNvCxnSpPr>
          <p:nvPr/>
        </p:nvCxnSpPr>
        <p:spPr>
          <a:xfrm>
            <a:off x="9983624" y="1823124"/>
            <a:ext cx="0" cy="2244977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440112E-DFFE-DFE1-DD88-1335910F3612}"/>
              </a:ext>
            </a:extLst>
          </p:cNvPr>
          <p:cNvSpPr/>
          <p:nvPr/>
        </p:nvSpPr>
        <p:spPr>
          <a:xfrm>
            <a:off x="9911051" y="1677980"/>
            <a:ext cx="145146" cy="145144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DC08667-E8D9-FDC5-FE7B-DE8B68B1B56B}"/>
              </a:ext>
            </a:extLst>
          </p:cNvPr>
          <p:cNvSpPr txBox="1"/>
          <p:nvPr/>
        </p:nvSpPr>
        <p:spPr>
          <a:xfrm>
            <a:off x="10605754" y="1795019"/>
            <a:ext cx="1441949" cy="12528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2024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Acquired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Leonardo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Strativity Group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Endeavor Consulting Group</a:t>
            </a:r>
          </a:p>
          <a:p>
            <a:pPr marL="118872" indent="-118872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231F20"/>
                </a:solidFill>
                <a:latin typeface="+mn-lt"/>
              </a:rPr>
              <a:t>Interpres Security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14EC1A0-F089-B516-09CA-D46D25DDFDD7}"/>
              </a:ext>
            </a:extLst>
          </p:cNvPr>
          <p:cNvCxnSpPr>
            <a:cxnSpLocks/>
          </p:cNvCxnSpPr>
          <p:nvPr/>
        </p:nvCxnSpPr>
        <p:spPr>
          <a:xfrm flipV="1">
            <a:off x="10697377" y="1389644"/>
            <a:ext cx="0" cy="320370"/>
          </a:xfrm>
          <a:prstGeom prst="line">
            <a:avLst/>
          </a:prstGeom>
          <a:ln>
            <a:solidFill>
              <a:srgbClr val="231F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6D4E4F2-EB60-0DC6-CFD5-C4D492774095}"/>
              </a:ext>
            </a:extLst>
          </p:cNvPr>
          <p:cNvSpPr/>
          <p:nvPr/>
        </p:nvSpPr>
        <p:spPr>
          <a:xfrm>
            <a:off x="10624804" y="1290643"/>
            <a:ext cx="145146" cy="145144"/>
          </a:xfrm>
          <a:prstGeom prst="rect">
            <a:avLst/>
          </a:prstGeom>
          <a:solidFill>
            <a:schemeClr val="accent6"/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A" sz="2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84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9F2F8409-9B9B-CE4D-A6D2-B42B785F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hidden">
          <a:xfrm>
            <a:off x="1188720" y="1234440"/>
            <a:ext cx="11003279" cy="5623559"/>
          </a:xfrm>
          <a:prstGeom prst="rect">
            <a:avLst/>
          </a:prstGeom>
          <a:solidFill>
            <a:srgbClr val="006E74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Aptos Light" panose="020B0004020202020204" pitchFamily="34" charset="0"/>
            </a:endParaRPr>
          </a:p>
        </p:txBody>
      </p:sp>
      <p:sp>
        <p:nvSpPr>
          <p:cNvPr id="9" name="UST" descr="UST">
            <a:extLst>
              <a:ext uri="{FF2B5EF4-FFF2-40B4-BE49-F238E27FC236}">
                <a16:creationId xmlns:a16="http://schemas.microsoft.com/office/drawing/2014/main" id="{2D82142E-2BFE-4214-9282-12F54DFC4566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02053" y="1585468"/>
            <a:ext cx="8686800" cy="2105012"/>
          </a:xfrm>
        </p:spPr>
        <p:txBody>
          <a:bodyPr anchor="b" anchorCtr="0"/>
          <a:lstStyle>
            <a:lvl1pPr algn="l">
              <a:defRPr sz="48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02053" y="3931920"/>
            <a:ext cx="8686800" cy="9144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404E13A-A174-144E-87D8-E5915BFAC3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2052" y="5577840"/>
            <a:ext cx="8686800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25922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6546">
          <p15:clr>
            <a:srgbClr val="FBAE40"/>
          </p15:clr>
        </p15:guide>
        <p15:guide id="3" orient="horz" pos="776">
          <p15:clr>
            <a:srgbClr val="FBAE40"/>
          </p15:clr>
        </p15:guide>
        <p15:guide id="4" pos="7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0AF58B2-47B7-814E-A6E5-ECB9608EF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hidden">
          <a:xfrm>
            <a:off x="0" y="3840480"/>
            <a:ext cx="12192000" cy="3017520"/>
          </a:xfrm>
          <a:prstGeom prst="rect">
            <a:avLst/>
          </a:prstGeom>
          <a:solidFill>
            <a:srgbClr val="ECECE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800">
              <a:latin typeface="Aptos Light" panose="020B0004020202020204" pitchFamily="34" charset="0"/>
            </a:endParaRP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8720" y="1234440"/>
            <a:ext cx="5166360" cy="2304288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8720" y="4114799"/>
            <a:ext cx="5166360" cy="6858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8720" y="5577840"/>
            <a:ext cx="5166360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57340" y="2148840"/>
            <a:ext cx="5166360" cy="4343400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</p:spTree>
    <p:extLst>
      <p:ext uri="{BB962C8B-B14F-4D97-AF65-F5344CB8AC3E}">
        <p14:creationId xmlns:p14="http://schemas.microsoft.com/office/powerpoint/2010/main" val="252910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748">
          <p15:clr>
            <a:srgbClr val="FBAE40"/>
          </p15:clr>
        </p15:guide>
        <p15:guide id="3" pos="4192">
          <p15:clr>
            <a:srgbClr val="FBAE40"/>
          </p15:clr>
        </p15:guide>
        <p15:guide id="4" pos="4004">
          <p15:clr>
            <a:srgbClr val="FBAE40"/>
          </p15:clr>
        </p15:guide>
        <p15:guide id="5" orient="horz" pos="77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7340" y="365759"/>
            <a:ext cx="5166360" cy="3200400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931152" y="2651760"/>
            <a:ext cx="4617720" cy="6858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57340" y="5577840"/>
            <a:ext cx="5166360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88720" y="1234440"/>
            <a:ext cx="5166360" cy="5257800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</p:spTree>
    <p:extLst>
      <p:ext uri="{BB962C8B-B14F-4D97-AF65-F5344CB8AC3E}">
        <p14:creationId xmlns:p14="http://schemas.microsoft.com/office/powerpoint/2010/main" val="3332199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37660" y="-1"/>
            <a:ext cx="805434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5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3081643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slide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137660" y="-1"/>
            <a:ext cx="805434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9" name="UST" descr="UST">
            <a:extLst>
              <a:ext uri="{FF2B5EF4-FFF2-40B4-BE49-F238E27FC236}">
                <a16:creationId xmlns:a16="http://schemas.microsoft.com/office/drawing/2014/main" id="{6F560B5D-F430-7088-D59F-7B7BA25ED293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2109" cy="81000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E9729B-D502-0D7F-154E-21A46B3FCB08}"/>
              </a:ext>
            </a:extLst>
          </p:cNvPr>
          <p:cNvCxnSpPr>
            <a:cxnSpLocks/>
          </p:cNvCxnSpPr>
          <p:nvPr/>
        </p:nvCxnSpPr>
        <p:spPr>
          <a:xfrm>
            <a:off x="1337946" y="371716"/>
            <a:ext cx="0" cy="792000"/>
          </a:xfrm>
          <a:prstGeom prst="line">
            <a:avLst/>
          </a:prstGeom>
          <a:ln w="1270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bg1"/>
          </a:fontRef>
        </p:style>
      </p:cxnSp>
    </p:spTree>
    <p:extLst>
      <p:ext uri="{BB962C8B-B14F-4D97-AF65-F5344CB8AC3E}">
        <p14:creationId xmlns:p14="http://schemas.microsoft.com/office/powerpoint/2010/main" val="3853376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9" descr="A picture containing sky, water, outdoor&#10;&#10;Description automatically generated">
            <a:extLst>
              <a:ext uri="{FF2B5EF4-FFF2-40B4-BE49-F238E27FC236}">
                <a16:creationId xmlns:a16="http://schemas.microsoft.com/office/drawing/2014/main" id="{EDFC6823-FF63-4F4F-9127-CAA6E3928E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" r="3839" b="3765"/>
          <a:stretch/>
        </p:blipFill>
        <p:spPr>
          <a:xfrm>
            <a:off x="0" y="0"/>
            <a:ext cx="12192000" cy="6856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6" name="UST" descr="UST">
            <a:extLst>
              <a:ext uri="{FF2B5EF4-FFF2-40B4-BE49-F238E27FC236}">
                <a16:creationId xmlns:a16="http://schemas.microsoft.com/office/drawing/2014/main" id="{EE8A81E1-DE09-7CB1-9795-9302AA213937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677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slide op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and person looking at a tablet&#10;&#10;Description automatically generated">
            <a:extLst>
              <a:ext uri="{FF2B5EF4-FFF2-40B4-BE49-F238E27FC236}">
                <a16:creationId xmlns:a16="http://schemas.microsoft.com/office/drawing/2014/main" id="{286D4F5F-2143-7413-017A-1D4DC62ACD6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1" r="20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6" name="UST" descr="UST">
            <a:extLst>
              <a:ext uri="{FF2B5EF4-FFF2-40B4-BE49-F238E27FC236}">
                <a16:creationId xmlns:a16="http://schemas.microsoft.com/office/drawing/2014/main" id="{EE8A81E1-DE09-7CB1-9795-9302AA213937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666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ver slide op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9" descr="A picture containing sky, water, outdoor&#10;&#10;Description automatically generated">
            <a:extLst>
              <a:ext uri="{FF2B5EF4-FFF2-40B4-BE49-F238E27FC236}">
                <a16:creationId xmlns:a16="http://schemas.microsoft.com/office/drawing/2014/main" id="{EDFC6823-FF63-4F4F-9127-CAA6E3928E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6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6" name="UST" descr="UST">
            <a:extLst>
              <a:ext uri="{FF2B5EF4-FFF2-40B4-BE49-F238E27FC236}">
                <a16:creationId xmlns:a16="http://schemas.microsoft.com/office/drawing/2014/main" id="{EE8A81E1-DE09-7CB1-9795-9302AA213937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86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over slide option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and person holding a box and a tablet&#10;&#10;AI-generated content may be incorrect.">
            <a:extLst>
              <a:ext uri="{FF2B5EF4-FFF2-40B4-BE49-F238E27FC236}">
                <a16:creationId xmlns:a16="http://schemas.microsoft.com/office/drawing/2014/main" id="{B92882E7-7A21-238E-ADC1-F1741657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71" t="2480" r="7585" b="2060"/>
          <a:stretch/>
        </p:blipFill>
        <p:spPr>
          <a:xfrm>
            <a:off x="-40949" y="-1"/>
            <a:ext cx="12963833" cy="86425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7946" y="1623058"/>
            <a:ext cx="4532630" cy="3737611"/>
          </a:xfrm>
          <a:solidFill>
            <a:srgbClr val="006E74"/>
          </a:solidFill>
        </p:spPr>
        <p:txBody>
          <a:bodyPr lIns="274320" tIns="274320" rIns="274320" bIns="274320" anchor="t" anchorCtr="0"/>
          <a:lstStyle>
            <a:lvl1pPr algn="l">
              <a:defRPr sz="3200" b="0" spc="0" baseline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r>
              <a:rPr lang="en-US"/>
              <a:t>[Presentation title]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630680" y="2903218"/>
            <a:ext cx="3855718" cy="1291591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[Optional subtitle]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6EBD33-E0A7-064A-B661-81AD68C0BB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30680" y="4194809"/>
            <a:ext cx="3855718" cy="91440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6" name="UST" descr="UST">
            <a:extLst>
              <a:ext uri="{FF2B5EF4-FFF2-40B4-BE49-F238E27FC236}">
                <a16:creationId xmlns:a16="http://schemas.microsoft.com/office/drawing/2014/main" id="{EE8A81E1-DE09-7CB1-9795-9302AA213937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17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107067A-FCAA-8C72-B454-ED1ACC2EC5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80062" y="2270758"/>
            <a:ext cx="5684518" cy="1372328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is Aptos Light 32pt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339DAFF-1198-F640-683F-024536A42C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62" y="3875314"/>
            <a:ext cx="5684518" cy="870583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 is Aptos Light 20pt, sentence case, two lines max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302373-182B-29E4-E443-D6C8F5F97F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062" y="4967152"/>
            <a:ext cx="5684518" cy="8741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tx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  <p:sp>
        <p:nvSpPr>
          <p:cNvPr id="14" name="UST" descr="UST">
            <a:extLst>
              <a:ext uri="{FF2B5EF4-FFF2-40B4-BE49-F238E27FC236}">
                <a16:creationId xmlns:a16="http://schemas.microsoft.com/office/drawing/2014/main" id="{D64FE565-A979-A6FD-86C3-B897AC101905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rgbClr val="231F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87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option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2BFAF5D7-E03E-9E44-ABB8-3AFA83714D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6615"/>
          </a:xfrm>
          <a:solidFill>
            <a:srgbClr val="D7E0E3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/>
              <a:t>[Click icon to insert photo]</a:t>
            </a:r>
          </a:p>
        </p:txBody>
      </p:sp>
      <p:sp>
        <p:nvSpPr>
          <p:cNvPr id="8" name="UST" descr="UST">
            <a:extLst>
              <a:ext uri="{FF2B5EF4-FFF2-40B4-BE49-F238E27FC236}">
                <a16:creationId xmlns:a16="http://schemas.microsoft.com/office/drawing/2014/main" id="{B5100F4C-957F-DD4E-8499-CC403AD1E86D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125" y="358775"/>
            <a:ext cx="731520" cy="809172"/>
          </a:xfrm>
          <a:custGeom>
            <a:avLst/>
            <a:gdLst>
              <a:gd name="T0" fmla="*/ 3605 w 3998"/>
              <a:gd name="T1" fmla="*/ 3263 h 4415"/>
              <a:gd name="T2" fmla="*/ 3605 w 3998"/>
              <a:gd name="T3" fmla="*/ 3263 h 4415"/>
              <a:gd name="T4" fmla="*/ 2969 w 3998"/>
              <a:gd name="T5" fmla="*/ 3263 h 4415"/>
              <a:gd name="T6" fmla="*/ 2969 w 3998"/>
              <a:gd name="T7" fmla="*/ 3899 h 4415"/>
              <a:gd name="T8" fmla="*/ 3605 w 3998"/>
              <a:gd name="T9" fmla="*/ 3899 h 4415"/>
              <a:gd name="T10" fmla="*/ 3605 w 3998"/>
              <a:gd name="T11" fmla="*/ 3263 h 4415"/>
              <a:gd name="T12" fmla="*/ 3450 w 3998"/>
              <a:gd name="T13" fmla="*/ 703 h 4415"/>
              <a:gd name="T14" fmla="*/ 3450 w 3998"/>
              <a:gd name="T15" fmla="*/ 703 h 4415"/>
              <a:gd name="T16" fmla="*/ 3308 w 3998"/>
              <a:gd name="T17" fmla="*/ 668 h 4415"/>
              <a:gd name="T18" fmla="*/ 3077 w 3998"/>
              <a:gd name="T19" fmla="*/ 505 h 4415"/>
              <a:gd name="T20" fmla="*/ 3308 w 3998"/>
              <a:gd name="T21" fmla="*/ 383 h 4415"/>
              <a:gd name="T22" fmla="*/ 3661 w 3998"/>
              <a:gd name="T23" fmla="*/ 530 h 4415"/>
              <a:gd name="T24" fmla="*/ 3940 w 3998"/>
              <a:gd name="T25" fmla="*/ 305 h 4415"/>
              <a:gd name="T26" fmla="*/ 3310 w 3998"/>
              <a:gd name="T27" fmla="*/ 0 h 4415"/>
              <a:gd name="T28" fmla="*/ 2629 w 3998"/>
              <a:gd name="T29" fmla="*/ 517 h 4415"/>
              <a:gd name="T30" fmla="*/ 3182 w 3998"/>
              <a:gd name="T31" fmla="*/ 1056 h 4415"/>
              <a:gd name="T32" fmla="*/ 3331 w 3998"/>
              <a:gd name="T33" fmla="*/ 1093 h 4415"/>
              <a:gd name="T34" fmla="*/ 3531 w 3998"/>
              <a:gd name="T35" fmla="*/ 1229 h 4415"/>
              <a:gd name="T36" fmla="*/ 3266 w 3998"/>
              <a:gd name="T37" fmla="*/ 1367 h 4415"/>
              <a:gd name="T38" fmla="*/ 2854 w 3998"/>
              <a:gd name="T39" fmla="*/ 1184 h 4415"/>
              <a:gd name="T40" fmla="*/ 2576 w 3998"/>
              <a:gd name="T41" fmla="*/ 1409 h 4415"/>
              <a:gd name="T42" fmla="*/ 3268 w 3998"/>
              <a:gd name="T43" fmla="*/ 1736 h 4415"/>
              <a:gd name="T44" fmla="*/ 3998 w 3998"/>
              <a:gd name="T45" fmla="*/ 1217 h 4415"/>
              <a:gd name="T46" fmla="*/ 3450 w 3998"/>
              <a:gd name="T47" fmla="*/ 703 h 4415"/>
              <a:gd name="T48" fmla="*/ 1451 w 3998"/>
              <a:gd name="T49" fmla="*/ 2778 h 4415"/>
              <a:gd name="T50" fmla="*/ 1451 w 3998"/>
              <a:gd name="T51" fmla="*/ 2778 h 4415"/>
              <a:gd name="T52" fmla="*/ 24 w 3998"/>
              <a:gd name="T53" fmla="*/ 2778 h 4415"/>
              <a:gd name="T54" fmla="*/ 24 w 3998"/>
              <a:gd name="T55" fmla="*/ 3168 h 4415"/>
              <a:gd name="T56" fmla="*/ 512 w 3998"/>
              <a:gd name="T57" fmla="*/ 3168 h 4415"/>
              <a:gd name="T58" fmla="*/ 512 w 3998"/>
              <a:gd name="T59" fmla="*/ 4415 h 4415"/>
              <a:gd name="T60" fmla="*/ 963 w 3998"/>
              <a:gd name="T61" fmla="*/ 4415 h 4415"/>
              <a:gd name="T62" fmla="*/ 963 w 3998"/>
              <a:gd name="T63" fmla="*/ 3168 h 4415"/>
              <a:gd name="T64" fmla="*/ 1451 w 3998"/>
              <a:gd name="T65" fmla="*/ 3168 h 4415"/>
              <a:gd name="T66" fmla="*/ 1451 w 3998"/>
              <a:gd name="T67" fmla="*/ 2778 h 4415"/>
              <a:gd name="T68" fmla="*/ 1026 w 3998"/>
              <a:gd name="T69" fmla="*/ 48 h 4415"/>
              <a:gd name="T70" fmla="*/ 1026 w 3998"/>
              <a:gd name="T71" fmla="*/ 48 h 4415"/>
              <a:gd name="T72" fmla="*/ 1475 w 3998"/>
              <a:gd name="T73" fmla="*/ 48 h 4415"/>
              <a:gd name="T74" fmla="*/ 1475 w 3998"/>
              <a:gd name="T75" fmla="*/ 1015 h 4415"/>
              <a:gd name="T76" fmla="*/ 741 w 3998"/>
              <a:gd name="T77" fmla="*/ 1736 h 4415"/>
              <a:gd name="T78" fmla="*/ 0 w 3998"/>
              <a:gd name="T79" fmla="*/ 1015 h 4415"/>
              <a:gd name="T80" fmla="*/ 0 w 3998"/>
              <a:gd name="T81" fmla="*/ 48 h 4415"/>
              <a:gd name="T82" fmla="*/ 449 w 3998"/>
              <a:gd name="T83" fmla="*/ 48 h 4415"/>
              <a:gd name="T84" fmla="*/ 449 w 3998"/>
              <a:gd name="T85" fmla="*/ 1018 h 4415"/>
              <a:gd name="T86" fmla="*/ 739 w 3998"/>
              <a:gd name="T87" fmla="*/ 1321 h 4415"/>
              <a:gd name="T88" fmla="*/ 1026 w 3998"/>
              <a:gd name="T89" fmla="*/ 1018 h 4415"/>
              <a:gd name="T90" fmla="*/ 1026 w 3998"/>
              <a:gd name="T91" fmla="*/ 48 h 4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8" h="4415">
                <a:moveTo>
                  <a:pt x="3605" y="3263"/>
                </a:moveTo>
                <a:lnTo>
                  <a:pt x="3605" y="3263"/>
                </a:lnTo>
                <a:lnTo>
                  <a:pt x="2969" y="3263"/>
                </a:lnTo>
                <a:lnTo>
                  <a:pt x="2969" y="3899"/>
                </a:lnTo>
                <a:lnTo>
                  <a:pt x="3605" y="3899"/>
                </a:lnTo>
                <a:lnTo>
                  <a:pt x="3605" y="3263"/>
                </a:lnTo>
                <a:close/>
                <a:moveTo>
                  <a:pt x="3450" y="703"/>
                </a:moveTo>
                <a:lnTo>
                  <a:pt x="3450" y="703"/>
                </a:lnTo>
                <a:lnTo>
                  <a:pt x="3308" y="668"/>
                </a:lnTo>
                <a:cubicBezTo>
                  <a:pt x="3149" y="629"/>
                  <a:pt x="3077" y="583"/>
                  <a:pt x="3077" y="505"/>
                </a:cubicBezTo>
                <a:cubicBezTo>
                  <a:pt x="3077" y="446"/>
                  <a:pt x="3153" y="383"/>
                  <a:pt x="3308" y="383"/>
                </a:cubicBezTo>
                <a:cubicBezTo>
                  <a:pt x="3451" y="383"/>
                  <a:pt x="3567" y="445"/>
                  <a:pt x="3661" y="530"/>
                </a:cubicBezTo>
                <a:lnTo>
                  <a:pt x="3940" y="305"/>
                </a:lnTo>
                <a:cubicBezTo>
                  <a:pt x="3822" y="109"/>
                  <a:pt x="3566" y="0"/>
                  <a:pt x="3310" y="0"/>
                </a:cubicBezTo>
                <a:cubicBezTo>
                  <a:pt x="2877" y="0"/>
                  <a:pt x="2629" y="237"/>
                  <a:pt x="2629" y="517"/>
                </a:cubicBezTo>
                <a:cubicBezTo>
                  <a:pt x="2629" y="733"/>
                  <a:pt x="2783" y="958"/>
                  <a:pt x="3182" y="1056"/>
                </a:cubicBezTo>
                <a:lnTo>
                  <a:pt x="3331" y="1093"/>
                </a:lnTo>
                <a:cubicBezTo>
                  <a:pt x="3478" y="1130"/>
                  <a:pt x="3531" y="1158"/>
                  <a:pt x="3531" y="1229"/>
                </a:cubicBezTo>
                <a:cubicBezTo>
                  <a:pt x="3531" y="1318"/>
                  <a:pt x="3414" y="1367"/>
                  <a:pt x="3266" y="1367"/>
                </a:cubicBezTo>
                <a:cubicBezTo>
                  <a:pt x="3095" y="1367"/>
                  <a:pt x="2967" y="1298"/>
                  <a:pt x="2854" y="1184"/>
                </a:cubicBezTo>
                <a:lnTo>
                  <a:pt x="2576" y="1409"/>
                </a:lnTo>
                <a:cubicBezTo>
                  <a:pt x="2697" y="1629"/>
                  <a:pt x="3012" y="1736"/>
                  <a:pt x="3268" y="1736"/>
                </a:cubicBezTo>
                <a:cubicBezTo>
                  <a:pt x="3725" y="1736"/>
                  <a:pt x="3998" y="1523"/>
                  <a:pt x="3998" y="1217"/>
                </a:cubicBezTo>
                <a:cubicBezTo>
                  <a:pt x="3998" y="985"/>
                  <a:pt x="3850" y="799"/>
                  <a:pt x="3450" y="703"/>
                </a:cubicBezTo>
                <a:close/>
                <a:moveTo>
                  <a:pt x="1451" y="2778"/>
                </a:moveTo>
                <a:lnTo>
                  <a:pt x="1451" y="2778"/>
                </a:lnTo>
                <a:lnTo>
                  <a:pt x="24" y="2778"/>
                </a:lnTo>
                <a:lnTo>
                  <a:pt x="24" y="3168"/>
                </a:lnTo>
                <a:lnTo>
                  <a:pt x="512" y="3168"/>
                </a:lnTo>
                <a:lnTo>
                  <a:pt x="512" y="4415"/>
                </a:lnTo>
                <a:lnTo>
                  <a:pt x="963" y="4415"/>
                </a:lnTo>
                <a:lnTo>
                  <a:pt x="963" y="3168"/>
                </a:lnTo>
                <a:lnTo>
                  <a:pt x="1451" y="3168"/>
                </a:lnTo>
                <a:lnTo>
                  <a:pt x="1451" y="2778"/>
                </a:lnTo>
                <a:close/>
                <a:moveTo>
                  <a:pt x="1026" y="48"/>
                </a:moveTo>
                <a:lnTo>
                  <a:pt x="1026" y="48"/>
                </a:lnTo>
                <a:lnTo>
                  <a:pt x="1475" y="48"/>
                </a:lnTo>
                <a:lnTo>
                  <a:pt x="1475" y="1015"/>
                </a:lnTo>
                <a:cubicBezTo>
                  <a:pt x="1475" y="1465"/>
                  <a:pt x="1206" y="1736"/>
                  <a:pt x="741" y="1736"/>
                </a:cubicBezTo>
                <a:cubicBezTo>
                  <a:pt x="258" y="1736"/>
                  <a:pt x="0" y="1454"/>
                  <a:pt x="0" y="1015"/>
                </a:cubicBezTo>
                <a:lnTo>
                  <a:pt x="0" y="48"/>
                </a:lnTo>
                <a:lnTo>
                  <a:pt x="449" y="48"/>
                </a:lnTo>
                <a:lnTo>
                  <a:pt x="449" y="1018"/>
                </a:lnTo>
                <a:cubicBezTo>
                  <a:pt x="449" y="1211"/>
                  <a:pt x="559" y="1321"/>
                  <a:pt x="739" y="1321"/>
                </a:cubicBezTo>
                <a:cubicBezTo>
                  <a:pt x="918" y="1321"/>
                  <a:pt x="1026" y="1211"/>
                  <a:pt x="1026" y="1018"/>
                </a:cubicBezTo>
                <a:lnTo>
                  <a:pt x="1026" y="48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107067A-FCAA-8C72-B454-ED1ACC2EC5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480062" y="2270758"/>
            <a:ext cx="5684518" cy="1372328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is Aptos Light 32pt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339DAFF-1198-F640-683F-024536A42C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0062" y="3875314"/>
            <a:ext cx="5684518" cy="870583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 is Aptos Light 20pt, sentence case, two lines max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302373-182B-29E4-E443-D6C8F5F97F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062" y="4967152"/>
            <a:ext cx="5684518" cy="87412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="1">
                <a:solidFill>
                  <a:schemeClr val="bg1"/>
                </a:solidFill>
                <a:latin typeface="Aptos Light" panose="020B0004020202020204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[Month 00, 0000]</a:t>
            </a:r>
            <a:br>
              <a:rPr lang="en-US"/>
            </a:br>
            <a:r>
              <a:rPr lang="en-US"/>
              <a:t>[Presenter Name]</a:t>
            </a:r>
            <a:br>
              <a:rPr lang="en-US"/>
            </a:br>
            <a:r>
              <a:rPr lang="en-US"/>
              <a:t>[Title]</a:t>
            </a:r>
          </a:p>
        </p:txBody>
      </p:sp>
    </p:spTree>
    <p:extLst>
      <p:ext uri="{BB962C8B-B14F-4D97-AF65-F5344CB8AC3E}">
        <p14:creationId xmlns:p14="http://schemas.microsoft.com/office/powerpoint/2010/main" val="2906669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4090">
          <p15:clr>
            <a:srgbClr val="FBAE40"/>
          </p15:clr>
        </p15:guide>
        <p15:guide id="2" pos="4004">
          <p15:clr>
            <a:srgbClr val="FBAE40"/>
          </p15:clr>
        </p15:guide>
        <p15:guide id="3" pos="4192">
          <p15:clr>
            <a:srgbClr val="FBAE40"/>
          </p15:clr>
        </p15:guide>
        <p15:guide id="4" orient="horz" pos="776">
          <p15:clr>
            <a:srgbClr val="FBAE40"/>
          </p15:clr>
        </p15:guide>
        <p15:guide id="5" pos="748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14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57432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828800"/>
            <a:ext cx="11457432" cy="4251960"/>
          </a:xfrm>
          <a:prstGeom prst="rect">
            <a:avLst/>
          </a:prstGeom>
        </p:spPr>
        <p:txBody>
          <a:bodyPr vert="horz" lIns="0" tIns="0" rIns="0" bIns="0" spcCol="30175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UST" descr="UST">
            <a:extLst>
              <a:ext uri="{FF2B5EF4-FFF2-40B4-BE49-F238E27FC236}">
                <a16:creationId xmlns:a16="http://schemas.microsoft.com/office/drawing/2014/main" id="{0C48BBCD-09F2-451F-A9A1-8D9631C8078B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365760" y="6238277"/>
            <a:ext cx="320040" cy="35409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4CF0DBC0-0449-664B-8AD9-C52EDB6E5938}"/>
              </a:ext>
            </a:extLst>
          </p:cNvPr>
          <p:cNvSpPr txBox="1"/>
          <p:nvPr userDrawn="1"/>
        </p:nvSpPr>
        <p:spPr>
          <a:xfrm>
            <a:off x="8223294" y="6402070"/>
            <a:ext cx="3142698" cy="18288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>
                <a:latin typeface="Aptos Light" panose="020B0004020202020204" pitchFamily="34" charset="0"/>
              </a:rPr>
              <a:t>Confidential and Proprietary. © 2025 UST Global Inc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6B83DCED-BA11-D543-A375-D7063D8D94E9}"/>
              </a:ext>
            </a:extLst>
          </p:cNvPr>
          <p:cNvSpPr txBox="1">
            <a:spLocks/>
          </p:cNvSpPr>
          <p:nvPr userDrawn="1"/>
        </p:nvSpPr>
        <p:spPr>
          <a:xfrm>
            <a:off x="11365992" y="6317730"/>
            <a:ext cx="457200" cy="27463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892894" rtl="0" eaLnBrk="1" latinLnBrk="0" hangingPunct="1">
              <a:defRPr sz="1000" kern="1200">
                <a:solidFill>
                  <a:schemeClr val="accent3"/>
                </a:solidFill>
                <a:latin typeface="Helvetica"/>
                <a:ea typeface="+mn-ea"/>
                <a:cs typeface="Helvetica"/>
              </a:defRPr>
            </a:lvl1pPr>
            <a:lvl2pPr marL="44644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289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340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578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3223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8681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512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7157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tx1"/>
                </a:solidFill>
                <a:latin typeface="Aptos Light" panose="020B0004020202020204" pitchFamily="34" charset="0"/>
                <a:cs typeface="Trebuchet MS"/>
              </a:rPr>
              <a:t> </a:t>
            </a:r>
            <a:fld id="{110FD68B-4EE4-9D43-89F2-B87D6C9CEE3A}" type="slidenum">
              <a:rPr lang="en-US" sz="800" smtClean="0">
                <a:solidFill>
                  <a:schemeClr val="tx1"/>
                </a:solidFill>
                <a:latin typeface="Aptos Light" panose="020B0004020202020204" pitchFamily="34" charset="0"/>
                <a:cs typeface="Trebuchet MS"/>
              </a:rPr>
              <a:pPr algn="r"/>
              <a:t>‹#›</a:t>
            </a:fld>
            <a:endParaRPr lang="en-US" sz="800">
              <a:solidFill>
                <a:schemeClr val="tx1"/>
              </a:solidFill>
              <a:latin typeface="Aptos Light" panose="020B0004020202020204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3619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>
          <p15:clr>
            <a:srgbClr val="F26B43"/>
          </p15:clr>
        </p15:guide>
        <p15:guide id="2" pos="230">
          <p15:clr>
            <a:srgbClr val="F26B43"/>
          </p15:clr>
        </p15:guide>
        <p15:guide id="3" pos="744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57432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828800"/>
            <a:ext cx="11457432" cy="4251960"/>
          </a:xfrm>
          <a:prstGeom prst="rect">
            <a:avLst/>
          </a:prstGeom>
        </p:spPr>
        <p:txBody>
          <a:bodyPr vert="horz" lIns="0" tIns="0" rIns="0" bIns="0" spcCol="30175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UST" descr="UST">
            <a:extLst>
              <a:ext uri="{FF2B5EF4-FFF2-40B4-BE49-F238E27FC236}">
                <a16:creationId xmlns:a16="http://schemas.microsoft.com/office/drawing/2014/main" id="{0C48BBCD-09F2-451F-A9A1-8D9631C8078B}"/>
              </a:ext>
            </a:extLst>
          </p:cNvPr>
          <p:cNvSpPr>
            <a:spLocks noChangeAspect="1" noEditPoints="1"/>
          </p:cNvSpPr>
          <p:nvPr/>
        </p:nvSpPr>
        <p:spPr bwMode="black">
          <a:xfrm>
            <a:off x="365760" y="6238277"/>
            <a:ext cx="320040" cy="354090"/>
          </a:xfrm>
          <a:custGeom>
            <a:avLst/>
            <a:gdLst>
              <a:gd name="T0" fmla="*/ 3605 w 4000"/>
              <a:gd name="T1" fmla="*/ 485 h 4419"/>
              <a:gd name="T2" fmla="*/ 3605 w 4000"/>
              <a:gd name="T3" fmla="*/ 485 h 4419"/>
              <a:gd name="T4" fmla="*/ 2969 w 4000"/>
              <a:gd name="T5" fmla="*/ 485 h 4419"/>
              <a:gd name="T6" fmla="*/ 2969 w 4000"/>
              <a:gd name="T7" fmla="*/ 1120 h 4419"/>
              <a:gd name="T8" fmla="*/ 3605 w 4000"/>
              <a:gd name="T9" fmla="*/ 1120 h 4419"/>
              <a:gd name="T10" fmla="*/ 3605 w 4000"/>
              <a:gd name="T11" fmla="*/ 485 h 4419"/>
              <a:gd name="T12" fmla="*/ 4000 w 4000"/>
              <a:gd name="T13" fmla="*/ 2730 h 4419"/>
              <a:gd name="T14" fmla="*/ 4000 w 4000"/>
              <a:gd name="T15" fmla="*/ 2730 h 4419"/>
              <a:gd name="T16" fmla="*/ 2574 w 4000"/>
              <a:gd name="T17" fmla="*/ 2730 h 4419"/>
              <a:gd name="T18" fmla="*/ 2574 w 4000"/>
              <a:gd name="T19" fmla="*/ 3120 h 4419"/>
              <a:gd name="T20" fmla="*/ 3062 w 4000"/>
              <a:gd name="T21" fmla="*/ 3120 h 4419"/>
              <a:gd name="T22" fmla="*/ 3062 w 4000"/>
              <a:gd name="T23" fmla="*/ 4367 h 4419"/>
              <a:gd name="T24" fmla="*/ 3512 w 4000"/>
              <a:gd name="T25" fmla="*/ 4367 h 4419"/>
              <a:gd name="T26" fmla="*/ 3512 w 4000"/>
              <a:gd name="T27" fmla="*/ 3120 h 4419"/>
              <a:gd name="T28" fmla="*/ 4000 w 4000"/>
              <a:gd name="T29" fmla="*/ 3120 h 4419"/>
              <a:gd name="T30" fmla="*/ 4000 w 4000"/>
              <a:gd name="T31" fmla="*/ 2730 h 4419"/>
              <a:gd name="T32" fmla="*/ 903 w 4000"/>
              <a:gd name="T33" fmla="*/ 3385 h 4419"/>
              <a:gd name="T34" fmla="*/ 903 w 4000"/>
              <a:gd name="T35" fmla="*/ 3385 h 4419"/>
              <a:gd name="T36" fmla="*/ 760 w 4000"/>
              <a:gd name="T37" fmla="*/ 3351 h 4419"/>
              <a:gd name="T38" fmla="*/ 530 w 4000"/>
              <a:gd name="T39" fmla="*/ 3188 h 4419"/>
              <a:gd name="T40" fmla="*/ 760 w 4000"/>
              <a:gd name="T41" fmla="*/ 3065 h 4419"/>
              <a:gd name="T42" fmla="*/ 1114 w 4000"/>
              <a:gd name="T43" fmla="*/ 3213 h 4419"/>
              <a:gd name="T44" fmla="*/ 1392 w 4000"/>
              <a:gd name="T45" fmla="*/ 2988 h 4419"/>
              <a:gd name="T46" fmla="*/ 763 w 4000"/>
              <a:gd name="T47" fmla="*/ 2683 h 4419"/>
              <a:gd name="T48" fmla="*/ 82 w 4000"/>
              <a:gd name="T49" fmla="*/ 3199 h 4419"/>
              <a:gd name="T50" fmla="*/ 635 w 4000"/>
              <a:gd name="T51" fmla="*/ 3739 h 4419"/>
              <a:gd name="T52" fmla="*/ 784 w 4000"/>
              <a:gd name="T53" fmla="*/ 3776 h 4419"/>
              <a:gd name="T54" fmla="*/ 984 w 4000"/>
              <a:gd name="T55" fmla="*/ 3912 h 4419"/>
              <a:gd name="T56" fmla="*/ 718 w 4000"/>
              <a:gd name="T57" fmla="*/ 4050 h 4419"/>
              <a:gd name="T58" fmla="*/ 307 w 4000"/>
              <a:gd name="T59" fmla="*/ 3867 h 4419"/>
              <a:gd name="T60" fmla="*/ 29 w 4000"/>
              <a:gd name="T61" fmla="*/ 4092 h 4419"/>
              <a:gd name="T62" fmla="*/ 721 w 4000"/>
              <a:gd name="T63" fmla="*/ 4419 h 4419"/>
              <a:gd name="T64" fmla="*/ 1451 w 4000"/>
              <a:gd name="T65" fmla="*/ 3900 h 4419"/>
              <a:gd name="T66" fmla="*/ 903 w 4000"/>
              <a:gd name="T67" fmla="*/ 3385 h 4419"/>
              <a:gd name="T68" fmla="*/ 1026 w 4000"/>
              <a:gd name="T69" fmla="*/ 0 h 4419"/>
              <a:gd name="T70" fmla="*/ 1026 w 4000"/>
              <a:gd name="T71" fmla="*/ 0 h 4419"/>
              <a:gd name="T72" fmla="*/ 1475 w 4000"/>
              <a:gd name="T73" fmla="*/ 0 h 4419"/>
              <a:gd name="T74" fmla="*/ 1475 w 4000"/>
              <a:gd name="T75" fmla="*/ 967 h 4419"/>
              <a:gd name="T76" fmla="*/ 741 w 4000"/>
              <a:gd name="T77" fmla="*/ 1688 h 4419"/>
              <a:gd name="T78" fmla="*/ 0 w 4000"/>
              <a:gd name="T79" fmla="*/ 967 h 4419"/>
              <a:gd name="T80" fmla="*/ 0 w 4000"/>
              <a:gd name="T81" fmla="*/ 0 h 4419"/>
              <a:gd name="T82" fmla="*/ 449 w 4000"/>
              <a:gd name="T83" fmla="*/ 0 h 4419"/>
              <a:gd name="T84" fmla="*/ 449 w 4000"/>
              <a:gd name="T85" fmla="*/ 970 h 4419"/>
              <a:gd name="T86" fmla="*/ 739 w 4000"/>
              <a:gd name="T87" fmla="*/ 1273 h 4419"/>
              <a:gd name="T88" fmla="*/ 1026 w 4000"/>
              <a:gd name="T89" fmla="*/ 970 h 4419"/>
              <a:gd name="T90" fmla="*/ 1026 w 4000"/>
              <a:gd name="T91" fmla="*/ 0 h 4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000" h="4419">
                <a:moveTo>
                  <a:pt x="3605" y="485"/>
                </a:moveTo>
                <a:lnTo>
                  <a:pt x="3605" y="485"/>
                </a:lnTo>
                <a:lnTo>
                  <a:pt x="2969" y="485"/>
                </a:lnTo>
                <a:lnTo>
                  <a:pt x="2969" y="1120"/>
                </a:lnTo>
                <a:lnTo>
                  <a:pt x="3605" y="1120"/>
                </a:lnTo>
                <a:lnTo>
                  <a:pt x="3605" y="485"/>
                </a:lnTo>
                <a:close/>
                <a:moveTo>
                  <a:pt x="4000" y="2730"/>
                </a:moveTo>
                <a:lnTo>
                  <a:pt x="4000" y="2730"/>
                </a:lnTo>
                <a:lnTo>
                  <a:pt x="2574" y="2730"/>
                </a:lnTo>
                <a:lnTo>
                  <a:pt x="2574" y="3120"/>
                </a:lnTo>
                <a:lnTo>
                  <a:pt x="3062" y="3120"/>
                </a:lnTo>
                <a:lnTo>
                  <a:pt x="3062" y="4367"/>
                </a:lnTo>
                <a:lnTo>
                  <a:pt x="3512" y="4367"/>
                </a:lnTo>
                <a:lnTo>
                  <a:pt x="3512" y="3120"/>
                </a:lnTo>
                <a:lnTo>
                  <a:pt x="4000" y="3120"/>
                </a:lnTo>
                <a:lnTo>
                  <a:pt x="4000" y="2730"/>
                </a:lnTo>
                <a:close/>
                <a:moveTo>
                  <a:pt x="903" y="3385"/>
                </a:moveTo>
                <a:lnTo>
                  <a:pt x="903" y="3385"/>
                </a:lnTo>
                <a:lnTo>
                  <a:pt x="760" y="3351"/>
                </a:lnTo>
                <a:cubicBezTo>
                  <a:pt x="602" y="3312"/>
                  <a:pt x="530" y="3266"/>
                  <a:pt x="530" y="3188"/>
                </a:cubicBezTo>
                <a:cubicBezTo>
                  <a:pt x="530" y="3129"/>
                  <a:pt x="605" y="3065"/>
                  <a:pt x="760" y="3065"/>
                </a:cubicBezTo>
                <a:cubicBezTo>
                  <a:pt x="904" y="3065"/>
                  <a:pt x="1019" y="3128"/>
                  <a:pt x="1114" y="3213"/>
                </a:cubicBezTo>
                <a:lnTo>
                  <a:pt x="1392" y="2988"/>
                </a:lnTo>
                <a:cubicBezTo>
                  <a:pt x="1275" y="2791"/>
                  <a:pt x="1019" y="2683"/>
                  <a:pt x="763" y="2683"/>
                </a:cubicBezTo>
                <a:cubicBezTo>
                  <a:pt x="329" y="2683"/>
                  <a:pt x="82" y="2920"/>
                  <a:pt x="82" y="3199"/>
                </a:cubicBezTo>
                <a:cubicBezTo>
                  <a:pt x="82" y="3416"/>
                  <a:pt x="236" y="3640"/>
                  <a:pt x="635" y="3739"/>
                </a:cubicBezTo>
                <a:lnTo>
                  <a:pt x="784" y="3776"/>
                </a:lnTo>
                <a:cubicBezTo>
                  <a:pt x="930" y="3813"/>
                  <a:pt x="984" y="3840"/>
                  <a:pt x="984" y="3912"/>
                </a:cubicBezTo>
                <a:cubicBezTo>
                  <a:pt x="984" y="4000"/>
                  <a:pt x="867" y="4050"/>
                  <a:pt x="718" y="4050"/>
                </a:cubicBezTo>
                <a:cubicBezTo>
                  <a:pt x="547" y="4050"/>
                  <a:pt x="420" y="3981"/>
                  <a:pt x="307" y="3867"/>
                </a:cubicBezTo>
                <a:lnTo>
                  <a:pt x="29" y="4092"/>
                </a:lnTo>
                <a:cubicBezTo>
                  <a:pt x="150" y="4312"/>
                  <a:pt x="465" y="4419"/>
                  <a:pt x="721" y="4419"/>
                </a:cubicBezTo>
                <a:cubicBezTo>
                  <a:pt x="1177" y="4419"/>
                  <a:pt x="1451" y="4206"/>
                  <a:pt x="1451" y="3900"/>
                </a:cubicBezTo>
                <a:cubicBezTo>
                  <a:pt x="1451" y="3668"/>
                  <a:pt x="1303" y="3482"/>
                  <a:pt x="903" y="3385"/>
                </a:cubicBezTo>
                <a:close/>
                <a:moveTo>
                  <a:pt x="1026" y="0"/>
                </a:moveTo>
                <a:lnTo>
                  <a:pt x="1026" y="0"/>
                </a:lnTo>
                <a:lnTo>
                  <a:pt x="1475" y="0"/>
                </a:lnTo>
                <a:lnTo>
                  <a:pt x="1475" y="967"/>
                </a:lnTo>
                <a:cubicBezTo>
                  <a:pt x="1475" y="1417"/>
                  <a:pt x="1206" y="1688"/>
                  <a:pt x="741" y="1688"/>
                </a:cubicBezTo>
                <a:cubicBezTo>
                  <a:pt x="258" y="1688"/>
                  <a:pt x="0" y="1406"/>
                  <a:pt x="0" y="967"/>
                </a:cubicBezTo>
                <a:lnTo>
                  <a:pt x="0" y="0"/>
                </a:lnTo>
                <a:lnTo>
                  <a:pt x="449" y="0"/>
                </a:lnTo>
                <a:lnTo>
                  <a:pt x="449" y="970"/>
                </a:lnTo>
                <a:cubicBezTo>
                  <a:pt x="449" y="1163"/>
                  <a:pt x="559" y="1273"/>
                  <a:pt x="739" y="1273"/>
                </a:cubicBezTo>
                <a:cubicBezTo>
                  <a:pt x="918" y="1273"/>
                  <a:pt x="1026" y="1163"/>
                  <a:pt x="1026" y="970"/>
                </a:cubicBezTo>
                <a:lnTo>
                  <a:pt x="102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ptos Light" panose="020B0004020202020204" pitchFamily="34" charset="0"/>
            </a:endParaRP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4CF0DBC0-0449-664B-8AD9-C52EDB6E5938}"/>
              </a:ext>
            </a:extLst>
          </p:cNvPr>
          <p:cNvSpPr txBox="1"/>
          <p:nvPr/>
        </p:nvSpPr>
        <p:spPr>
          <a:xfrm>
            <a:off x="8223294" y="6402070"/>
            <a:ext cx="3142698" cy="18288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>
                <a:latin typeface="Aptos Light" panose="020B0004020202020204" pitchFamily="34" charset="0"/>
              </a:rPr>
              <a:t>Confidential and Proprietary. © 2026 UST Global Inc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6B83DCED-BA11-D543-A375-D7063D8D94E9}"/>
              </a:ext>
            </a:extLst>
          </p:cNvPr>
          <p:cNvSpPr txBox="1">
            <a:spLocks/>
          </p:cNvSpPr>
          <p:nvPr/>
        </p:nvSpPr>
        <p:spPr>
          <a:xfrm>
            <a:off x="11365992" y="6317730"/>
            <a:ext cx="457200" cy="27463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892894" rtl="0" eaLnBrk="1" latinLnBrk="0" hangingPunct="1">
              <a:defRPr sz="1000" kern="1200">
                <a:solidFill>
                  <a:schemeClr val="accent3"/>
                </a:solidFill>
                <a:latin typeface="Helvetica"/>
                <a:ea typeface="+mn-ea"/>
                <a:cs typeface="Helvetica"/>
              </a:defRPr>
            </a:lvl1pPr>
            <a:lvl2pPr marL="44644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289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340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578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3223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8681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25127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71574" algn="l" defTabSz="892894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tx1"/>
                </a:solidFill>
                <a:latin typeface="Aptos Light" panose="020B0004020202020204" pitchFamily="34" charset="0"/>
                <a:cs typeface="Trebuchet MS"/>
              </a:rPr>
              <a:t> </a:t>
            </a:r>
            <a:fld id="{110FD68B-4EE4-9D43-89F2-B87D6C9CEE3A}" type="slidenum">
              <a:rPr lang="en-US" sz="800" smtClean="0">
                <a:solidFill>
                  <a:schemeClr val="tx1"/>
                </a:solidFill>
                <a:latin typeface="Aptos Light" panose="020B0004020202020204" pitchFamily="34" charset="0"/>
                <a:cs typeface="Trebuchet MS"/>
              </a:rPr>
              <a:pPr algn="r"/>
              <a:t>‹#›</a:t>
            </a:fld>
            <a:endParaRPr lang="en-US" sz="800">
              <a:solidFill>
                <a:schemeClr val="tx1"/>
              </a:solidFill>
              <a:latin typeface="Aptos Light" panose="020B0004020202020204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3807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88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>
          <p15:clr>
            <a:srgbClr val="F26B43"/>
          </p15:clr>
        </p15:guide>
        <p15:guide id="2" pos="230">
          <p15:clr>
            <a:srgbClr val="F26B43"/>
          </p15:clr>
        </p15:guide>
        <p15:guide id="3" pos="74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65EC-8AF7-F47A-D1B8-4EA899E8A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4B9E6C9-FA7B-870D-9B14-08BAE366A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1" r="1" b="71"/>
          <a:stretch>
            <a:fillRect/>
          </a:stretch>
        </p:blipFill>
        <p:spPr>
          <a:xfrm>
            <a:off x="4137660" y="-1"/>
            <a:ext cx="8054340" cy="6856615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8076B2A-1B35-0BEF-FA39-386E31137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946" y="1623058"/>
            <a:ext cx="4532630" cy="373761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SmartOps </a:t>
            </a:r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TelcoOps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DarkNOC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4576FC3-6715-C015-4331-811AFEDB2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680" y="2903218"/>
            <a:ext cx="3855718" cy="129159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Accelerators for Autonomous Network Operations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32694-F018-8DEE-9AC9-6B0521C51B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30680" y="4194809"/>
            <a:ext cx="3855718" cy="9144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Executive Overview  ·  August 2026</a:t>
            </a:r>
          </a:p>
        </p:txBody>
      </p:sp>
    </p:spTree>
    <p:extLst>
      <p:ext uri="{BB962C8B-B14F-4D97-AF65-F5344CB8AC3E}">
        <p14:creationId xmlns:p14="http://schemas.microsoft.com/office/powerpoint/2010/main" val="1452255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DarkNOC is the Vision.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Accelerators Get You There.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264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principles that shape every customer conversation.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41248" y="2441448"/>
            <a:ext cx="566928" cy="566928"/>
          </a:xfrm>
          <a:prstGeom prst="ellipse">
            <a:avLst/>
          </a:prstGeom>
          <a:solidFill>
            <a:srgbClr val="0196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4124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17296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 Orchestrates.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Rip and Replace.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08736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customer already has tools, platforms, or partner solutions in place, DarkNOC integrates and orchestrates them — it doesn't require starting over.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7720" y="2441448"/>
            <a:ext cx="566928" cy="566928"/>
          </a:xfrm>
          <a:prstGeom prst="ellipse">
            <a:avLst/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61772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17296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Business Impact,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Accelerator at a Time.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08736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DarkNOC is the framework that demonstrates the full vision — not a fixed product with a fixed price tag. Every accelerator solves one business problem and proves its own impact.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94192" y="2441448"/>
            <a:ext cx="566928" cy="566928"/>
          </a:xfrm>
          <a:prstGeom prst="ellipse">
            <a:avLst/>
          </a:prstGeom>
          <a:solidFill>
            <a:srgbClr val="881F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394192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172968"/>
            <a:ext cx="2935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Reference Model</a:t>
            </a:r>
            <a:endParaRPr lang="en-US" sz="16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DarkNOC.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408736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customer's journey is different. The four-phase roadmap is a reference model, not a mandatory sequence — customers enter wherever fits their maturity.</a:t>
            </a:r>
            <a:endParaRPr lang="en-U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CATALOG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Accelerators. One Catalog.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the business problem they solve — not by how they work under the hood. Each deploys independently via AWS Marketplace.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70048" cy="4251960"/>
          </a:xfrm>
          <a:prstGeom prst="roundRect">
            <a:avLst>
              <a:gd name="adj" fmla="val 2397"/>
            </a:avLst>
          </a:prstGeom>
          <a:solidFill>
            <a:srgbClr val="F6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8562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Coming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815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VISIBILITY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3447288"/>
            <a:ext cx="2212848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575304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IntelliRAN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OutageWatch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AskNOC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ServiceTrends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55848" y="1600200"/>
            <a:ext cx="2670048" cy="4251960"/>
          </a:xfrm>
          <a:prstGeom prst="roundRect">
            <a:avLst>
              <a:gd name="adj" fmla="val 2397"/>
            </a:avLst>
          </a:prstGeom>
          <a:solidFill>
            <a:srgbClr val="F6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584448" y="18562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81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5603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Why, Fast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30815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ROOT CAUSE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84448" y="3447288"/>
            <a:ext cx="2212848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84448" y="3575304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DiagnosIQ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63056" y="1600200"/>
            <a:ext cx="2670048" cy="4251960"/>
          </a:xfrm>
          <a:prstGeom prst="roundRect">
            <a:avLst>
              <a:gd name="adj" fmla="val 2397"/>
            </a:avLst>
          </a:prstGeom>
          <a:solidFill>
            <a:srgbClr val="F6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391656" y="18562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1B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5603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It Automatically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30815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&amp; GOVERNANCE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91656" y="3447288"/>
            <a:ext cx="2212848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391656" y="3575304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SelfHeal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PolicyGuard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TwinSync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70264" y="1600200"/>
            <a:ext cx="2670048" cy="4251960"/>
          </a:xfrm>
          <a:prstGeom prst="roundRect">
            <a:avLst>
              <a:gd name="adj" fmla="val 2397"/>
            </a:avLst>
          </a:prstGeom>
          <a:solidFill>
            <a:srgbClr val="F6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9198864" y="18562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C6B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25603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Strategically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9198864" y="308152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INVESTMENT &amp; RESILIENCE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98864" y="3447288"/>
            <a:ext cx="2212848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198864" y="3575304"/>
            <a:ext cx="22128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OpsChief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TrafficIQ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ResilienceIQ</a:t>
            </a:r>
            <a:endParaRPr lang="en-US" sz="11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Predict, Detect and Self-Heal.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Marketplace accelerators, chained end-to-end, turn reactive firefighting into a closed-loop, self-governing cycle — before customers ever feel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The Baseline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BaselineIQ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68096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ThresholdSense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long-term trends and self-tune alert thresholds cell by cell.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 In Real Time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IntelliRAN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30168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630168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OutageWatch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630168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cell health and network-wide performance continuously.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Root Cause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CauseIQ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signals across RAN, core, and transport into one root cause.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 &amp; Verify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SelfHeal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54312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9354312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RemediIQ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354312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safe, pre-approved fixes automatically, then verify the outcome.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50–70%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triage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MTTR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15–35%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reduction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the Right Truck, Only When Truly Needed.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combination turns alarms into business-prioritized, remotely-resolved, knowledge-driven field operations.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By Impact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ImpactIQ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raw alarms into real customer, service, and revenue impact.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Remotely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DiagnosIQ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30168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Layer 1–7 diagnostics remotely, ruling out issues that never need a visit.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What Worked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OpsMemory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92240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AskNOC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runbook that solved this before, in plain English.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Smart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DispatchIQ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354312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truck roll is genuinely needed, send the right technician, first time.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truck rolls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first-time-fix rate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cost per ticket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Capacity, Traffic and Resilience.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combination turns business intent into validated network change, so growth and disruption are engineered for in advance.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Intent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IntentIQ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business goal into concrete network policy.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Ahead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Congestion Mgmt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30168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630168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CapacityIQ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capacity needs from real demand data, and auto-provision ahead.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Safely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TwinSync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92240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PolicyGuard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320040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492240" y="320040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TrafficIQ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639312"/>
            <a:ext cx="21671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change on a digital twin, validate policy, steer traffic.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Resilient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ResilienceIQ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354312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automated failover so the network absorbs disruption.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30%+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reactive capacity spend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twin-validated pre-launch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automated failover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Leadership One Version Of The Truth.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combination turns scattered signals and dashboards into one governed, plain-English view for leadership.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Signals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OutageWatch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68096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OpsMemory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real-time health together with institutional knowledge of what's been tried.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By Impact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ImpactIQ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open issue by real customer, SLA, and revenue impact.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The Response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RemediIQ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92240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PolicyGuard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automated action as auto / approve / block, and log it.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Leadership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OpsChief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54312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9354312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AskNOC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354312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one executive view, answerable in plain English.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executive reporting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policy-compliant actions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view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team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 Storm Warning Into a Resilience Plan.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combination turns an incoming disruption — a storm, a mass event, a surge — into a rehearsed, automated response.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Signal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OutageWatch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68096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ServiceTrends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real-time conditions and long-term trends as the event approaches.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Disruption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ResilienceIQ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the network against the incoming event before it hits.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 Response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TwinSync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failover and recovery plan on a live digital twin first.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Reroute &amp; Recover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TrafficIQ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354312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354312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SelfHeal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354312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rebalance traffic and self-heal affected sites.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customer downtime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reroute affected traffic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pre-validated failover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 Growth Forecast Into Funded, Tested Capacity.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sixth combination turns a demand forecast into a capacity investment that's simulated, validated, and deployed.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Demand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IntelliRAN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68096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Congestion Mgmt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failing sites and forecast exactly where capacity will run out.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Into A Plan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IntentIQ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630168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business goal into a concrete, fundable capacity plan.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Before Spending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CapacityIQ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92240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TwinSync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investment against the digital twin before funding.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Deploy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PolicyGuard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54312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9354312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TrafficIQ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354312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compliance, then steer live traffic onto new capacity.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CapEx waste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before spend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quarters, to deploy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to Resolution, Fully Automated.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509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alarm — “RX power too low” — walked end to end, from first prediction through verified self-healing, with no manual handoffs.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335024"/>
            <a:ext cx="475488" cy="475488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68096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Failure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8096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96AC">
              <a:alpha val="12000"/>
            </a:srgbClr>
          </a:solidFill>
          <a:ln w="9525">
            <a:solidFill>
              <a:srgbClr val="019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68096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IntelliRAN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hardware trending toward failure before it becomes an outage.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10712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30168" y="1335024"/>
            <a:ext cx="475488" cy="475488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630168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Root Cause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630168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881F88">
              <a:alpha val="12000"/>
            </a:srgbClr>
          </a:solidFill>
          <a:ln w="9525">
            <a:solidFill>
              <a:srgbClr val="881F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630168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CauseIQ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30168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the alarm across RAN, transport, and core to find the true cause.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72784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92240" y="1335024"/>
            <a:ext cx="475488" cy="475488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492240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Remotely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92240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01B27C">
              <a:alpha val="12000"/>
            </a:srgbClr>
          </a:solidFill>
          <a:ln w="9525">
            <a:solidFill>
              <a:srgbClr val="01B2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92240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DiagnosIQ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2907792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fault remotely before anyone is dispatched to the site.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97112" y="2912364"/>
            <a:ext cx="219456" cy="201168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134856" y="1572768"/>
            <a:ext cx="2606040" cy="2880360"/>
          </a:xfrm>
          <a:prstGeom prst="roundRect">
            <a:avLst>
              <a:gd name="adj" fmla="val 2456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354312" y="1335024"/>
            <a:ext cx="475488" cy="475488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354312" y="1335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354312" y="190195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 &amp; Verify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9354312" y="246888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9354312" y="246888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RemediIQ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354312" y="2834640"/>
            <a:ext cx="2167128" cy="292608"/>
          </a:xfrm>
          <a:prstGeom prst="roundRect">
            <a:avLst>
              <a:gd name="adj" fmla="val 50000"/>
            </a:avLst>
          </a:prstGeom>
          <a:solidFill>
            <a:srgbClr val="FC6B5A">
              <a:alpha val="12000"/>
            </a:srgbClr>
          </a:solidFill>
          <a:ln w="9525">
            <a:solidFill>
              <a:srgbClr val="FC6B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9354312" y="28346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SelfHeal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354312" y="3273552"/>
            <a:ext cx="21671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approved fix and verify the outcome automatically.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77316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013B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48640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245864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4245864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943088" y="4846320"/>
            <a:ext cx="3697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19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7943088" y="5303520"/>
            <a:ext cx="3697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rolls</a:t>
            </a:r>
            <a:endParaRPr lang="en-US" sz="10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4175" y="4114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9174175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Reference Model — Not a Mandatory Sequence.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326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customer's journey is different. Customers already have capabilities in place and can enter at whatever maturity level fits — orchestrating from there.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2331720" cy="2331720"/>
          </a:xfrm>
          <a:prstGeom prst="roundRect">
            <a:avLst>
              <a:gd name="adj" fmla="val 2745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59052" y="2039112"/>
            <a:ext cx="585216" cy="585216"/>
          </a:xfrm>
          <a:prstGeom prst="ellipse">
            <a:avLst/>
          </a:prstGeom>
          <a:solidFill>
            <a:srgbClr val="0196A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559052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291840"/>
            <a:ext cx="192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visibility &amp; predictive alerts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3000" y="4206240"/>
            <a:ext cx="1417320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4279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accelerators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3378708"/>
            <a:ext cx="329184" cy="237744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01568" y="2331720"/>
            <a:ext cx="2331720" cy="2331720"/>
          </a:xfrm>
          <a:prstGeom prst="roundRect">
            <a:avLst>
              <a:gd name="adj" fmla="val 2745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74820" y="2039112"/>
            <a:ext cx="585216" cy="585216"/>
          </a:xfrm>
          <a:prstGeom prst="ellipse">
            <a:avLst/>
          </a:prstGeom>
          <a:solidFill>
            <a:srgbClr val="881F88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274820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602736" y="3291840"/>
            <a:ext cx="192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root cause, fast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58768" y="4206240"/>
            <a:ext cx="1417320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584448" y="4279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1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accelerators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378708"/>
            <a:ext cx="329184" cy="237744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17336" y="2331720"/>
            <a:ext cx="2331720" cy="2331720"/>
          </a:xfrm>
          <a:prstGeom prst="roundRect">
            <a:avLst>
              <a:gd name="adj" fmla="val 2745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990588" y="2039112"/>
            <a:ext cx="585216" cy="585216"/>
          </a:xfrm>
          <a:prstGeom prst="ellipse">
            <a:avLst/>
          </a:prstGeom>
          <a:solidFill>
            <a:srgbClr val="01B27C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990588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300216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18504" y="3291840"/>
            <a:ext cx="192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&amp; governed remediation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74536" y="4206240"/>
            <a:ext cx="1417320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300216" y="4279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B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accelerators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76488" y="3378708"/>
            <a:ext cx="329184" cy="237744"/>
          </a:xfrm>
          <a:prstGeom prst="rightArrow">
            <a:avLst/>
          </a:prstGeom>
          <a:solidFill>
            <a:srgbClr val="C7D6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833104" y="2331720"/>
            <a:ext cx="2331720" cy="2331720"/>
          </a:xfrm>
          <a:prstGeom prst="roundRect">
            <a:avLst>
              <a:gd name="adj" fmla="val 2745"/>
            </a:avLst>
          </a:prstGeom>
          <a:solidFill>
            <a:srgbClr val="F6FAFB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706356" y="2039112"/>
            <a:ext cx="585216" cy="585216"/>
          </a:xfrm>
          <a:prstGeom prst="ellipse">
            <a:avLst/>
          </a:prstGeom>
          <a:solidFill>
            <a:srgbClr val="FC6B5A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9706356" y="2039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13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034272" y="3291840"/>
            <a:ext cx="192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 strategy &amp; resilience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90304" y="4206240"/>
            <a:ext cx="1417320" cy="0"/>
          </a:xfrm>
          <a:prstGeom prst="line">
            <a:avLst/>
          </a:prstGeom>
          <a:noFill/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9015984" y="42793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accelerators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 →  Machine-led  →  Business-led</a:t>
            </a:r>
            <a:endParaRPr lang="en-US" sz="13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74175" y="18288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C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 txBox="1"/>
          <p:nvPr/>
        </p:nvSpPr>
        <p:spPr>
          <a:xfrm>
            <a:off x="9174175" y="18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92E270-CB01-A668-5CC9-4CCBCED35DEB}"/>
              </a:ext>
            </a:extLst>
          </p:cNvPr>
          <p:cNvGrpSpPr/>
          <p:nvPr/>
        </p:nvGrpSpPr>
        <p:grpSpPr>
          <a:xfrm>
            <a:off x="221868" y="44234"/>
            <a:ext cx="11576359" cy="6457492"/>
            <a:chOff x="319085" y="368798"/>
            <a:chExt cx="17364539" cy="9686238"/>
          </a:xfrm>
        </p:grpSpPr>
        <p:sp>
          <p:nvSpPr>
            <p:cNvPr id="8" name="Text 181">
              <a:extLst>
                <a:ext uri="{FF2B5EF4-FFF2-40B4-BE49-F238E27FC236}">
                  <a16:creationId xmlns:a16="http://schemas.microsoft.com/office/drawing/2014/main" id="{F3E57701-52D0-5907-0991-DB944269D18D}"/>
                </a:ext>
              </a:extLst>
            </p:cNvPr>
            <p:cNvSpPr txBox="1"/>
            <p:nvPr/>
          </p:nvSpPr>
          <p:spPr>
            <a:xfrm>
              <a:off x="342899" y="368798"/>
              <a:ext cx="9251777" cy="6583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2400" b="1" kern="0" spc="-8" dirty="0">
                  <a:solidFill>
                    <a:srgbClr val="231F20"/>
                  </a:solidFill>
                  <a:ea typeface="Aptos" pitchFamily="34" charset="-122"/>
                  <a:cs typeface="Aptos" pitchFamily="34" charset="-120"/>
                </a:rPr>
                <a:t>UST SmartOps – </a:t>
              </a:r>
              <a:r>
                <a:rPr lang="en-US" sz="2400" b="1" kern="0" spc="-8" dirty="0" err="1">
                  <a:solidFill>
                    <a:srgbClr val="231F20"/>
                  </a:solidFill>
                  <a:ea typeface="Aptos" pitchFamily="34" charset="-122"/>
                  <a:cs typeface="Aptos" pitchFamily="34" charset="-120"/>
                </a:rPr>
                <a:t>TelcoOps</a:t>
              </a:r>
              <a:r>
                <a:rPr lang="en-US" sz="2400" b="1" kern="0" spc="-8" dirty="0">
                  <a:solidFill>
                    <a:srgbClr val="231F20"/>
                  </a:solidFill>
                  <a:ea typeface="Aptos" pitchFamily="34" charset="-122"/>
                  <a:cs typeface="Aptos" pitchFamily="34" charset="-120"/>
                </a:rPr>
                <a:t> DarkNOC Agentic reference architecture</a:t>
              </a:r>
              <a:endParaRPr lang="en-US" sz="2400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242EBF-D00D-D92E-1B90-9D6409FBC942}"/>
                </a:ext>
              </a:extLst>
            </p:cNvPr>
            <p:cNvGrpSpPr/>
            <p:nvPr/>
          </p:nvGrpSpPr>
          <p:grpSpPr>
            <a:xfrm>
              <a:off x="319085" y="1110833"/>
              <a:ext cx="17364539" cy="8944203"/>
              <a:chOff x="212723" y="740555"/>
              <a:chExt cx="11576359" cy="5962802"/>
            </a:xfrm>
          </p:grpSpPr>
          <p:sp>
            <p:nvSpPr>
              <p:cNvPr id="10" name="Shape 0">
                <a:extLst>
                  <a:ext uri="{FF2B5EF4-FFF2-40B4-BE49-F238E27FC236}">
                    <a16:creationId xmlns:a16="http://schemas.microsoft.com/office/drawing/2014/main" id="{D927406B-E0FB-8478-E391-4B51DF07FCCF}"/>
                  </a:ext>
                </a:extLst>
              </p:cNvPr>
              <p:cNvSpPr/>
              <p:nvPr/>
            </p:nvSpPr>
            <p:spPr>
              <a:xfrm>
                <a:off x="297762" y="817365"/>
                <a:ext cx="11491320" cy="990295"/>
              </a:xfrm>
              <a:prstGeom prst="roundRect">
                <a:avLst>
                  <a:gd name="adj" fmla="val 5817"/>
                </a:avLst>
              </a:prstGeom>
              <a:solidFill>
                <a:srgbClr val="F4F6F7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Shape 1">
                <a:extLst>
                  <a:ext uri="{FF2B5EF4-FFF2-40B4-BE49-F238E27FC236}">
                    <a16:creationId xmlns:a16="http://schemas.microsoft.com/office/drawing/2014/main" id="{43212067-C5ED-E5E5-42A8-0ED77FC28CA9}"/>
                  </a:ext>
                </a:extLst>
              </p:cNvPr>
              <p:cNvSpPr/>
              <p:nvPr/>
            </p:nvSpPr>
            <p:spPr>
              <a:xfrm>
                <a:off x="297762" y="817365"/>
                <a:ext cx="47549" cy="990295"/>
              </a:xfrm>
              <a:prstGeom prst="roundRect">
                <a:avLst>
                  <a:gd name="adj" fmla="val 121153"/>
                </a:avLst>
              </a:prstGeom>
              <a:solidFill>
                <a:srgbClr val="B45309"/>
              </a:solidFill>
              <a:ln w="12700">
                <a:solidFill>
                  <a:srgbClr val="006E74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EE4A1BDF-4ED5-21FE-1A5C-83AF0CA808B8}"/>
                  </a:ext>
                </a:extLst>
              </p:cNvPr>
              <p:cNvSpPr/>
              <p:nvPr/>
            </p:nvSpPr>
            <p:spPr>
              <a:xfrm>
                <a:off x="402918" y="1083456"/>
                <a:ext cx="1837944" cy="600760"/>
              </a:xfrm>
              <a:prstGeom prst="roundRect">
                <a:avLst>
                  <a:gd name="adj" fmla="val 576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A2C5E88-3AF2-DB3E-654C-4711A6D65E4F}"/>
                  </a:ext>
                </a:extLst>
              </p:cNvPr>
              <p:cNvSpPr txBox="1"/>
              <p:nvPr/>
            </p:nvSpPr>
            <p:spPr>
              <a:xfrm>
                <a:off x="682096" y="1150206"/>
                <a:ext cx="936974" cy="23225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NOC console</a:t>
                </a:r>
                <a:endParaRPr lang="en-US" sz="825" dirty="0"/>
              </a:p>
            </p:txBody>
          </p:sp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D04E9023-8EC4-8D28-C54F-001DD7AE89A1}"/>
                  </a:ext>
                </a:extLst>
              </p:cNvPr>
              <p:cNvSpPr txBox="1"/>
              <p:nvPr/>
            </p:nvSpPr>
            <p:spPr>
              <a:xfrm>
                <a:off x="537335" y="1478477"/>
                <a:ext cx="1686154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Unified single-pane view</a:t>
                </a:r>
                <a:endParaRPr lang="en-US" sz="800" dirty="0"/>
              </a:p>
            </p:txBody>
          </p:sp>
          <p:sp>
            <p:nvSpPr>
              <p:cNvPr id="15" name="Shape 5">
                <a:extLst>
                  <a:ext uri="{FF2B5EF4-FFF2-40B4-BE49-F238E27FC236}">
                    <a16:creationId xmlns:a16="http://schemas.microsoft.com/office/drawing/2014/main" id="{1E5BAEA8-714D-B670-399C-38D3C1FFBB8E}"/>
                  </a:ext>
                </a:extLst>
              </p:cNvPr>
              <p:cNvSpPr/>
              <p:nvPr/>
            </p:nvSpPr>
            <p:spPr>
              <a:xfrm>
                <a:off x="2296641" y="1083456"/>
                <a:ext cx="1837944" cy="600760"/>
              </a:xfrm>
              <a:prstGeom prst="roundRect">
                <a:avLst>
                  <a:gd name="adj" fmla="val 576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EA025713-3F4E-26C3-98C5-F0E0002F0F76}"/>
                  </a:ext>
                </a:extLst>
              </p:cNvPr>
              <p:cNvSpPr txBox="1"/>
              <p:nvPr/>
            </p:nvSpPr>
            <p:spPr>
              <a:xfrm>
                <a:off x="2575819" y="1150206"/>
                <a:ext cx="936974" cy="23225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Operator copilot</a:t>
                </a:r>
                <a:endParaRPr lang="en-US" sz="825" dirty="0"/>
              </a:p>
            </p:txBody>
          </p:sp>
          <p:sp>
            <p:nvSpPr>
              <p:cNvPr id="17" name="Text 7">
                <a:extLst>
                  <a:ext uri="{FF2B5EF4-FFF2-40B4-BE49-F238E27FC236}">
                    <a16:creationId xmlns:a16="http://schemas.microsoft.com/office/drawing/2014/main" id="{ED7CA5B2-D73B-63CD-D1D5-13F54F614C20}"/>
                  </a:ext>
                </a:extLst>
              </p:cNvPr>
              <p:cNvSpPr txBox="1"/>
              <p:nvPr/>
            </p:nvSpPr>
            <p:spPr>
              <a:xfrm>
                <a:off x="2431058" y="1478477"/>
                <a:ext cx="1686154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NLO chat · action assist</a:t>
                </a:r>
                <a:endParaRPr lang="en-US" sz="800" dirty="0"/>
              </a:p>
            </p:txBody>
          </p:sp>
          <p:sp>
            <p:nvSpPr>
              <p:cNvPr id="18" name="Shape 8">
                <a:extLst>
                  <a:ext uri="{FF2B5EF4-FFF2-40B4-BE49-F238E27FC236}">
                    <a16:creationId xmlns:a16="http://schemas.microsoft.com/office/drawing/2014/main" id="{1DFBE59F-67CB-5817-7271-FAD9A6313218}"/>
                  </a:ext>
                </a:extLst>
              </p:cNvPr>
              <p:cNvSpPr/>
              <p:nvPr/>
            </p:nvSpPr>
            <p:spPr>
              <a:xfrm>
                <a:off x="4190363" y="1083456"/>
                <a:ext cx="1837944" cy="600760"/>
              </a:xfrm>
              <a:prstGeom prst="roundRect">
                <a:avLst>
                  <a:gd name="adj" fmla="val 576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 9">
                <a:extLst>
                  <a:ext uri="{FF2B5EF4-FFF2-40B4-BE49-F238E27FC236}">
                    <a16:creationId xmlns:a16="http://schemas.microsoft.com/office/drawing/2014/main" id="{9E4EB12E-BC39-226F-ADA6-993C0B4B7BDE}"/>
                  </a:ext>
                </a:extLst>
              </p:cNvPr>
              <p:cNvSpPr txBox="1"/>
              <p:nvPr/>
            </p:nvSpPr>
            <p:spPr>
              <a:xfrm>
                <a:off x="4470456" y="1150206"/>
                <a:ext cx="936974" cy="23225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Executive dashboard</a:t>
                </a:r>
                <a:endParaRPr lang="en-US" sz="825" dirty="0"/>
              </a:p>
            </p:txBody>
          </p:sp>
          <p:sp>
            <p:nvSpPr>
              <p:cNvPr id="20" name="Text 10">
                <a:extLst>
                  <a:ext uri="{FF2B5EF4-FFF2-40B4-BE49-F238E27FC236}">
                    <a16:creationId xmlns:a16="http://schemas.microsoft.com/office/drawing/2014/main" id="{88D641F0-1408-4E8F-88F8-C8EF0F529222}"/>
                  </a:ext>
                </a:extLst>
              </p:cNvPr>
              <p:cNvSpPr txBox="1"/>
              <p:nvPr/>
            </p:nvSpPr>
            <p:spPr>
              <a:xfrm>
                <a:off x="4325695" y="1478477"/>
                <a:ext cx="1686154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SLA · outcomes · value</a:t>
                </a:r>
                <a:endParaRPr lang="en-US" sz="800" dirty="0"/>
              </a:p>
            </p:txBody>
          </p:sp>
          <p:sp>
            <p:nvSpPr>
              <p:cNvPr id="21" name="Shape 11">
                <a:extLst>
                  <a:ext uri="{FF2B5EF4-FFF2-40B4-BE49-F238E27FC236}">
                    <a16:creationId xmlns:a16="http://schemas.microsoft.com/office/drawing/2014/main" id="{B000B60F-ED87-B78E-5D6B-D933B8F6DE06}"/>
                  </a:ext>
                </a:extLst>
              </p:cNvPr>
              <p:cNvSpPr/>
              <p:nvPr/>
            </p:nvSpPr>
            <p:spPr>
              <a:xfrm>
                <a:off x="6084085" y="1083456"/>
                <a:ext cx="1837944" cy="600760"/>
              </a:xfrm>
              <a:prstGeom prst="roundRect">
                <a:avLst>
                  <a:gd name="adj" fmla="val 576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 12">
                <a:extLst>
                  <a:ext uri="{FF2B5EF4-FFF2-40B4-BE49-F238E27FC236}">
                    <a16:creationId xmlns:a16="http://schemas.microsoft.com/office/drawing/2014/main" id="{D0067FCB-9459-E612-61B5-D766407F80EF}"/>
                  </a:ext>
                </a:extLst>
              </p:cNvPr>
              <p:cNvSpPr txBox="1"/>
              <p:nvPr/>
            </p:nvSpPr>
            <p:spPr>
              <a:xfrm>
                <a:off x="6364178" y="1150206"/>
                <a:ext cx="936974" cy="23225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ITSM / ticketing</a:t>
                </a:r>
                <a:endParaRPr lang="en-US" sz="825" dirty="0"/>
              </a:p>
            </p:txBody>
          </p:sp>
          <p:sp>
            <p:nvSpPr>
              <p:cNvPr id="23" name="Text 13">
                <a:extLst>
                  <a:ext uri="{FF2B5EF4-FFF2-40B4-BE49-F238E27FC236}">
                    <a16:creationId xmlns:a16="http://schemas.microsoft.com/office/drawing/2014/main" id="{1A85DE3E-BB97-F6A3-9B2B-D21F1065E72A}"/>
                  </a:ext>
                </a:extLst>
              </p:cNvPr>
              <p:cNvSpPr txBox="1"/>
              <p:nvPr/>
            </p:nvSpPr>
            <p:spPr>
              <a:xfrm>
                <a:off x="6219417" y="1478477"/>
                <a:ext cx="1686154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ServiceNow · Remedy</a:t>
                </a:r>
                <a:endParaRPr lang="en-US" sz="800" dirty="0"/>
              </a:p>
            </p:txBody>
          </p:sp>
          <p:sp>
            <p:nvSpPr>
              <p:cNvPr id="24" name="Shape 14">
                <a:extLst>
                  <a:ext uri="{FF2B5EF4-FFF2-40B4-BE49-F238E27FC236}">
                    <a16:creationId xmlns:a16="http://schemas.microsoft.com/office/drawing/2014/main" id="{6AB2DF28-C2B8-AC30-139A-9FFD4BED3995}"/>
                  </a:ext>
                </a:extLst>
              </p:cNvPr>
              <p:cNvSpPr/>
              <p:nvPr/>
            </p:nvSpPr>
            <p:spPr>
              <a:xfrm>
                <a:off x="7978722" y="1083456"/>
                <a:ext cx="1837944" cy="600760"/>
              </a:xfrm>
              <a:prstGeom prst="roundRect">
                <a:avLst>
                  <a:gd name="adj" fmla="val 576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 15">
                <a:extLst>
                  <a:ext uri="{FF2B5EF4-FFF2-40B4-BE49-F238E27FC236}">
                    <a16:creationId xmlns:a16="http://schemas.microsoft.com/office/drawing/2014/main" id="{0F6BD460-2122-6F00-0431-433AF765F0F3}"/>
                  </a:ext>
                </a:extLst>
              </p:cNvPr>
              <p:cNvSpPr txBox="1"/>
              <p:nvPr/>
            </p:nvSpPr>
            <p:spPr>
              <a:xfrm>
                <a:off x="8257900" y="1150206"/>
                <a:ext cx="936974" cy="23225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Alerting &amp; comms</a:t>
                </a:r>
                <a:endParaRPr lang="en-US" sz="825" dirty="0"/>
              </a:p>
            </p:txBody>
          </p:sp>
          <p:sp>
            <p:nvSpPr>
              <p:cNvPr id="26" name="Text 16">
                <a:extLst>
                  <a:ext uri="{FF2B5EF4-FFF2-40B4-BE49-F238E27FC236}">
                    <a16:creationId xmlns:a16="http://schemas.microsoft.com/office/drawing/2014/main" id="{4A2F095D-B379-A3BE-FBAA-6D4F36A8FC58}"/>
                  </a:ext>
                </a:extLst>
              </p:cNvPr>
              <p:cNvSpPr txBox="1"/>
              <p:nvPr/>
            </p:nvSpPr>
            <p:spPr>
              <a:xfrm>
                <a:off x="8113139" y="1478477"/>
                <a:ext cx="1686154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SmartRoute · Teams · SMS</a:t>
                </a:r>
                <a:endParaRPr lang="en-US" sz="800" dirty="0"/>
              </a:p>
            </p:txBody>
          </p:sp>
          <p:sp>
            <p:nvSpPr>
              <p:cNvPr id="27" name="Shape 17">
                <a:extLst>
                  <a:ext uri="{FF2B5EF4-FFF2-40B4-BE49-F238E27FC236}">
                    <a16:creationId xmlns:a16="http://schemas.microsoft.com/office/drawing/2014/main" id="{6128F874-B019-2549-B6C6-A756D5855E19}"/>
                  </a:ext>
                </a:extLst>
              </p:cNvPr>
              <p:cNvSpPr/>
              <p:nvPr/>
            </p:nvSpPr>
            <p:spPr>
              <a:xfrm>
                <a:off x="9872445" y="1083456"/>
                <a:ext cx="1837944" cy="600760"/>
              </a:xfrm>
              <a:prstGeom prst="roundRect">
                <a:avLst>
                  <a:gd name="adj" fmla="val 576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 18">
                <a:extLst>
                  <a:ext uri="{FF2B5EF4-FFF2-40B4-BE49-F238E27FC236}">
                    <a16:creationId xmlns:a16="http://schemas.microsoft.com/office/drawing/2014/main" id="{9E168D0D-2261-22F2-391D-463A4D39084E}"/>
                  </a:ext>
                </a:extLst>
              </p:cNvPr>
              <p:cNvSpPr txBox="1"/>
              <p:nvPr/>
            </p:nvSpPr>
            <p:spPr>
              <a:xfrm>
                <a:off x="10085500" y="1150206"/>
                <a:ext cx="1624889" cy="1801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Open API / webhook / Dashboard</a:t>
                </a:r>
                <a:endParaRPr lang="en-US" sz="825" dirty="0"/>
              </a:p>
            </p:txBody>
          </p:sp>
          <p:sp>
            <p:nvSpPr>
              <p:cNvPr id="29" name="Text 20">
                <a:extLst>
                  <a:ext uri="{FF2B5EF4-FFF2-40B4-BE49-F238E27FC236}">
                    <a16:creationId xmlns:a16="http://schemas.microsoft.com/office/drawing/2014/main" id="{50B50B29-6804-11C7-8C5D-ED93488CE69B}"/>
                  </a:ext>
                </a:extLst>
              </p:cNvPr>
              <p:cNvSpPr txBox="1"/>
              <p:nvPr/>
            </p:nvSpPr>
            <p:spPr>
              <a:xfrm>
                <a:off x="414806" y="877768"/>
                <a:ext cx="1265530" cy="152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050" b="1" kern="0" spc="90" dirty="0">
                    <a:solidFill>
                      <a:srgbClr val="B45309"/>
                    </a:solidFill>
                    <a:latin typeface="Aptos" panose="020B0004020202020204" pitchFamily="34" charset="0"/>
                    <a:ea typeface="Inter" pitchFamily="34" charset="-122"/>
                  </a:rPr>
                  <a:t>Experience</a:t>
                </a:r>
                <a:r>
                  <a:rPr lang="en-US" sz="90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1050" b="1" kern="0" spc="90" dirty="0">
                    <a:solidFill>
                      <a:srgbClr val="B45309"/>
                    </a:solidFill>
                    <a:latin typeface="Aptos" panose="020B0004020202020204" pitchFamily="34" charset="0"/>
                    <a:ea typeface="Inter" pitchFamily="34" charset="-122"/>
                  </a:rPr>
                  <a:t>layer</a:t>
                </a:r>
              </a:p>
            </p:txBody>
          </p:sp>
          <p:sp>
            <p:nvSpPr>
              <p:cNvPr id="30" name="Text 21">
                <a:extLst>
                  <a:ext uri="{FF2B5EF4-FFF2-40B4-BE49-F238E27FC236}">
                    <a16:creationId xmlns:a16="http://schemas.microsoft.com/office/drawing/2014/main" id="{7CA2C31B-8570-CEC3-9D80-8B1FD76085E6}"/>
                  </a:ext>
                </a:extLst>
              </p:cNvPr>
              <p:cNvSpPr txBox="1"/>
              <p:nvPr/>
            </p:nvSpPr>
            <p:spPr>
              <a:xfrm>
                <a:off x="1749831" y="896971"/>
                <a:ext cx="1677924" cy="13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900" dirty="0">
                    <a:solidFill>
                      <a:srgbClr val="B45309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· Consumers of agent outcomes</a:t>
                </a:r>
                <a:endParaRPr lang="en-US" sz="900" dirty="0">
                  <a:solidFill>
                    <a:srgbClr val="B45309"/>
                  </a:solidFill>
                </a:endParaRPr>
              </a:p>
            </p:txBody>
          </p:sp>
          <p:sp>
            <p:nvSpPr>
              <p:cNvPr id="31" name="Shape 22">
                <a:extLst>
                  <a:ext uri="{FF2B5EF4-FFF2-40B4-BE49-F238E27FC236}">
                    <a16:creationId xmlns:a16="http://schemas.microsoft.com/office/drawing/2014/main" id="{2A7D5ED2-8CE5-E817-F63C-C118DA368E49}"/>
                  </a:ext>
                </a:extLst>
              </p:cNvPr>
              <p:cNvSpPr/>
              <p:nvPr/>
            </p:nvSpPr>
            <p:spPr>
              <a:xfrm>
                <a:off x="297762" y="1888342"/>
                <a:ext cx="11491320" cy="1638605"/>
              </a:xfrm>
              <a:prstGeom prst="roundRect">
                <a:avLst>
                  <a:gd name="adj" fmla="val 3516"/>
                </a:avLst>
              </a:prstGeom>
              <a:solidFill>
                <a:srgbClr val="F4F6F7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Shape 23">
                <a:extLst>
                  <a:ext uri="{FF2B5EF4-FFF2-40B4-BE49-F238E27FC236}">
                    <a16:creationId xmlns:a16="http://schemas.microsoft.com/office/drawing/2014/main" id="{DEBF8AE4-19EC-ACC6-1FCA-E55945A4FF92}"/>
                  </a:ext>
                </a:extLst>
              </p:cNvPr>
              <p:cNvSpPr/>
              <p:nvPr/>
            </p:nvSpPr>
            <p:spPr>
              <a:xfrm>
                <a:off x="297762" y="1888342"/>
                <a:ext cx="47549" cy="1638605"/>
              </a:xfrm>
              <a:prstGeom prst="roundRect">
                <a:avLst>
                  <a:gd name="adj" fmla="val 121153"/>
                </a:avLst>
              </a:prstGeom>
              <a:solidFill>
                <a:srgbClr val="7C3AED"/>
              </a:solidFill>
              <a:ln w="12700">
                <a:solidFill>
                  <a:srgbClr val="006E74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 24">
                <a:extLst>
                  <a:ext uri="{FF2B5EF4-FFF2-40B4-BE49-F238E27FC236}">
                    <a16:creationId xmlns:a16="http://schemas.microsoft.com/office/drawing/2014/main" id="{65B5E411-6BC6-3D51-961D-9FA2F568EA4C}"/>
                  </a:ext>
                </a:extLst>
              </p:cNvPr>
              <p:cNvSpPr txBox="1"/>
              <p:nvPr/>
            </p:nvSpPr>
            <p:spPr>
              <a:xfrm>
                <a:off x="414806" y="1932233"/>
                <a:ext cx="806501" cy="152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050" b="1" kern="0" spc="90" dirty="0">
                    <a:solidFill>
                      <a:srgbClr val="7C3AED"/>
                    </a:solidFill>
                    <a:latin typeface="Aptos" panose="020B0004020202020204" pitchFamily="34" charset="0"/>
                    <a:ea typeface="Inter" pitchFamily="34" charset="-122"/>
                  </a:rPr>
                  <a:t>Agent</a:t>
                </a:r>
                <a:r>
                  <a:rPr lang="en-US" sz="1050" b="1" dirty="0">
                    <a:solidFill>
                      <a:srgbClr val="006E74"/>
                    </a:solidFill>
                    <a:latin typeface="Aptos" panose="020B0004020202020204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1050" b="1" kern="0" spc="90" dirty="0">
                    <a:solidFill>
                      <a:srgbClr val="7C3AED"/>
                    </a:solidFill>
                    <a:latin typeface="Aptos" panose="020B0004020202020204" pitchFamily="34" charset="0"/>
                    <a:ea typeface="Inter" pitchFamily="34" charset="-122"/>
                  </a:rPr>
                  <a:t>mesh</a:t>
                </a:r>
              </a:p>
            </p:txBody>
          </p:sp>
          <p:sp>
            <p:nvSpPr>
              <p:cNvPr id="34" name="Text 25">
                <a:extLst>
                  <a:ext uri="{FF2B5EF4-FFF2-40B4-BE49-F238E27FC236}">
                    <a16:creationId xmlns:a16="http://schemas.microsoft.com/office/drawing/2014/main" id="{E6F4BB75-C0FD-657A-6172-8A5FCCED70DF}"/>
                  </a:ext>
                </a:extLst>
              </p:cNvPr>
              <p:cNvSpPr txBox="1"/>
              <p:nvPr/>
            </p:nvSpPr>
            <p:spPr>
              <a:xfrm>
                <a:off x="1405101" y="1941162"/>
                <a:ext cx="2018081" cy="13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900" dirty="0">
                    <a:solidFill>
                      <a:srgbClr val="7C3AED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· Specialized agents grouped by phase</a:t>
                </a:r>
                <a:endParaRPr lang="en-US" sz="900" dirty="0">
                  <a:solidFill>
                    <a:srgbClr val="7C3AED"/>
                  </a:solidFill>
                </a:endParaRPr>
              </a:p>
            </p:txBody>
          </p:sp>
          <p:sp>
            <p:nvSpPr>
              <p:cNvPr id="35" name="Shape 26">
                <a:extLst>
                  <a:ext uri="{FF2B5EF4-FFF2-40B4-BE49-F238E27FC236}">
                    <a16:creationId xmlns:a16="http://schemas.microsoft.com/office/drawing/2014/main" id="{023CC829-147E-0CC3-A603-150757798D2E}"/>
                  </a:ext>
                </a:extLst>
              </p:cNvPr>
              <p:cNvSpPr/>
              <p:nvPr/>
            </p:nvSpPr>
            <p:spPr>
              <a:xfrm>
                <a:off x="402918" y="2136144"/>
                <a:ext cx="2476195" cy="1333195"/>
              </a:xfrm>
              <a:prstGeom prst="roundRect">
                <a:avLst>
                  <a:gd name="adj" fmla="val 2881"/>
                </a:avLst>
              </a:prstGeom>
              <a:solidFill>
                <a:srgbClr val="003C51"/>
              </a:solidFill>
              <a:ln/>
              <a:effectLst>
                <a:outerShdw blurRad="50800" dist="12700" dir="5400000" algn="bl" rotWithShape="0">
                  <a:srgbClr val="9AA5A8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 27">
                <a:extLst>
                  <a:ext uri="{FF2B5EF4-FFF2-40B4-BE49-F238E27FC236}">
                    <a16:creationId xmlns:a16="http://schemas.microsoft.com/office/drawing/2014/main" id="{06D6943D-3C94-5411-9980-74174B1472C2}"/>
                  </a:ext>
                </a:extLst>
              </p:cNvPr>
              <p:cNvSpPr txBox="1"/>
              <p:nvPr/>
            </p:nvSpPr>
            <p:spPr>
              <a:xfrm>
                <a:off x="488872" y="2212039"/>
                <a:ext cx="2305202" cy="3145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15000"/>
                  </a:lnSpc>
                </a:pPr>
                <a:r>
                  <a:rPr lang="en-US" sz="1050" b="1">
                    <a:solidFill>
                      <a:srgbClr val="FFFF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Chief NOC Agent</a:t>
                </a:r>
                <a:endParaRPr lang="en-US" sz="1050"/>
              </a:p>
              <a:p>
                <a:pPr>
                  <a:lnSpc>
                    <a:spcPct val="115000"/>
                  </a:lnSpc>
                </a:pPr>
                <a:r>
                  <a:rPr lang="en-US" sz="1050" b="1">
                    <a:solidFill>
                      <a:srgbClr val="0097AC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Anthropic Claude · Sonnet</a:t>
                </a:r>
                <a:endParaRPr lang="en-US" sz="1050" dirty="0"/>
              </a:p>
            </p:txBody>
          </p:sp>
          <p:sp>
            <p:nvSpPr>
              <p:cNvPr id="37" name="Text 28">
                <a:extLst>
                  <a:ext uri="{FF2B5EF4-FFF2-40B4-BE49-F238E27FC236}">
                    <a16:creationId xmlns:a16="http://schemas.microsoft.com/office/drawing/2014/main" id="{91B6E342-08AD-3459-1DDA-517100FAE71F}"/>
                  </a:ext>
                </a:extLst>
              </p:cNvPr>
              <p:cNvSpPr txBox="1"/>
              <p:nvPr/>
            </p:nvSpPr>
            <p:spPr>
              <a:xfrm>
                <a:off x="488872" y="2600659"/>
                <a:ext cx="2305202" cy="3913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800" dirty="0">
                    <a:solidFill>
                      <a:srgbClr val="CFE6EA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 orchestrator-of-orchestrators. Decomposes master network intents, routes context across gates, and safeguards policy compliance dynamically.</a:t>
                </a:r>
                <a:endParaRPr lang="en-US" sz="800" dirty="0"/>
              </a:p>
            </p:txBody>
          </p:sp>
          <p:sp>
            <p:nvSpPr>
              <p:cNvPr id="38" name="Shape 29">
                <a:extLst>
                  <a:ext uri="{FF2B5EF4-FFF2-40B4-BE49-F238E27FC236}">
                    <a16:creationId xmlns:a16="http://schemas.microsoft.com/office/drawing/2014/main" id="{FBC2C438-D18E-D057-5352-34989BBDB5CB}"/>
                  </a:ext>
                </a:extLst>
              </p:cNvPr>
              <p:cNvSpPr/>
              <p:nvPr/>
            </p:nvSpPr>
            <p:spPr>
              <a:xfrm>
                <a:off x="488872" y="3193191"/>
                <a:ext cx="2305202" cy="209398"/>
              </a:xfrm>
              <a:prstGeom prst="roundRect">
                <a:avLst>
                  <a:gd name="adj" fmla="val 9170"/>
                </a:avLst>
              </a:prstGeom>
              <a:solidFill>
                <a:srgbClr val="0097AC">
                  <a:alpha val="18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 30">
                <a:extLst>
                  <a:ext uri="{FF2B5EF4-FFF2-40B4-BE49-F238E27FC236}">
                    <a16:creationId xmlns:a16="http://schemas.microsoft.com/office/drawing/2014/main" id="{F8FC4D7D-43A1-2940-87A4-AD42981383BC}"/>
                  </a:ext>
                </a:extLst>
              </p:cNvPr>
              <p:cNvSpPr txBox="1"/>
              <p:nvPr/>
            </p:nvSpPr>
            <p:spPr>
              <a:xfrm>
                <a:off x="488872" y="3193191"/>
                <a:ext cx="2305202" cy="210312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63500" tIns="38100" rIns="63500" bIns="38100" rtlCol="0" anchor="ctr"/>
              <a:lstStyle/>
              <a:p>
                <a:r>
                  <a:rPr lang="en-US" sz="800" b="1" dirty="0">
                    <a:solidFill>
                      <a:srgbClr val="0097AC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›</a:t>
                </a:r>
                <a:r>
                  <a:rPr lang="en-US" sz="800" b="1" dirty="0">
                    <a:solidFill>
                      <a:srgbClr val="FFFF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 Plan · Route · Reason · Act &amp; Verify</a:t>
                </a:r>
                <a:endParaRPr lang="en-US" sz="800" dirty="0"/>
              </a:p>
            </p:txBody>
          </p:sp>
          <p:sp>
            <p:nvSpPr>
              <p:cNvPr id="40" name="Shape 31">
                <a:extLst>
                  <a:ext uri="{FF2B5EF4-FFF2-40B4-BE49-F238E27FC236}">
                    <a16:creationId xmlns:a16="http://schemas.microsoft.com/office/drawing/2014/main" id="{8F5CCED8-CEEA-0028-8082-3D7E9FBD1240}"/>
                  </a:ext>
                </a:extLst>
              </p:cNvPr>
              <p:cNvSpPr/>
              <p:nvPr/>
            </p:nvSpPr>
            <p:spPr>
              <a:xfrm>
                <a:off x="2933063" y="2136144"/>
                <a:ext cx="2152498" cy="1333195"/>
              </a:xfrm>
              <a:prstGeom prst="roundRect">
                <a:avLst>
                  <a:gd name="adj" fmla="val 288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Text 32">
                <a:extLst>
                  <a:ext uri="{FF2B5EF4-FFF2-40B4-BE49-F238E27FC236}">
                    <a16:creationId xmlns:a16="http://schemas.microsoft.com/office/drawing/2014/main" id="{F2DE8391-6487-4167-179E-80A7E09C29C5}"/>
                  </a:ext>
                </a:extLst>
              </p:cNvPr>
              <p:cNvSpPr txBox="1"/>
              <p:nvPr/>
            </p:nvSpPr>
            <p:spPr>
              <a:xfrm>
                <a:off x="3019017" y="2212039"/>
                <a:ext cx="1981505" cy="14356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kern="0" spc="8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P1 · Assisted ops </a:t>
                </a:r>
                <a:r>
                  <a:rPr lang="en-US" sz="800" b="1" kern="0" spc="8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(3 agents)</a:t>
                </a:r>
                <a:endParaRPr lang="en-US" sz="825" dirty="0"/>
              </a:p>
            </p:txBody>
          </p:sp>
          <p:sp>
            <p:nvSpPr>
              <p:cNvPr id="42" name="Shape 33">
                <a:extLst>
                  <a:ext uri="{FF2B5EF4-FFF2-40B4-BE49-F238E27FC236}">
                    <a16:creationId xmlns:a16="http://schemas.microsoft.com/office/drawing/2014/main" id="{FC9CBE5E-0B9A-8D5E-D9F4-6A5884E6608C}"/>
                  </a:ext>
                </a:extLst>
              </p:cNvPr>
              <p:cNvSpPr/>
              <p:nvPr/>
            </p:nvSpPr>
            <p:spPr>
              <a:xfrm>
                <a:off x="3019017" y="2402235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Text 34">
                <a:extLst>
                  <a:ext uri="{FF2B5EF4-FFF2-40B4-BE49-F238E27FC236}">
                    <a16:creationId xmlns:a16="http://schemas.microsoft.com/office/drawing/2014/main" id="{59669B3C-B657-6642-6E4E-5DC7FDFAC202}"/>
                  </a:ext>
                </a:extLst>
              </p:cNvPr>
              <p:cNvSpPr txBox="1"/>
              <p:nvPr/>
            </p:nvSpPr>
            <p:spPr>
              <a:xfrm>
                <a:off x="3019017" y="2430581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RAN intel agent</a:t>
                </a:r>
                <a:endParaRPr lang="en-US" sz="800" dirty="0"/>
              </a:p>
            </p:txBody>
          </p:sp>
          <p:sp>
            <p:nvSpPr>
              <p:cNvPr id="44" name="Shape 35">
                <a:extLst>
                  <a:ext uri="{FF2B5EF4-FFF2-40B4-BE49-F238E27FC236}">
                    <a16:creationId xmlns:a16="http://schemas.microsoft.com/office/drawing/2014/main" id="{BA70A926-7A45-4FC9-1909-B58EEA1EA5CE}"/>
                  </a:ext>
                </a:extLst>
              </p:cNvPr>
              <p:cNvSpPr/>
              <p:nvPr/>
            </p:nvSpPr>
            <p:spPr>
              <a:xfrm>
                <a:off x="3019017" y="2564083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Text 36">
                <a:extLst>
                  <a:ext uri="{FF2B5EF4-FFF2-40B4-BE49-F238E27FC236}">
                    <a16:creationId xmlns:a16="http://schemas.microsoft.com/office/drawing/2014/main" id="{6C2A241B-48F0-9832-57B1-89120BF7D053}"/>
                  </a:ext>
                </a:extLst>
              </p:cNvPr>
              <p:cNvSpPr txBox="1"/>
              <p:nvPr/>
            </p:nvSpPr>
            <p:spPr>
              <a:xfrm>
                <a:off x="3019017" y="2592430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Capacity forecast agent</a:t>
                </a:r>
                <a:endParaRPr lang="en-US" sz="800" dirty="0"/>
              </a:p>
            </p:txBody>
          </p:sp>
          <p:sp>
            <p:nvSpPr>
              <p:cNvPr id="46" name="Shape 37">
                <a:extLst>
                  <a:ext uri="{FF2B5EF4-FFF2-40B4-BE49-F238E27FC236}">
                    <a16:creationId xmlns:a16="http://schemas.microsoft.com/office/drawing/2014/main" id="{48942803-E883-FC23-7EF5-107B5153C007}"/>
                  </a:ext>
                </a:extLst>
              </p:cNvPr>
              <p:cNvSpPr/>
              <p:nvPr/>
            </p:nvSpPr>
            <p:spPr>
              <a:xfrm>
                <a:off x="3019017" y="2725932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Text 38">
                <a:extLst>
                  <a:ext uri="{FF2B5EF4-FFF2-40B4-BE49-F238E27FC236}">
                    <a16:creationId xmlns:a16="http://schemas.microsoft.com/office/drawing/2014/main" id="{B2BF0287-0CBF-2A85-23DF-FC6A9A1C7901}"/>
                  </a:ext>
                </a:extLst>
              </p:cNvPr>
              <p:cNvSpPr txBox="1"/>
              <p:nvPr/>
            </p:nvSpPr>
            <p:spPr>
              <a:xfrm>
                <a:off x="3019017" y="2754279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Network health agent</a:t>
                </a:r>
                <a:endParaRPr lang="en-US" sz="800" dirty="0"/>
              </a:p>
            </p:txBody>
          </p:sp>
          <p:sp>
            <p:nvSpPr>
              <p:cNvPr id="48" name="Shape 39">
                <a:extLst>
                  <a:ext uri="{FF2B5EF4-FFF2-40B4-BE49-F238E27FC236}">
                    <a16:creationId xmlns:a16="http://schemas.microsoft.com/office/drawing/2014/main" id="{B7EE119F-BE49-0047-6744-4A79174E0664}"/>
                  </a:ext>
                </a:extLst>
              </p:cNvPr>
              <p:cNvSpPr/>
              <p:nvPr/>
            </p:nvSpPr>
            <p:spPr>
              <a:xfrm>
                <a:off x="3019017" y="3237082"/>
                <a:ext cx="1981505" cy="171907"/>
              </a:xfrm>
              <a:prstGeom prst="roundRect">
                <a:avLst>
                  <a:gd name="adj" fmla="val 11170"/>
                </a:avLst>
              </a:prstGeom>
              <a:solidFill>
                <a:srgbClr val="E6F2F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Text 40">
                <a:extLst>
                  <a:ext uri="{FF2B5EF4-FFF2-40B4-BE49-F238E27FC236}">
                    <a16:creationId xmlns:a16="http://schemas.microsoft.com/office/drawing/2014/main" id="{1497BD3F-76AA-8C88-80B9-6CC2D3B7FF30}"/>
                  </a:ext>
                </a:extLst>
              </p:cNvPr>
              <p:cNvSpPr txBox="1"/>
              <p:nvPr/>
            </p:nvSpPr>
            <p:spPr>
              <a:xfrm>
                <a:off x="3019017" y="3237082"/>
                <a:ext cx="1981505" cy="17190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63500" tIns="25400" rIns="635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+ Plug-in new agents via agent registry</a:t>
                </a:r>
                <a:endParaRPr lang="en-US" sz="800" dirty="0"/>
              </a:p>
            </p:txBody>
          </p:sp>
          <p:sp>
            <p:nvSpPr>
              <p:cNvPr id="50" name="Shape 41">
                <a:extLst>
                  <a:ext uri="{FF2B5EF4-FFF2-40B4-BE49-F238E27FC236}">
                    <a16:creationId xmlns:a16="http://schemas.microsoft.com/office/drawing/2014/main" id="{00CF7BE0-DF6A-66A7-4C55-BA76EB8C4A85}"/>
                  </a:ext>
                </a:extLst>
              </p:cNvPr>
              <p:cNvSpPr/>
              <p:nvPr/>
            </p:nvSpPr>
            <p:spPr>
              <a:xfrm>
                <a:off x="5141339" y="2136144"/>
                <a:ext cx="2152498" cy="1333195"/>
              </a:xfrm>
              <a:prstGeom prst="roundRect">
                <a:avLst>
                  <a:gd name="adj" fmla="val 288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Text 42">
                <a:extLst>
                  <a:ext uri="{FF2B5EF4-FFF2-40B4-BE49-F238E27FC236}">
                    <a16:creationId xmlns:a16="http://schemas.microsoft.com/office/drawing/2014/main" id="{6D74616A-1EA1-DECB-64C0-35B8509EAC05}"/>
                  </a:ext>
                </a:extLst>
              </p:cNvPr>
              <p:cNvSpPr txBox="1"/>
              <p:nvPr/>
            </p:nvSpPr>
            <p:spPr>
              <a:xfrm>
                <a:off x="5227293" y="2212039"/>
                <a:ext cx="1981505" cy="14356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kern="0" spc="8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P2 · Augmented ops </a:t>
                </a:r>
                <a:r>
                  <a:rPr lang="en-US" sz="800" b="1" kern="0" spc="8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(4 agents)</a:t>
                </a:r>
                <a:endParaRPr lang="en-US" sz="825" dirty="0"/>
              </a:p>
            </p:txBody>
          </p:sp>
          <p:sp>
            <p:nvSpPr>
              <p:cNvPr id="52" name="Shape 43">
                <a:extLst>
                  <a:ext uri="{FF2B5EF4-FFF2-40B4-BE49-F238E27FC236}">
                    <a16:creationId xmlns:a16="http://schemas.microsoft.com/office/drawing/2014/main" id="{B94560F0-0557-D707-3182-4C67AE62A9ED}"/>
                  </a:ext>
                </a:extLst>
              </p:cNvPr>
              <p:cNvSpPr/>
              <p:nvPr/>
            </p:nvSpPr>
            <p:spPr>
              <a:xfrm>
                <a:off x="5227293" y="2402235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Text 44">
                <a:extLst>
                  <a:ext uri="{FF2B5EF4-FFF2-40B4-BE49-F238E27FC236}">
                    <a16:creationId xmlns:a16="http://schemas.microsoft.com/office/drawing/2014/main" id="{6CE81622-5C40-ED3E-49C0-51BBD2077CD5}"/>
                  </a:ext>
                </a:extLst>
              </p:cNvPr>
              <p:cNvSpPr txBox="1"/>
              <p:nvPr/>
            </p:nvSpPr>
            <p:spPr>
              <a:xfrm>
                <a:off x="5227293" y="2430581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Root cause</a:t>
                </a:r>
                <a:endParaRPr lang="en-US" sz="800" dirty="0"/>
              </a:p>
            </p:txBody>
          </p:sp>
          <p:sp>
            <p:nvSpPr>
              <p:cNvPr id="54" name="Shape 45">
                <a:extLst>
                  <a:ext uri="{FF2B5EF4-FFF2-40B4-BE49-F238E27FC236}">
                    <a16:creationId xmlns:a16="http://schemas.microsoft.com/office/drawing/2014/main" id="{5DF0C272-EB85-BA19-1BDA-42141CB6AEBF}"/>
                  </a:ext>
                </a:extLst>
              </p:cNvPr>
              <p:cNvSpPr/>
              <p:nvPr/>
            </p:nvSpPr>
            <p:spPr>
              <a:xfrm>
                <a:off x="5227293" y="2564083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5" name="Text 46">
                <a:extLst>
                  <a:ext uri="{FF2B5EF4-FFF2-40B4-BE49-F238E27FC236}">
                    <a16:creationId xmlns:a16="http://schemas.microsoft.com/office/drawing/2014/main" id="{3FF3A5A9-8291-C502-6AAC-9713CEDD4EA1}"/>
                  </a:ext>
                </a:extLst>
              </p:cNvPr>
              <p:cNvSpPr txBox="1"/>
              <p:nvPr/>
            </p:nvSpPr>
            <p:spPr>
              <a:xfrm>
                <a:off x="5227293" y="2592430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Svc impact</a:t>
                </a:r>
                <a:endParaRPr lang="en-US" sz="800" dirty="0"/>
              </a:p>
            </p:txBody>
          </p:sp>
          <p:sp>
            <p:nvSpPr>
              <p:cNvPr id="56" name="Shape 47">
                <a:extLst>
                  <a:ext uri="{FF2B5EF4-FFF2-40B4-BE49-F238E27FC236}">
                    <a16:creationId xmlns:a16="http://schemas.microsoft.com/office/drawing/2014/main" id="{3A509960-3E07-5AE9-AB65-358723879ED8}"/>
                  </a:ext>
                </a:extLst>
              </p:cNvPr>
              <p:cNvSpPr/>
              <p:nvPr/>
            </p:nvSpPr>
            <p:spPr>
              <a:xfrm>
                <a:off x="5227293" y="2725932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Text 48">
                <a:extLst>
                  <a:ext uri="{FF2B5EF4-FFF2-40B4-BE49-F238E27FC236}">
                    <a16:creationId xmlns:a16="http://schemas.microsoft.com/office/drawing/2014/main" id="{36982D25-415F-CC50-3BB8-F2A62940EF6A}"/>
                  </a:ext>
                </a:extLst>
              </p:cNvPr>
              <p:cNvSpPr txBox="1"/>
              <p:nvPr/>
            </p:nvSpPr>
            <p:spPr>
              <a:xfrm>
                <a:off x="5227293" y="2754279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Dispatch</a:t>
                </a:r>
                <a:endParaRPr lang="en-US" sz="800" dirty="0"/>
              </a:p>
            </p:txBody>
          </p:sp>
          <p:sp>
            <p:nvSpPr>
              <p:cNvPr id="58" name="Shape 49">
                <a:extLst>
                  <a:ext uri="{FF2B5EF4-FFF2-40B4-BE49-F238E27FC236}">
                    <a16:creationId xmlns:a16="http://schemas.microsoft.com/office/drawing/2014/main" id="{689BEBB0-776B-0532-4839-9FC39BA6CFB1}"/>
                  </a:ext>
                </a:extLst>
              </p:cNvPr>
              <p:cNvSpPr/>
              <p:nvPr/>
            </p:nvSpPr>
            <p:spPr>
              <a:xfrm>
                <a:off x="5227293" y="2887781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Text 50">
                <a:extLst>
                  <a:ext uri="{FF2B5EF4-FFF2-40B4-BE49-F238E27FC236}">
                    <a16:creationId xmlns:a16="http://schemas.microsoft.com/office/drawing/2014/main" id="{03E3D2F1-766C-D630-3C35-9D4B923D0904}"/>
                  </a:ext>
                </a:extLst>
              </p:cNvPr>
              <p:cNvSpPr txBox="1"/>
              <p:nvPr/>
            </p:nvSpPr>
            <p:spPr>
              <a:xfrm>
                <a:off x="5227293" y="2916127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Diagnostics</a:t>
                </a:r>
                <a:endParaRPr lang="en-US" sz="800" dirty="0"/>
              </a:p>
            </p:txBody>
          </p:sp>
          <p:sp>
            <p:nvSpPr>
              <p:cNvPr id="60" name="Shape 51">
                <a:extLst>
                  <a:ext uri="{FF2B5EF4-FFF2-40B4-BE49-F238E27FC236}">
                    <a16:creationId xmlns:a16="http://schemas.microsoft.com/office/drawing/2014/main" id="{90851575-B05B-4965-AD22-43ABBEC8ED64}"/>
                  </a:ext>
                </a:extLst>
              </p:cNvPr>
              <p:cNvSpPr/>
              <p:nvPr/>
            </p:nvSpPr>
            <p:spPr>
              <a:xfrm>
                <a:off x="5227293" y="3237082"/>
                <a:ext cx="1981505" cy="171907"/>
              </a:xfrm>
              <a:prstGeom prst="roundRect">
                <a:avLst>
                  <a:gd name="adj" fmla="val 11170"/>
                </a:avLst>
              </a:prstGeom>
              <a:solidFill>
                <a:srgbClr val="E6F2F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1" name="Text 52">
                <a:extLst>
                  <a:ext uri="{FF2B5EF4-FFF2-40B4-BE49-F238E27FC236}">
                    <a16:creationId xmlns:a16="http://schemas.microsoft.com/office/drawing/2014/main" id="{9ECB8FF5-1B33-B742-3E75-5F040BE7C5D8}"/>
                  </a:ext>
                </a:extLst>
              </p:cNvPr>
              <p:cNvSpPr txBox="1"/>
              <p:nvPr/>
            </p:nvSpPr>
            <p:spPr>
              <a:xfrm>
                <a:off x="5227293" y="3237082"/>
                <a:ext cx="1981505" cy="17190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63500" tIns="25400" rIns="635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+ Plug-in new agents via agent registry</a:t>
                </a:r>
              </a:p>
            </p:txBody>
          </p:sp>
          <p:sp>
            <p:nvSpPr>
              <p:cNvPr id="62" name="Shape 53">
                <a:extLst>
                  <a:ext uri="{FF2B5EF4-FFF2-40B4-BE49-F238E27FC236}">
                    <a16:creationId xmlns:a16="http://schemas.microsoft.com/office/drawing/2014/main" id="{B46DD0DE-56ED-4D20-2453-F0ADA190CA73}"/>
                  </a:ext>
                </a:extLst>
              </p:cNvPr>
              <p:cNvSpPr/>
              <p:nvPr/>
            </p:nvSpPr>
            <p:spPr>
              <a:xfrm>
                <a:off x="7349615" y="2136144"/>
                <a:ext cx="2152498" cy="1333195"/>
              </a:xfrm>
              <a:prstGeom prst="roundRect">
                <a:avLst>
                  <a:gd name="adj" fmla="val 288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Text 54">
                <a:extLst>
                  <a:ext uri="{FF2B5EF4-FFF2-40B4-BE49-F238E27FC236}">
                    <a16:creationId xmlns:a16="http://schemas.microsoft.com/office/drawing/2014/main" id="{A281AA27-7D04-550B-2965-359F659B8E21}"/>
                  </a:ext>
                </a:extLst>
              </p:cNvPr>
              <p:cNvSpPr txBox="1"/>
              <p:nvPr/>
            </p:nvSpPr>
            <p:spPr>
              <a:xfrm>
                <a:off x="7435569" y="2212039"/>
                <a:ext cx="1981505" cy="14356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kern="0" spc="8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P3 · Autonomous ops </a:t>
                </a:r>
                <a:r>
                  <a:rPr lang="en-US" sz="800" b="1" kern="0" spc="8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(4 agents)</a:t>
                </a:r>
                <a:endParaRPr lang="en-US" sz="825" dirty="0"/>
              </a:p>
            </p:txBody>
          </p:sp>
          <p:sp>
            <p:nvSpPr>
              <p:cNvPr id="64" name="Shape 55">
                <a:extLst>
                  <a:ext uri="{FF2B5EF4-FFF2-40B4-BE49-F238E27FC236}">
                    <a16:creationId xmlns:a16="http://schemas.microsoft.com/office/drawing/2014/main" id="{42E9474D-FEF6-2F02-DED8-F0B18E54FA4A}"/>
                  </a:ext>
                </a:extLst>
              </p:cNvPr>
              <p:cNvSpPr/>
              <p:nvPr/>
            </p:nvSpPr>
            <p:spPr>
              <a:xfrm>
                <a:off x="7435569" y="2402235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" name="Text 56">
                <a:extLst>
                  <a:ext uri="{FF2B5EF4-FFF2-40B4-BE49-F238E27FC236}">
                    <a16:creationId xmlns:a16="http://schemas.microsoft.com/office/drawing/2014/main" id="{EF353FE0-3680-2B2D-2159-CC035D4E973F}"/>
                  </a:ext>
                </a:extLst>
              </p:cNvPr>
              <p:cNvSpPr txBox="1"/>
              <p:nvPr/>
            </p:nvSpPr>
            <p:spPr>
              <a:xfrm>
                <a:off x="7435569" y="2430581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Self-heal</a:t>
                </a:r>
                <a:endParaRPr lang="en-US" sz="800" dirty="0"/>
              </a:p>
            </p:txBody>
          </p:sp>
          <p:sp>
            <p:nvSpPr>
              <p:cNvPr id="66" name="Shape 57">
                <a:extLst>
                  <a:ext uri="{FF2B5EF4-FFF2-40B4-BE49-F238E27FC236}">
                    <a16:creationId xmlns:a16="http://schemas.microsoft.com/office/drawing/2014/main" id="{536C4FD3-D206-940C-1010-30C4094CA194}"/>
                  </a:ext>
                </a:extLst>
              </p:cNvPr>
              <p:cNvSpPr/>
              <p:nvPr/>
            </p:nvSpPr>
            <p:spPr>
              <a:xfrm>
                <a:off x="7435569" y="2564083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7" name="Text 58">
                <a:extLst>
                  <a:ext uri="{FF2B5EF4-FFF2-40B4-BE49-F238E27FC236}">
                    <a16:creationId xmlns:a16="http://schemas.microsoft.com/office/drawing/2014/main" id="{31AAB256-4F4E-DD7A-3D3F-20B3688B4F09}"/>
                  </a:ext>
                </a:extLst>
              </p:cNvPr>
              <p:cNvSpPr txBox="1"/>
              <p:nvPr/>
            </p:nvSpPr>
            <p:spPr>
              <a:xfrm>
                <a:off x="7435569" y="2592430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Runbook</a:t>
                </a:r>
                <a:endParaRPr lang="en-US" sz="800" dirty="0"/>
              </a:p>
            </p:txBody>
          </p:sp>
          <p:sp>
            <p:nvSpPr>
              <p:cNvPr id="68" name="Shape 59">
                <a:extLst>
                  <a:ext uri="{FF2B5EF4-FFF2-40B4-BE49-F238E27FC236}">
                    <a16:creationId xmlns:a16="http://schemas.microsoft.com/office/drawing/2014/main" id="{AA9B0F5A-FDA8-53D1-0C8F-4E4F474412BE}"/>
                  </a:ext>
                </a:extLst>
              </p:cNvPr>
              <p:cNvSpPr/>
              <p:nvPr/>
            </p:nvSpPr>
            <p:spPr>
              <a:xfrm>
                <a:off x="7435569" y="2725932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9" name="Text 60">
                <a:extLst>
                  <a:ext uri="{FF2B5EF4-FFF2-40B4-BE49-F238E27FC236}">
                    <a16:creationId xmlns:a16="http://schemas.microsoft.com/office/drawing/2014/main" id="{19BA3A9D-892F-C989-C4D6-11BB94E1742A}"/>
                  </a:ext>
                </a:extLst>
              </p:cNvPr>
              <p:cNvSpPr txBox="1"/>
              <p:nvPr/>
            </p:nvSpPr>
            <p:spPr>
              <a:xfrm>
                <a:off x="7435569" y="2754279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Change validation</a:t>
                </a:r>
                <a:endParaRPr lang="en-US" sz="800" dirty="0"/>
              </a:p>
            </p:txBody>
          </p:sp>
          <p:sp>
            <p:nvSpPr>
              <p:cNvPr id="70" name="Shape 61">
                <a:extLst>
                  <a:ext uri="{FF2B5EF4-FFF2-40B4-BE49-F238E27FC236}">
                    <a16:creationId xmlns:a16="http://schemas.microsoft.com/office/drawing/2014/main" id="{D65FE066-5AD5-68E0-D849-9A11A5BAEB18}"/>
                  </a:ext>
                </a:extLst>
              </p:cNvPr>
              <p:cNvSpPr/>
              <p:nvPr/>
            </p:nvSpPr>
            <p:spPr>
              <a:xfrm>
                <a:off x="7435569" y="2887781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" name="Text 62">
                <a:extLst>
                  <a:ext uri="{FF2B5EF4-FFF2-40B4-BE49-F238E27FC236}">
                    <a16:creationId xmlns:a16="http://schemas.microsoft.com/office/drawing/2014/main" id="{6A0FEE04-DD81-9C41-82EF-73BF6217475C}"/>
                  </a:ext>
                </a:extLst>
              </p:cNvPr>
              <p:cNvSpPr txBox="1"/>
              <p:nvPr/>
            </p:nvSpPr>
            <p:spPr>
              <a:xfrm>
                <a:off x="7435569" y="2916127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Digital twin</a:t>
                </a:r>
                <a:endParaRPr lang="en-US" sz="800" dirty="0"/>
              </a:p>
            </p:txBody>
          </p:sp>
          <p:sp>
            <p:nvSpPr>
              <p:cNvPr id="72" name="Shape 63">
                <a:extLst>
                  <a:ext uri="{FF2B5EF4-FFF2-40B4-BE49-F238E27FC236}">
                    <a16:creationId xmlns:a16="http://schemas.microsoft.com/office/drawing/2014/main" id="{211EA886-37C1-E0EC-5741-1EC9CB8FA6B1}"/>
                  </a:ext>
                </a:extLst>
              </p:cNvPr>
              <p:cNvSpPr/>
              <p:nvPr/>
            </p:nvSpPr>
            <p:spPr>
              <a:xfrm>
                <a:off x="7435569" y="3237082"/>
                <a:ext cx="1981505" cy="171907"/>
              </a:xfrm>
              <a:prstGeom prst="roundRect">
                <a:avLst>
                  <a:gd name="adj" fmla="val 11170"/>
                </a:avLst>
              </a:prstGeom>
              <a:solidFill>
                <a:srgbClr val="E6F2F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Text 64">
                <a:extLst>
                  <a:ext uri="{FF2B5EF4-FFF2-40B4-BE49-F238E27FC236}">
                    <a16:creationId xmlns:a16="http://schemas.microsoft.com/office/drawing/2014/main" id="{AA77B458-1612-7660-EAFA-7C19649B5998}"/>
                  </a:ext>
                </a:extLst>
              </p:cNvPr>
              <p:cNvSpPr txBox="1"/>
              <p:nvPr/>
            </p:nvSpPr>
            <p:spPr>
              <a:xfrm>
                <a:off x="7435569" y="3237082"/>
                <a:ext cx="1928469" cy="17190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63500" tIns="25400" rIns="635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+ Plug-in new agents via agent registry</a:t>
                </a:r>
              </a:p>
            </p:txBody>
          </p:sp>
          <p:sp>
            <p:nvSpPr>
              <p:cNvPr id="74" name="Shape 65">
                <a:extLst>
                  <a:ext uri="{FF2B5EF4-FFF2-40B4-BE49-F238E27FC236}">
                    <a16:creationId xmlns:a16="http://schemas.microsoft.com/office/drawing/2014/main" id="{9044B8CF-15BE-897F-1ABB-E235772FFA14}"/>
                  </a:ext>
                </a:extLst>
              </p:cNvPr>
              <p:cNvSpPr/>
              <p:nvPr/>
            </p:nvSpPr>
            <p:spPr>
              <a:xfrm>
                <a:off x="9557891" y="2136144"/>
                <a:ext cx="2152498" cy="1333195"/>
              </a:xfrm>
              <a:prstGeom prst="roundRect">
                <a:avLst>
                  <a:gd name="adj" fmla="val 2881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5" name="Text 66">
                <a:extLst>
                  <a:ext uri="{FF2B5EF4-FFF2-40B4-BE49-F238E27FC236}">
                    <a16:creationId xmlns:a16="http://schemas.microsoft.com/office/drawing/2014/main" id="{62EF7B5F-6470-42F9-8875-045E41F2AA85}"/>
                  </a:ext>
                </a:extLst>
              </p:cNvPr>
              <p:cNvSpPr txBox="1"/>
              <p:nvPr/>
            </p:nvSpPr>
            <p:spPr>
              <a:xfrm>
                <a:off x="9643845" y="2212039"/>
                <a:ext cx="1981505" cy="14356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kern="0" spc="8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P4 · Cognitive ops </a:t>
                </a:r>
                <a:r>
                  <a:rPr lang="en-US" sz="800" b="1" kern="0" spc="8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(4 agents)</a:t>
                </a:r>
                <a:endParaRPr lang="en-US" sz="825" dirty="0"/>
              </a:p>
            </p:txBody>
          </p:sp>
          <p:sp>
            <p:nvSpPr>
              <p:cNvPr id="76" name="Shape 67">
                <a:extLst>
                  <a:ext uri="{FF2B5EF4-FFF2-40B4-BE49-F238E27FC236}">
                    <a16:creationId xmlns:a16="http://schemas.microsoft.com/office/drawing/2014/main" id="{7DF95100-DCED-F9DF-DFD3-C8B917911673}"/>
                  </a:ext>
                </a:extLst>
              </p:cNvPr>
              <p:cNvSpPr/>
              <p:nvPr/>
            </p:nvSpPr>
            <p:spPr>
              <a:xfrm>
                <a:off x="9643845" y="2402235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Text 68">
                <a:extLst>
                  <a:ext uri="{FF2B5EF4-FFF2-40B4-BE49-F238E27FC236}">
                    <a16:creationId xmlns:a16="http://schemas.microsoft.com/office/drawing/2014/main" id="{AA7248B3-4085-32A4-9488-31AA13691087}"/>
                  </a:ext>
                </a:extLst>
              </p:cNvPr>
              <p:cNvSpPr txBox="1"/>
              <p:nvPr/>
            </p:nvSpPr>
            <p:spPr>
              <a:xfrm>
                <a:off x="9643845" y="2430581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Strategy</a:t>
                </a:r>
                <a:endParaRPr lang="en-US" sz="800" dirty="0"/>
              </a:p>
            </p:txBody>
          </p:sp>
          <p:sp>
            <p:nvSpPr>
              <p:cNvPr id="78" name="Shape 69">
                <a:extLst>
                  <a:ext uri="{FF2B5EF4-FFF2-40B4-BE49-F238E27FC236}">
                    <a16:creationId xmlns:a16="http://schemas.microsoft.com/office/drawing/2014/main" id="{8675D288-AFE1-3606-BF17-C8E309A8CE56}"/>
                  </a:ext>
                </a:extLst>
              </p:cNvPr>
              <p:cNvSpPr/>
              <p:nvPr/>
            </p:nvSpPr>
            <p:spPr>
              <a:xfrm>
                <a:off x="9643845" y="2564083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Text 70">
                <a:extLst>
                  <a:ext uri="{FF2B5EF4-FFF2-40B4-BE49-F238E27FC236}">
                    <a16:creationId xmlns:a16="http://schemas.microsoft.com/office/drawing/2014/main" id="{F4AC369B-8DE5-9312-AF1A-100EBBA1523E}"/>
                  </a:ext>
                </a:extLst>
              </p:cNvPr>
              <p:cNvSpPr txBox="1"/>
              <p:nvPr/>
            </p:nvSpPr>
            <p:spPr>
              <a:xfrm>
                <a:off x="9643845" y="2592430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Capacity</a:t>
                </a:r>
                <a:endParaRPr lang="en-US" sz="800" dirty="0"/>
              </a:p>
            </p:txBody>
          </p:sp>
          <p:sp>
            <p:nvSpPr>
              <p:cNvPr id="80" name="Shape 71">
                <a:extLst>
                  <a:ext uri="{FF2B5EF4-FFF2-40B4-BE49-F238E27FC236}">
                    <a16:creationId xmlns:a16="http://schemas.microsoft.com/office/drawing/2014/main" id="{D70A6F5D-A282-53FE-A349-82BB776C7C95}"/>
                  </a:ext>
                </a:extLst>
              </p:cNvPr>
              <p:cNvSpPr/>
              <p:nvPr/>
            </p:nvSpPr>
            <p:spPr>
              <a:xfrm>
                <a:off x="9643845" y="2725932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Text 72">
                <a:extLst>
                  <a:ext uri="{FF2B5EF4-FFF2-40B4-BE49-F238E27FC236}">
                    <a16:creationId xmlns:a16="http://schemas.microsoft.com/office/drawing/2014/main" id="{9409B03B-E6EE-3D30-5BA6-4F6F5E7DB8FC}"/>
                  </a:ext>
                </a:extLst>
              </p:cNvPr>
              <p:cNvSpPr txBox="1"/>
              <p:nvPr/>
            </p:nvSpPr>
            <p:spPr>
              <a:xfrm>
                <a:off x="9643845" y="2754279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Steering</a:t>
                </a:r>
                <a:endParaRPr lang="en-US" sz="800" dirty="0"/>
              </a:p>
            </p:txBody>
          </p:sp>
          <p:sp>
            <p:nvSpPr>
              <p:cNvPr id="82" name="Shape 73">
                <a:extLst>
                  <a:ext uri="{FF2B5EF4-FFF2-40B4-BE49-F238E27FC236}">
                    <a16:creationId xmlns:a16="http://schemas.microsoft.com/office/drawing/2014/main" id="{F344EFA9-AD43-449D-9D9C-7BB1CE42F426}"/>
                  </a:ext>
                </a:extLst>
              </p:cNvPr>
              <p:cNvSpPr/>
              <p:nvPr/>
            </p:nvSpPr>
            <p:spPr>
              <a:xfrm>
                <a:off x="9643845" y="2887781"/>
                <a:ext cx="1981505" cy="9144"/>
              </a:xfrm>
              <a:prstGeom prst="rect">
                <a:avLst/>
              </a:prstGeom>
              <a:solidFill>
                <a:srgbClr val="EEF1F2"/>
              </a:solidFill>
              <a:ln w="12700">
                <a:solidFill>
                  <a:srgbClr val="EEF1F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Text 74">
                <a:extLst>
                  <a:ext uri="{FF2B5EF4-FFF2-40B4-BE49-F238E27FC236}">
                    <a16:creationId xmlns:a16="http://schemas.microsoft.com/office/drawing/2014/main" id="{B9E8EAB1-BF20-FBCE-763B-1309B5F113E0}"/>
                  </a:ext>
                </a:extLst>
              </p:cNvPr>
              <p:cNvSpPr txBox="1"/>
              <p:nvPr/>
            </p:nvSpPr>
            <p:spPr>
              <a:xfrm>
                <a:off x="9643845" y="2916127"/>
                <a:ext cx="1981505" cy="13441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25400" tIns="0" rIns="254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Resilient</a:t>
                </a:r>
                <a:endParaRPr lang="en-US" sz="800" dirty="0"/>
              </a:p>
            </p:txBody>
          </p:sp>
          <p:sp>
            <p:nvSpPr>
              <p:cNvPr id="84" name="Shape 75">
                <a:extLst>
                  <a:ext uri="{FF2B5EF4-FFF2-40B4-BE49-F238E27FC236}">
                    <a16:creationId xmlns:a16="http://schemas.microsoft.com/office/drawing/2014/main" id="{A0FCD9B8-DB7F-82B2-2D24-C9055DB92329}"/>
                  </a:ext>
                </a:extLst>
              </p:cNvPr>
              <p:cNvSpPr/>
              <p:nvPr/>
            </p:nvSpPr>
            <p:spPr>
              <a:xfrm>
                <a:off x="9643845" y="3237082"/>
                <a:ext cx="1981505" cy="171907"/>
              </a:xfrm>
              <a:prstGeom prst="roundRect">
                <a:avLst>
                  <a:gd name="adj" fmla="val 11170"/>
                </a:avLst>
              </a:prstGeom>
              <a:solidFill>
                <a:srgbClr val="E6F2F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Text 76">
                <a:extLst>
                  <a:ext uri="{FF2B5EF4-FFF2-40B4-BE49-F238E27FC236}">
                    <a16:creationId xmlns:a16="http://schemas.microsoft.com/office/drawing/2014/main" id="{AEE6CB71-77E5-6E9C-94C6-75AF203E7EAE}"/>
                  </a:ext>
                </a:extLst>
              </p:cNvPr>
              <p:cNvSpPr txBox="1"/>
              <p:nvPr/>
            </p:nvSpPr>
            <p:spPr>
              <a:xfrm>
                <a:off x="9643845" y="3237082"/>
                <a:ext cx="1981505" cy="171907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none" lIns="63500" tIns="25400" rIns="63500" bIns="25400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80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+ Plug-in new agents via agent registry</a:t>
                </a:r>
              </a:p>
            </p:txBody>
          </p:sp>
          <p:sp>
            <p:nvSpPr>
              <p:cNvPr id="86" name="Shape 77">
                <a:extLst>
                  <a:ext uri="{FF2B5EF4-FFF2-40B4-BE49-F238E27FC236}">
                    <a16:creationId xmlns:a16="http://schemas.microsoft.com/office/drawing/2014/main" id="{4B76B55D-7EC7-1F77-8C69-436CDF53933F}"/>
                  </a:ext>
                </a:extLst>
              </p:cNvPr>
              <p:cNvSpPr/>
              <p:nvPr/>
            </p:nvSpPr>
            <p:spPr>
              <a:xfrm>
                <a:off x="297762" y="3583639"/>
                <a:ext cx="11491320" cy="761695"/>
              </a:xfrm>
              <a:prstGeom prst="roundRect">
                <a:avLst>
                  <a:gd name="adj" fmla="val 7563"/>
                </a:avLst>
              </a:prstGeom>
              <a:solidFill>
                <a:srgbClr val="F4F6F7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Shape 78">
                <a:extLst>
                  <a:ext uri="{FF2B5EF4-FFF2-40B4-BE49-F238E27FC236}">
                    <a16:creationId xmlns:a16="http://schemas.microsoft.com/office/drawing/2014/main" id="{9AB9F1E9-F1C8-EA05-B2A4-045C9BC16D5E}"/>
                  </a:ext>
                </a:extLst>
              </p:cNvPr>
              <p:cNvSpPr/>
              <p:nvPr/>
            </p:nvSpPr>
            <p:spPr>
              <a:xfrm>
                <a:off x="297762" y="3583639"/>
                <a:ext cx="47549" cy="761695"/>
              </a:xfrm>
              <a:prstGeom prst="roundRect">
                <a:avLst>
                  <a:gd name="adj" fmla="val 121153"/>
                </a:avLst>
              </a:prstGeom>
              <a:solidFill>
                <a:srgbClr val="006E74"/>
              </a:solidFill>
              <a:ln w="12700">
                <a:solidFill>
                  <a:srgbClr val="006E74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Shape 79">
                <a:extLst>
                  <a:ext uri="{FF2B5EF4-FFF2-40B4-BE49-F238E27FC236}">
                    <a16:creationId xmlns:a16="http://schemas.microsoft.com/office/drawing/2014/main" id="{B244F4BB-EE09-168D-5DE5-BEB4CFAABC50}"/>
                  </a:ext>
                </a:extLst>
              </p:cNvPr>
              <p:cNvSpPr/>
              <p:nvPr/>
            </p:nvSpPr>
            <p:spPr>
              <a:xfrm>
                <a:off x="402918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003C51"/>
              </a:solidFill>
              <a:ln/>
              <a:effectLst>
                <a:outerShdw blurRad="50800" dist="12700" dir="5400000" algn="bl" rotWithShape="0">
                  <a:srgbClr val="9AA5A8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Text 80">
                <a:extLst>
                  <a:ext uri="{FF2B5EF4-FFF2-40B4-BE49-F238E27FC236}">
                    <a16:creationId xmlns:a16="http://schemas.microsoft.com/office/drawing/2014/main" id="{E0FDB69F-2BC4-6362-04CF-6EC70DA245CA}"/>
                  </a:ext>
                </a:extLst>
              </p:cNvPr>
              <p:cNvSpPr txBox="1"/>
              <p:nvPr/>
            </p:nvSpPr>
            <p:spPr>
              <a:xfrm>
                <a:off x="682095" y="3888135"/>
                <a:ext cx="1067735" cy="15322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chemeClr val="bg1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Orchestrator - Claude</a:t>
                </a:r>
                <a:endParaRPr lang="en-US" sz="825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Text 81">
                <a:extLst>
                  <a:ext uri="{FF2B5EF4-FFF2-40B4-BE49-F238E27FC236}">
                    <a16:creationId xmlns:a16="http://schemas.microsoft.com/office/drawing/2014/main" id="{283BE76E-FD41-64D0-5604-10CB6CDB0748}"/>
                  </a:ext>
                </a:extLst>
              </p:cNvPr>
              <p:cNvSpPr txBox="1"/>
              <p:nvPr/>
            </p:nvSpPr>
            <p:spPr>
              <a:xfrm>
                <a:off x="478813" y="4097531"/>
                <a:ext cx="1420063" cy="12070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7CA6A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LangGraph · plan · route · retry</a:t>
                </a:r>
                <a:endParaRPr lang="en-US" sz="800" dirty="0">
                  <a:solidFill>
                    <a:srgbClr val="7CA6AF"/>
                  </a:solidFill>
                </a:endParaRPr>
              </a:p>
            </p:txBody>
          </p:sp>
          <p:sp>
            <p:nvSpPr>
              <p:cNvPr id="91" name="Shape 82">
                <a:extLst>
                  <a:ext uri="{FF2B5EF4-FFF2-40B4-BE49-F238E27FC236}">
                    <a16:creationId xmlns:a16="http://schemas.microsoft.com/office/drawing/2014/main" id="{3CF177FE-CB2D-A954-1D32-D547A12F24A9}"/>
                  </a:ext>
                </a:extLst>
              </p:cNvPr>
              <p:cNvSpPr/>
              <p:nvPr/>
            </p:nvSpPr>
            <p:spPr>
              <a:xfrm>
                <a:off x="2025978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Text 83">
                <a:extLst>
                  <a:ext uri="{FF2B5EF4-FFF2-40B4-BE49-F238E27FC236}">
                    <a16:creationId xmlns:a16="http://schemas.microsoft.com/office/drawing/2014/main" id="{7D823023-C77C-B486-F279-4BCC6E76513D}"/>
                  </a:ext>
                </a:extLst>
              </p:cNvPr>
              <p:cNvSpPr txBox="1"/>
              <p:nvPr/>
            </p:nvSpPr>
            <p:spPr>
              <a:xfrm>
                <a:off x="2305156" y="3888135"/>
                <a:ext cx="796992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Agent registry</a:t>
                </a:r>
                <a:endParaRPr lang="en-US" sz="825" dirty="0"/>
              </a:p>
            </p:txBody>
          </p:sp>
          <p:sp>
            <p:nvSpPr>
              <p:cNvPr id="93" name="Text 84">
                <a:extLst>
                  <a:ext uri="{FF2B5EF4-FFF2-40B4-BE49-F238E27FC236}">
                    <a16:creationId xmlns:a16="http://schemas.microsoft.com/office/drawing/2014/main" id="{08E3D30D-2C26-C5A4-0590-B50F2FBA6CE8}"/>
                  </a:ext>
                </a:extLst>
              </p:cNvPr>
              <p:cNvSpPr txBox="1"/>
              <p:nvPr/>
            </p:nvSpPr>
            <p:spPr>
              <a:xfrm>
                <a:off x="2101873" y="4097532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Capability catalog</a:t>
                </a:r>
                <a:endParaRPr lang="en-US" sz="800" dirty="0"/>
              </a:p>
            </p:txBody>
          </p:sp>
          <p:sp>
            <p:nvSpPr>
              <p:cNvPr id="94" name="Shape 85">
                <a:extLst>
                  <a:ext uri="{FF2B5EF4-FFF2-40B4-BE49-F238E27FC236}">
                    <a16:creationId xmlns:a16="http://schemas.microsoft.com/office/drawing/2014/main" id="{FF4AD499-18F4-2105-3918-862CB3050F1F}"/>
                  </a:ext>
                </a:extLst>
              </p:cNvPr>
              <p:cNvSpPr/>
              <p:nvPr/>
            </p:nvSpPr>
            <p:spPr>
              <a:xfrm>
                <a:off x="3649038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Text 86">
                <a:extLst>
                  <a:ext uri="{FF2B5EF4-FFF2-40B4-BE49-F238E27FC236}">
                    <a16:creationId xmlns:a16="http://schemas.microsoft.com/office/drawing/2014/main" id="{48068221-34F9-8118-1A63-7E2B2E294C9F}"/>
                  </a:ext>
                </a:extLst>
              </p:cNvPr>
              <p:cNvSpPr txBox="1"/>
              <p:nvPr/>
            </p:nvSpPr>
            <p:spPr>
              <a:xfrm>
                <a:off x="3929131" y="3888135"/>
                <a:ext cx="796992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Tool / MCP</a:t>
                </a:r>
                <a:endParaRPr lang="en-US" sz="825" dirty="0"/>
              </a:p>
            </p:txBody>
          </p:sp>
          <p:sp>
            <p:nvSpPr>
              <p:cNvPr id="96" name="Text 87">
                <a:extLst>
                  <a:ext uri="{FF2B5EF4-FFF2-40B4-BE49-F238E27FC236}">
                    <a16:creationId xmlns:a16="http://schemas.microsoft.com/office/drawing/2014/main" id="{054950E7-F79F-7AA5-6DB3-F82BF9B372BF}"/>
                  </a:ext>
                </a:extLst>
              </p:cNvPr>
              <p:cNvSpPr txBox="1"/>
              <p:nvPr/>
            </p:nvSpPr>
            <p:spPr>
              <a:xfrm>
                <a:off x="3725848" y="4097532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Server</a:t>
                </a:r>
                <a:endParaRPr lang="en-US" sz="800" dirty="0"/>
              </a:p>
            </p:txBody>
          </p:sp>
          <p:sp>
            <p:nvSpPr>
              <p:cNvPr id="97" name="Shape 88">
                <a:extLst>
                  <a:ext uri="{FF2B5EF4-FFF2-40B4-BE49-F238E27FC236}">
                    <a16:creationId xmlns:a16="http://schemas.microsoft.com/office/drawing/2014/main" id="{26B94312-1833-83A5-4591-215ECE55280D}"/>
                  </a:ext>
                </a:extLst>
              </p:cNvPr>
              <p:cNvSpPr/>
              <p:nvPr/>
            </p:nvSpPr>
            <p:spPr>
              <a:xfrm>
                <a:off x="5273013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8" name="Text 89">
                <a:extLst>
                  <a:ext uri="{FF2B5EF4-FFF2-40B4-BE49-F238E27FC236}">
                    <a16:creationId xmlns:a16="http://schemas.microsoft.com/office/drawing/2014/main" id="{DD98AFE5-8AD1-D106-D72B-CFA7125F735D}"/>
                  </a:ext>
                </a:extLst>
              </p:cNvPr>
              <p:cNvSpPr txBox="1"/>
              <p:nvPr/>
            </p:nvSpPr>
            <p:spPr>
              <a:xfrm>
                <a:off x="5552191" y="3888135"/>
                <a:ext cx="796992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Memory store</a:t>
                </a:r>
                <a:endParaRPr lang="en-US" sz="825" dirty="0"/>
              </a:p>
            </p:txBody>
          </p:sp>
          <p:sp>
            <p:nvSpPr>
              <p:cNvPr id="99" name="Text 90">
                <a:extLst>
                  <a:ext uri="{FF2B5EF4-FFF2-40B4-BE49-F238E27FC236}">
                    <a16:creationId xmlns:a16="http://schemas.microsoft.com/office/drawing/2014/main" id="{C544A823-F38C-FEF9-E8D6-988382EC27AE}"/>
                  </a:ext>
                </a:extLst>
              </p:cNvPr>
              <p:cNvSpPr txBox="1"/>
              <p:nvPr/>
            </p:nvSpPr>
            <p:spPr>
              <a:xfrm>
                <a:off x="5348908" y="4097532"/>
                <a:ext cx="1543507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Short/long-term · episodic</a:t>
                </a:r>
                <a:endParaRPr lang="en-US" sz="800" dirty="0"/>
              </a:p>
            </p:txBody>
          </p:sp>
          <p:sp>
            <p:nvSpPr>
              <p:cNvPr id="100" name="Shape 91">
                <a:extLst>
                  <a:ext uri="{FF2B5EF4-FFF2-40B4-BE49-F238E27FC236}">
                    <a16:creationId xmlns:a16="http://schemas.microsoft.com/office/drawing/2014/main" id="{3A43B798-46A2-9872-28ED-A3EC376F46BE}"/>
                  </a:ext>
                </a:extLst>
              </p:cNvPr>
              <p:cNvSpPr/>
              <p:nvPr/>
            </p:nvSpPr>
            <p:spPr>
              <a:xfrm>
                <a:off x="6896073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003C51"/>
              </a:solidFill>
              <a:ln/>
              <a:effectLst>
                <a:outerShdw blurRad="50800" dist="12700" dir="5400000" algn="bl" rotWithShape="0">
                  <a:srgbClr val="9AA5A8">
                    <a:alpha val="30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1" name="Text 92">
                <a:extLst>
                  <a:ext uri="{FF2B5EF4-FFF2-40B4-BE49-F238E27FC236}">
                    <a16:creationId xmlns:a16="http://schemas.microsoft.com/office/drawing/2014/main" id="{D8A30DD4-E404-AD9B-A9EE-E2D120827452}"/>
                  </a:ext>
                </a:extLst>
              </p:cNvPr>
              <p:cNvSpPr txBox="1"/>
              <p:nvPr/>
            </p:nvSpPr>
            <p:spPr>
              <a:xfrm>
                <a:off x="7175251" y="3888135"/>
                <a:ext cx="796992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b="1" dirty="0">
                    <a:solidFill>
                      <a:srgbClr val="FFFF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LLM · Anthropic Claude</a:t>
                </a:r>
                <a:endParaRPr lang="en-US" sz="800" dirty="0"/>
              </a:p>
            </p:txBody>
          </p:sp>
          <p:sp>
            <p:nvSpPr>
              <p:cNvPr id="102" name="Text 93">
                <a:extLst>
                  <a:ext uri="{FF2B5EF4-FFF2-40B4-BE49-F238E27FC236}">
                    <a16:creationId xmlns:a16="http://schemas.microsoft.com/office/drawing/2014/main" id="{A8C63184-B30F-619B-23B6-36848D42F8FF}"/>
                  </a:ext>
                </a:extLst>
              </p:cNvPr>
              <p:cNvSpPr txBox="1"/>
              <p:nvPr/>
            </p:nvSpPr>
            <p:spPr>
              <a:xfrm>
                <a:off x="6971968" y="4103933"/>
                <a:ext cx="1631290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9DC3C7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Foundational model · steering</a:t>
                </a:r>
                <a:endParaRPr lang="en-US" sz="800" dirty="0"/>
              </a:p>
            </p:txBody>
          </p:sp>
          <p:sp>
            <p:nvSpPr>
              <p:cNvPr id="103" name="Shape 94">
                <a:extLst>
                  <a:ext uri="{FF2B5EF4-FFF2-40B4-BE49-F238E27FC236}">
                    <a16:creationId xmlns:a16="http://schemas.microsoft.com/office/drawing/2014/main" id="{31697AD0-0F36-87CF-E1E5-9AB3EA03CDC5}"/>
                  </a:ext>
                </a:extLst>
              </p:cNvPr>
              <p:cNvSpPr/>
              <p:nvPr/>
            </p:nvSpPr>
            <p:spPr>
              <a:xfrm>
                <a:off x="8519133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4" name="Text 95">
                <a:extLst>
                  <a:ext uri="{FF2B5EF4-FFF2-40B4-BE49-F238E27FC236}">
                    <a16:creationId xmlns:a16="http://schemas.microsoft.com/office/drawing/2014/main" id="{659793FD-C09E-1EA0-92CC-6559418A1093}"/>
                  </a:ext>
                </a:extLst>
              </p:cNvPr>
              <p:cNvSpPr txBox="1"/>
              <p:nvPr/>
            </p:nvSpPr>
            <p:spPr>
              <a:xfrm>
                <a:off x="8799225" y="3888135"/>
                <a:ext cx="796992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Prompt / skill lib</a:t>
                </a:r>
                <a:endParaRPr lang="en-US" sz="825" dirty="0"/>
              </a:p>
            </p:txBody>
          </p:sp>
          <p:sp>
            <p:nvSpPr>
              <p:cNvPr id="105" name="Text 96">
                <a:extLst>
                  <a:ext uri="{FF2B5EF4-FFF2-40B4-BE49-F238E27FC236}">
                    <a16:creationId xmlns:a16="http://schemas.microsoft.com/office/drawing/2014/main" id="{BB656ED7-2412-0200-878F-44E4CAC3CE8B}"/>
                  </a:ext>
                </a:extLst>
              </p:cNvPr>
              <p:cNvSpPr txBox="1"/>
              <p:nvPr/>
            </p:nvSpPr>
            <p:spPr>
              <a:xfrm>
                <a:off x="8595942" y="4097532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Versioned · eval-gated</a:t>
                </a:r>
                <a:endParaRPr lang="en-US" sz="800" dirty="0"/>
              </a:p>
            </p:txBody>
          </p:sp>
          <p:sp>
            <p:nvSpPr>
              <p:cNvPr id="106" name="Shape 97">
                <a:extLst>
                  <a:ext uri="{FF2B5EF4-FFF2-40B4-BE49-F238E27FC236}">
                    <a16:creationId xmlns:a16="http://schemas.microsoft.com/office/drawing/2014/main" id="{B8B23207-A663-BCBA-7708-B80E4373F126}"/>
                  </a:ext>
                </a:extLst>
              </p:cNvPr>
              <p:cNvSpPr/>
              <p:nvPr/>
            </p:nvSpPr>
            <p:spPr>
              <a:xfrm>
                <a:off x="10143107" y="3831442"/>
                <a:ext cx="1571854" cy="437998"/>
              </a:xfrm>
              <a:prstGeom prst="roundRect">
                <a:avLst>
                  <a:gd name="adj" fmla="val 8768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7" name="Text 98">
                <a:extLst>
                  <a:ext uri="{FF2B5EF4-FFF2-40B4-BE49-F238E27FC236}">
                    <a16:creationId xmlns:a16="http://schemas.microsoft.com/office/drawing/2014/main" id="{7C8E37DD-697D-2AF6-F9B2-2FAD34D482BE}"/>
                  </a:ext>
                </a:extLst>
              </p:cNvPr>
              <p:cNvSpPr txBox="1"/>
              <p:nvPr/>
            </p:nvSpPr>
            <p:spPr>
              <a:xfrm>
                <a:off x="10422285" y="3888135"/>
                <a:ext cx="796992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Sandbox / runner</a:t>
                </a:r>
                <a:endParaRPr lang="en-US" sz="825" dirty="0"/>
              </a:p>
            </p:txBody>
          </p:sp>
          <p:sp>
            <p:nvSpPr>
              <p:cNvPr id="108" name="Text 99">
                <a:extLst>
                  <a:ext uri="{FF2B5EF4-FFF2-40B4-BE49-F238E27FC236}">
                    <a16:creationId xmlns:a16="http://schemas.microsoft.com/office/drawing/2014/main" id="{703C7F07-39DA-4CFF-31EC-1CA62D01CAB4}"/>
                  </a:ext>
                </a:extLst>
              </p:cNvPr>
              <p:cNvSpPr txBox="1"/>
              <p:nvPr/>
            </p:nvSpPr>
            <p:spPr>
              <a:xfrm>
                <a:off x="10219002" y="4097532"/>
                <a:ext cx="1543507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Kubernetes · isolated pods</a:t>
                </a:r>
                <a:endParaRPr lang="en-US" sz="800" dirty="0"/>
              </a:p>
            </p:txBody>
          </p:sp>
          <p:sp>
            <p:nvSpPr>
              <p:cNvPr id="109" name="Text 100">
                <a:extLst>
                  <a:ext uri="{FF2B5EF4-FFF2-40B4-BE49-F238E27FC236}">
                    <a16:creationId xmlns:a16="http://schemas.microsoft.com/office/drawing/2014/main" id="{626B6187-EF43-D721-6E66-5DFB9E4926BD}"/>
                  </a:ext>
                </a:extLst>
              </p:cNvPr>
              <p:cNvSpPr txBox="1"/>
              <p:nvPr/>
            </p:nvSpPr>
            <p:spPr>
              <a:xfrm>
                <a:off x="402918" y="3640789"/>
                <a:ext cx="1360627" cy="152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050" b="1" kern="0" spc="90" dirty="0">
                    <a:solidFill>
                      <a:srgbClr val="006E74"/>
                    </a:solidFill>
                    <a:latin typeface="Aptos" panose="020B0004020202020204" pitchFamily="34" charset="0"/>
                    <a:ea typeface="Inter" pitchFamily="34" charset="-122"/>
                  </a:rPr>
                  <a:t>SmartGenie</a:t>
                </a:r>
                <a:r>
                  <a:rPr lang="en-US" sz="90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1050" b="1" kern="0" spc="90" dirty="0">
                    <a:solidFill>
                      <a:srgbClr val="006E74"/>
                    </a:solidFill>
                    <a:latin typeface="Aptos" panose="020B0004020202020204" pitchFamily="34" charset="0"/>
                    <a:ea typeface="Inter" pitchFamily="34" charset="-122"/>
                  </a:rPr>
                  <a:t>· AI layer</a:t>
                </a:r>
              </a:p>
            </p:txBody>
          </p:sp>
          <p:sp>
            <p:nvSpPr>
              <p:cNvPr id="110" name="Text 101">
                <a:extLst>
                  <a:ext uri="{FF2B5EF4-FFF2-40B4-BE49-F238E27FC236}">
                    <a16:creationId xmlns:a16="http://schemas.microsoft.com/office/drawing/2014/main" id="{E96CB6E4-6B37-9DDF-F862-BF131BCE6CB1}"/>
                  </a:ext>
                </a:extLst>
              </p:cNvPr>
              <p:cNvSpPr txBox="1"/>
              <p:nvPr/>
            </p:nvSpPr>
            <p:spPr>
              <a:xfrm>
                <a:off x="1958949" y="3659992"/>
                <a:ext cx="2947111" cy="13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900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· Runtime &amp; orchestration substrate every agent runs on</a:t>
                </a:r>
                <a:endParaRPr lang="en-US" sz="900" dirty="0">
                  <a:solidFill>
                    <a:srgbClr val="006E74"/>
                  </a:solidFill>
                </a:endParaRPr>
              </a:p>
            </p:txBody>
          </p:sp>
          <p:sp>
            <p:nvSpPr>
              <p:cNvPr id="111" name="Shape 102">
                <a:extLst>
                  <a:ext uri="{FF2B5EF4-FFF2-40B4-BE49-F238E27FC236}">
                    <a16:creationId xmlns:a16="http://schemas.microsoft.com/office/drawing/2014/main" id="{C609B0B7-3A5F-2EB7-FE7E-E1AAB66C7A28}"/>
                  </a:ext>
                </a:extLst>
              </p:cNvPr>
              <p:cNvSpPr/>
              <p:nvPr/>
            </p:nvSpPr>
            <p:spPr>
              <a:xfrm>
                <a:off x="297762" y="4450491"/>
                <a:ext cx="11491320" cy="705002"/>
              </a:xfrm>
              <a:prstGeom prst="roundRect">
                <a:avLst>
                  <a:gd name="adj" fmla="val 8171"/>
                </a:avLst>
              </a:prstGeom>
              <a:solidFill>
                <a:srgbClr val="F4F6F7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2" name="Shape 103">
                <a:extLst>
                  <a:ext uri="{FF2B5EF4-FFF2-40B4-BE49-F238E27FC236}">
                    <a16:creationId xmlns:a16="http://schemas.microsoft.com/office/drawing/2014/main" id="{35120E4F-B063-5A96-266A-5A951C00C12C}"/>
                  </a:ext>
                </a:extLst>
              </p:cNvPr>
              <p:cNvSpPr/>
              <p:nvPr/>
            </p:nvSpPr>
            <p:spPr>
              <a:xfrm>
                <a:off x="297762" y="4450491"/>
                <a:ext cx="47549" cy="705002"/>
              </a:xfrm>
              <a:prstGeom prst="roundRect">
                <a:avLst>
                  <a:gd name="adj" fmla="val 121153"/>
                </a:avLst>
              </a:prstGeom>
              <a:solidFill>
                <a:srgbClr val="1E40AF"/>
              </a:solidFill>
              <a:ln w="12700">
                <a:solidFill>
                  <a:srgbClr val="006E74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3" name="Shape 104">
                <a:extLst>
                  <a:ext uri="{FF2B5EF4-FFF2-40B4-BE49-F238E27FC236}">
                    <a16:creationId xmlns:a16="http://schemas.microsoft.com/office/drawing/2014/main" id="{8D032AD2-FE65-A91A-A98D-CC04A22F66B8}"/>
                  </a:ext>
                </a:extLst>
              </p:cNvPr>
              <p:cNvSpPr/>
              <p:nvPr/>
            </p:nvSpPr>
            <p:spPr>
              <a:xfrm>
                <a:off x="488872" y="4698293"/>
                <a:ext cx="1984248" cy="400507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" name="Text 105">
                <a:extLst>
                  <a:ext uri="{FF2B5EF4-FFF2-40B4-BE49-F238E27FC236}">
                    <a16:creationId xmlns:a16="http://schemas.microsoft.com/office/drawing/2014/main" id="{71BE3994-9BD6-C9B1-1035-2E3856514A7E}"/>
                  </a:ext>
                </a:extLst>
              </p:cNvPr>
              <p:cNvSpPr txBox="1"/>
              <p:nvPr/>
            </p:nvSpPr>
            <p:spPr>
              <a:xfrm>
                <a:off x="767066" y="4733967"/>
                <a:ext cx="919304" cy="15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Delta lake</a:t>
                </a:r>
                <a:endParaRPr lang="en-US" sz="825" dirty="0"/>
              </a:p>
            </p:txBody>
          </p:sp>
          <p:sp>
            <p:nvSpPr>
              <p:cNvPr id="115" name="Text 106">
                <a:extLst>
                  <a:ext uri="{FF2B5EF4-FFF2-40B4-BE49-F238E27FC236}">
                    <a16:creationId xmlns:a16="http://schemas.microsoft.com/office/drawing/2014/main" id="{2BC3F98D-FD8F-43F7-12E7-ADA3953F4899}"/>
                  </a:ext>
                </a:extLst>
              </p:cNvPr>
              <p:cNvSpPr txBox="1"/>
              <p:nvPr/>
            </p:nvSpPr>
            <p:spPr>
              <a:xfrm>
                <a:off x="574825" y="4916835"/>
                <a:ext cx="1898294" cy="1819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Predictions · anomalies · alarms</a:t>
                </a:r>
                <a:endParaRPr lang="en-US" sz="800" dirty="0"/>
              </a:p>
            </p:txBody>
          </p:sp>
          <p:sp>
            <p:nvSpPr>
              <p:cNvPr id="116" name="Shape 107">
                <a:extLst>
                  <a:ext uri="{FF2B5EF4-FFF2-40B4-BE49-F238E27FC236}">
                    <a16:creationId xmlns:a16="http://schemas.microsoft.com/office/drawing/2014/main" id="{1D68632C-C7F0-AF61-693B-E405C162B2FE}"/>
                  </a:ext>
                </a:extLst>
              </p:cNvPr>
              <p:cNvSpPr/>
              <p:nvPr/>
            </p:nvSpPr>
            <p:spPr>
              <a:xfrm>
                <a:off x="2761156" y="4698293"/>
                <a:ext cx="1984248" cy="400507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7" name="Text 108">
                <a:extLst>
                  <a:ext uri="{FF2B5EF4-FFF2-40B4-BE49-F238E27FC236}">
                    <a16:creationId xmlns:a16="http://schemas.microsoft.com/office/drawing/2014/main" id="{645BDF07-19CF-61B2-27D1-C4FC3CF26CB9}"/>
                  </a:ext>
                </a:extLst>
              </p:cNvPr>
              <p:cNvSpPr txBox="1"/>
              <p:nvPr/>
            </p:nvSpPr>
            <p:spPr>
              <a:xfrm>
                <a:off x="3040265" y="4733967"/>
                <a:ext cx="919304" cy="15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Postgres</a:t>
                </a:r>
                <a:endParaRPr lang="en-US" sz="825" dirty="0"/>
              </a:p>
            </p:txBody>
          </p:sp>
          <p:sp>
            <p:nvSpPr>
              <p:cNvPr id="118" name="Text 109">
                <a:extLst>
                  <a:ext uri="{FF2B5EF4-FFF2-40B4-BE49-F238E27FC236}">
                    <a16:creationId xmlns:a16="http://schemas.microsoft.com/office/drawing/2014/main" id="{232C4200-2D22-2088-2F95-F175BE1F63DA}"/>
                  </a:ext>
                </a:extLst>
              </p:cNvPr>
              <p:cNvSpPr txBox="1"/>
              <p:nvPr/>
            </p:nvSpPr>
            <p:spPr>
              <a:xfrm>
                <a:off x="2848024" y="4916835"/>
                <a:ext cx="1898294" cy="1819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State · config · incidents</a:t>
                </a:r>
                <a:endParaRPr lang="en-US" sz="800" dirty="0"/>
              </a:p>
            </p:txBody>
          </p:sp>
          <p:sp>
            <p:nvSpPr>
              <p:cNvPr id="119" name="Shape 110">
                <a:extLst>
                  <a:ext uri="{FF2B5EF4-FFF2-40B4-BE49-F238E27FC236}">
                    <a16:creationId xmlns:a16="http://schemas.microsoft.com/office/drawing/2014/main" id="{9D3A2665-426A-1F4D-8C49-7B6412F54B28}"/>
                  </a:ext>
                </a:extLst>
              </p:cNvPr>
              <p:cNvSpPr/>
              <p:nvPr/>
            </p:nvSpPr>
            <p:spPr>
              <a:xfrm>
                <a:off x="5034355" y="4698293"/>
                <a:ext cx="1984248" cy="400507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0" name="Text 111">
                <a:extLst>
                  <a:ext uri="{FF2B5EF4-FFF2-40B4-BE49-F238E27FC236}">
                    <a16:creationId xmlns:a16="http://schemas.microsoft.com/office/drawing/2014/main" id="{26BA6440-42AA-9A6D-1CFB-2CC051D77450}"/>
                  </a:ext>
                </a:extLst>
              </p:cNvPr>
              <p:cNvSpPr txBox="1"/>
              <p:nvPr/>
            </p:nvSpPr>
            <p:spPr>
              <a:xfrm>
                <a:off x="5312549" y="4733967"/>
                <a:ext cx="919304" cy="15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Knowledge graph</a:t>
                </a:r>
                <a:endParaRPr lang="en-US" sz="825" dirty="0"/>
              </a:p>
            </p:txBody>
          </p:sp>
          <p:sp>
            <p:nvSpPr>
              <p:cNvPr id="121" name="Text 112">
                <a:extLst>
                  <a:ext uri="{FF2B5EF4-FFF2-40B4-BE49-F238E27FC236}">
                    <a16:creationId xmlns:a16="http://schemas.microsoft.com/office/drawing/2014/main" id="{124B730E-DA09-9253-55E1-9628846CE1DD}"/>
                  </a:ext>
                </a:extLst>
              </p:cNvPr>
              <p:cNvSpPr txBox="1"/>
              <p:nvPr/>
            </p:nvSpPr>
            <p:spPr>
              <a:xfrm>
                <a:off x="5120308" y="4916835"/>
                <a:ext cx="1898294" cy="1819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Topology · dependencies</a:t>
                </a:r>
                <a:endParaRPr lang="en-US" sz="800" dirty="0"/>
              </a:p>
            </p:txBody>
          </p:sp>
          <p:sp>
            <p:nvSpPr>
              <p:cNvPr id="122" name="Shape 113">
                <a:extLst>
                  <a:ext uri="{FF2B5EF4-FFF2-40B4-BE49-F238E27FC236}">
                    <a16:creationId xmlns:a16="http://schemas.microsoft.com/office/drawing/2014/main" id="{9DFCE9BE-B097-8667-6B7A-CFE618B11ED4}"/>
                  </a:ext>
                </a:extLst>
              </p:cNvPr>
              <p:cNvSpPr/>
              <p:nvPr/>
            </p:nvSpPr>
            <p:spPr>
              <a:xfrm>
                <a:off x="7306639" y="4698293"/>
                <a:ext cx="1984248" cy="400507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3" name="Text 114">
                <a:extLst>
                  <a:ext uri="{FF2B5EF4-FFF2-40B4-BE49-F238E27FC236}">
                    <a16:creationId xmlns:a16="http://schemas.microsoft.com/office/drawing/2014/main" id="{C08A8E50-65D0-E2E2-6A47-D996F96A2E80}"/>
                  </a:ext>
                </a:extLst>
              </p:cNvPr>
              <p:cNvSpPr txBox="1"/>
              <p:nvPr/>
            </p:nvSpPr>
            <p:spPr>
              <a:xfrm>
                <a:off x="7584833" y="4733967"/>
                <a:ext cx="919304" cy="15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Time-series DB</a:t>
                </a:r>
                <a:endParaRPr lang="en-US" sz="825" dirty="0"/>
              </a:p>
            </p:txBody>
          </p:sp>
          <p:sp>
            <p:nvSpPr>
              <p:cNvPr id="124" name="Text 115">
                <a:extLst>
                  <a:ext uri="{FF2B5EF4-FFF2-40B4-BE49-F238E27FC236}">
                    <a16:creationId xmlns:a16="http://schemas.microsoft.com/office/drawing/2014/main" id="{E9D78771-F45A-A740-404D-17C3FB74BCFA}"/>
                  </a:ext>
                </a:extLst>
              </p:cNvPr>
              <p:cNvSpPr txBox="1"/>
              <p:nvPr/>
            </p:nvSpPr>
            <p:spPr>
              <a:xfrm>
                <a:off x="7392592" y="4916835"/>
                <a:ext cx="1898294" cy="1819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Prometheus · Influx</a:t>
                </a:r>
                <a:endParaRPr lang="en-US" sz="800" dirty="0"/>
              </a:p>
            </p:txBody>
          </p:sp>
          <p:sp>
            <p:nvSpPr>
              <p:cNvPr id="125" name="Shape 116">
                <a:extLst>
                  <a:ext uri="{FF2B5EF4-FFF2-40B4-BE49-F238E27FC236}">
                    <a16:creationId xmlns:a16="http://schemas.microsoft.com/office/drawing/2014/main" id="{4E38ECB4-7247-8D39-DC5C-0DA55D90668C}"/>
                  </a:ext>
                </a:extLst>
              </p:cNvPr>
              <p:cNvSpPr/>
              <p:nvPr/>
            </p:nvSpPr>
            <p:spPr>
              <a:xfrm>
                <a:off x="9578923" y="4698293"/>
                <a:ext cx="1984248" cy="400507"/>
              </a:xfrm>
              <a:prstGeom prst="roundRect">
                <a:avLst>
                  <a:gd name="adj" fmla="val 958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6" name="Text 117">
                <a:extLst>
                  <a:ext uri="{FF2B5EF4-FFF2-40B4-BE49-F238E27FC236}">
                    <a16:creationId xmlns:a16="http://schemas.microsoft.com/office/drawing/2014/main" id="{AFC6492D-BC9A-F2FB-394E-F632CDF3B196}"/>
                  </a:ext>
                </a:extLst>
              </p:cNvPr>
              <p:cNvSpPr txBox="1"/>
              <p:nvPr/>
            </p:nvSpPr>
            <p:spPr>
              <a:xfrm>
                <a:off x="9911290" y="4733967"/>
                <a:ext cx="919304" cy="151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Enterprise CMDB</a:t>
                </a:r>
                <a:endParaRPr lang="en-US" sz="825" dirty="0"/>
              </a:p>
            </p:txBody>
          </p:sp>
          <p:sp>
            <p:nvSpPr>
              <p:cNvPr id="127" name="Text 118">
                <a:extLst>
                  <a:ext uri="{FF2B5EF4-FFF2-40B4-BE49-F238E27FC236}">
                    <a16:creationId xmlns:a16="http://schemas.microsoft.com/office/drawing/2014/main" id="{1F5FBC10-B0F4-9206-3803-4987A531A77E}"/>
                  </a:ext>
                </a:extLst>
              </p:cNvPr>
              <p:cNvSpPr txBox="1"/>
              <p:nvPr/>
            </p:nvSpPr>
            <p:spPr>
              <a:xfrm>
                <a:off x="9708990" y="4916834"/>
                <a:ext cx="1744202" cy="1819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Topology · hardware · inventory</a:t>
                </a:r>
                <a:endParaRPr lang="en-US" sz="800" dirty="0"/>
              </a:p>
            </p:txBody>
          </p:sp>
          <p:sp>
            <p:nvSpPr>
              <p:cNvPr id="128" name="Text 119">
                <a:extLst>
                  <a:ext uri="{FF2B5EF4-FFF2-40B4-BE49-F238E27FC236}">
                    <a16:creationId xmlns:a16="http://schemas.microsoft.com/office/drawing/2014/main" id="{C7BEBF5E-06BD-3E23-7FC7-BA78D38300B0}"/>
                  </a:ext>
                </a:extLst>
              </p:cNvPr>
              <p:cNvSpPr txBox="1"/>
              <p:nvPr/>
            </p:nvSpPr>
            <p:spPr>
              <a:xfrm>
                <a:off x="402918" y="4507640"/>
                <a:ext cx="1357884" cy="152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050" b="1" kern="0" spc="90" dirty="0">
                    <a:solidFill>
                      <a:srgbClr val="1E40AF"/>
                    </a:solidFill>
                    <a:ea typeface="Inter" pitchFamily="34" charset="-122"/>
                  </a:rPr>
                  <a:t>Data</a:t>
                </a:r>
                <a:r>
                  <a:rPr lang="en-US" sz="1050" b="1" dirty="0">
                    <a:solidFill>
                      <a:srgbClr val="006E74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1050" b="1" kern="0" spc="90" dirty="0">
                    <a:solidFill>
                      <a:srgbClr val="1E40AF"/>
                    </a:solidFill>
                    <a:ea typeface="Inter" pitchFamily="34" charset="-122"/>
                  </a:rPr>
                  <a:t>&amp; foundation</a:t>
                </a:r>
              </a:p>
            </p:txBody>
          </p:sp>
          <p:sp>
            <p:nvSpPr>
              <p:cNvPr id="129" name="Text 120">
                <a:extLst>
                  <a:ext uri="{FF2B5EF4-FFF2-40B4-BE49-F238E27FC236}">
                    <a16:creationId xmlns:a16="http://schemas.microsoft.com/office/drawing/2014/main" id="{DE95A22C-2D61-A913-3CD9-8B062E2C1BED}"/>
                  </a:ext>
                </a:extLst>
              </p:cNvPr>
              <p:cNvSpPr txBox="1"/>
              <p:nvPr/>
            </p:nvSpPr>
            <p:spPr>
              <a:xfrm>
                <a:off x="1696794" y="4526843"/>
                <a:ext cx="1972361" cy="13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900" dirty="0">
                    <a:solidFill>
                      <a:srgbClr val="1E40A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· Operational · topological · predictive</a:t>
                </a:r>
                <a:endParaRPr lang="en-US" sz="900" dirty="0">
                  <a:solidFill>
                    <a:srgbClr val="1E40AF"/>
                  </a:solidFill>
                </a:endParaRPr>
              </a:p>
            </p:txBody>
          </p:sp>
          <p:sp>
            <p:nvSpPr>
              <p:cNvPr id="130" name="Shape 121">
                <a:extLst>
                  <a:ext uri="{FF2B5EF4-FFF2-40B4-BE49-F238E27FC236}">
                    <a16:creationId xmlns:a16="http://schemas.microsoft.com/office/drawing/2014/main" id="{6D86C299-7D52-8D8A-21F2-F200C63F763B}"/>
                  </a:ext>
                </a:extLst>
              </p:cNvPr>
              <p:cNvSpPr/>
              <p:nvPr/>
            </p:nvSpPr>
            <p:spPr>
              <a:xfrm>
                <a:off x="297762" y="5222244"/>
                <a:ext cx="11491320" cy="800100"/>
              </a:xfrm>
              <a:prstGeom prst="roundRect">
                <a:avLst>
                  <a:gd name="adj" fmla="val 7200"/>
                </a:avLst>
              </a:prstGeom>
              <a:solidFill>
                <a:srgbClr val="F4F6F7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Shape 122">
                <a:extLst>
                  <a:ext uri="{FF2B5EF4-FFF2-40B4-BE49-F238E27FC236}">
                    <a16:creationId xmlns:a16="http://schemas.microsoft.com/office/drawing/2014/main" id="{3FD8CA93-3E24-B6D2-FA6F-9B245D254BA1}"/>
                  </a:ext>
                </a:extLst>
              </p:cNvPr>
              <p:cNvSpPr/>
              <p:nvPr/>
            </p:nvSpPr>
            <p:spPr>
              <a:xfrm>
                <a:off x="297762" y="5222244"/>
                <a:ext cx="47549" cy="800100"/>
              </a:xfrm>
              <a:prstGeom prst="roundRect">
                <a:avLst>
                  <a:gd name="adj" fmla="val 121153"/>
                </a:avLst>
              </a:prstGeom>
              <a:solidFill>
                <a:srgbClr val="7F6000"/>
              </a:solidFill>
              <a:ln w="12700">
                <a:solidFill>
                  <a:srgbClr val="006E74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2" name="Shape 123">
                <a:extLst>
                  <a:ext uri="{FF2B5EF4-FFF2-40B4-BE49-F238E27FC236}">
                    <a16:creationId xmlns:a16="http://schemas.microsoft.com/office/drawing/2014/main" id="{28E77426-011C-BD08-1C2A-BA31A06CFE36}"/>
                  </a:ext>
                </a:extLst>
              </p:cNvPr>
              <p:cNvSpPr/>
              <p:nvPr/>
            </p:nvSpPr>
            <p:spPr>
              <a:xfrm>
                <a:off x="402918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3" name="Text 124">
                <a:extLst>
                  <a:ext uri="{FF2B5EF4-FFF2-40B4-BE49-F238E27FC236}">
                    <a16:creationId xmlns:a16="http://schemas.microsoft.com/office/drawing/2014/main" id="{0D8999A5-BCE3-D5B0-69F1-772D452901ED}"/>
                  </a:ext>
                </a:extLst>
              </p:cNvPr>
              <p:cNvSpPr txBox="1"/>
              <p:nvPr/>
            </p:nvSpPr>
            <p:spPr>
              <a:xfrm>
                <a:off x="682096" y="5546382"/>
                <a:ext cx="742494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RAN</a:t>
                </a:r>
                <a:endParaRPr lang="en-US" sz="825" dirty="0"/>
              </a:p>
            </p:txBody>
          </p:sp>
          <p:sp>
            <p:nvSpPr>
              <p:cNvPr id="134" name="Text 125">
                <a:extLst>
                  <a:ext uri="{FF2B5EF4-FFF2-40B4-BE49-F238E27FC236}">
                    <a16:creationId xmlns:a16="http://schemas.microsoft.com/office/drawing/2014/main" id="{1485B66D-EDDB-B55B-9307-C0BB8EE6FEAD}"/>
                  </a:ext>
                </a:extLst>
              </p:cNvPr>
              <p:cNvSpPr txBox="1"/>
              <p:nvPr/>
            </p:nvSpPr>
            <p:spPr>
              <a:xfrm>
                <a:off x="478813" y="5783686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Cell KPIs · PMs · FMs</a:t>
                </a:r>
                <a:endParaRPr lang="en-US" sz="800" dirty="0"/>
              </a:p>
            </p:txBody>
          </p:sp>
          <p:sp>
            <p:nvSpPr>
              <p:cNvPr id="135" name="Shape 126">
                <a:extLst>
                  <a:ext uri="{FF2B5EF4-FFF2-40B4-BE49-F238E27FC236}">
                    <a16:creationId xmlns:a16="http://schemas.microsoft.com/office/drawing/2014/main" id="{62A3AFBA-3A3E-00F6-FF8D-DC6B168D1AA3}"/>
                  </a:ext>
                </a:extLst>
              </p:cNvPr>
              <p:cNvSpPr/>
              <p:nvPr/>
            </p:nvSpPr>
            <p:spPr>
              <a:xfrm>
                <a:off x="2025978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6" name="Text 127">
                <a:extLst>
                  <a:ext uri="{FF2B5EF4-FFF2-40B4-BE49-F238E27FC236}">
                    <a16:creationId xmlns:a16="http://schemas.microsoft.com/office/drawing/2014/main" id="{486800FC-1B18-059F-9C92-30F3CF25C6EF}"/>
                  </a:ext>
                </a:extLst>
              </p:cNvPr>
              <p:cNvSpPr txBox="1"/>
              <p:nvPr/>
            </p:nvSpPr>
            <p:spPr>
              <a:xfrm>
                <a:off x="2305156" y="5546382"/>
                <a:ext cx="742494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Transport</a:t>
                </a:r>
                <a:endParaRPr lang="en-US" sz="825" dirty="0"/>
              </a:p>
            </p:txBody>
          </p:sp>
          <p:sp>
            <p:nvSpPr>
              <p:cNvPr id="137" name="Text 128">
                <a:extLst>
                  <a:ext uri="{FF2B5EF4-FFF2-40B4-BE49-F238E27FC236}">
                    <a16:creationId xmlns:a16="http://schemas.microsoft.com/office/drawing/2014/main" id="{F6760552-D3CE-72A2-07E1-49298DA0B198}"/>
                  </a:ext>
                </a:extLst>
              </p:cNvPr>
              <p:cNvSpPr txBox="1"/>
              <p:nvPr/>
            </p:nvSpPr>
            <p:spPr>
              <a:xfrm>
                <a:off x="2101873" y="5783686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IP · MW · fibre</a:t>
                </a:r>
                <a:endParaRPr lang="en-US" sz="800" dirty="0"/>
              </a:p>
            </p:txBody>
          </p:sp>
          <p:sp>
            <p:nvSpPr>
              <p:cNvPr id="138" name="Shape 129">
                <a:extLst>
                  <a:ext uri="{FF2B5EF4-FFF2-40B4-BE49-F238E27FC236}">
                    <a16:creationId xmlns:a16="http://schemas.microsoft.com/office/drawing/2014/main" id="{55329F4C-E089-BAC5-2953-289394627614}"/>
                  </a:ext>
                </a:extLst>
              </p:cNvPr>
              <p:cNvSpPr/>
              <p:nvPr/>
            </p:nvSpPr>
            <p:spPr>
              <a:xfrm>
                <a:off x="3649038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9" name="Text 130">
                <a:extLst>
                  <a:ext uri="{FF2B5EF4-FFF2-40B4-BE49-F238E27FC236}">
                    <a16:creationId xmlns:a16="http://schemas.microsoft.com/office/drawing/2014/main" id="{3EDC62EE-C145-5042-2E48-6E528FB8D357}"/>
                  </a:ext>
                </a:extLst>
              </p:cNvPr>
              <p:cNvSpPr txBox="1"/>
              <p:nvPr/>
            </p:nvSpPr>
            <p:spPr>
              <a:xfrm>
                <a:off x="3929131" y="5546382"/>
                <a:ext cx="742494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Core &amp; IMS</a:t>
                </a:r>
                <a:endParaRPr lang="en-US" sz="825" dirty="0"/>
              </a:p>
            </p:txBody>
          </p:sp>
          <p:sp>
            <p:nvSpPr>
              <p:cNvPr id="140" name="Text 131">
                <a:extLst>
                  <a:ext uri="{FF2B5EF4-FFF2-40B4-BE49-F238E27FC236}">
                    <a16:creationId xmlns:a16="http://schemas.microsoft.com/office/drawing/2014/main" id="{75D278C9-B18D-45DB-43C6-0F441E649F4B}"/>
                  </a:ext>
                </a:extLst>
              </p:cNvPr>
              <p:cNvSpPr txBox="1"/>
              <p:nvPr/>
            </p:nvSpPr>
            <p:spPr>
              <a:xfrm>
                <a:off x="3725848" y="5783686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5GC · EPC · voice</a:t>
                </a:r>
                <a:endParaRPr lang="en-US" sz="800" dirty="0"/>
              </a:p>
            </p:txBody>
          </p:sp>
          <p:sp>
            <p:nvSpPr>
              <p:cNvPr id="141" name="Shape 132">
                <a:extLst>
                  <a:ext uri="{FF2B5EF4-FFF2-40B4-BE49-F238E27FC236}">
                    <a16:creationId xmlns:a16="http://schemas.microsoft.com/office/drawing/2014/main" id="{464DBA91-DE5B-E233-7446-909D90BAE4C2}"/>
                  </a:ext>
                </a:extLst>
              </p:cNvPr>
              <p:cNvSpPr/>
              <p:nvPr/>
            </p:nvSpPr>
            <p:spPr>
              <a:xfrm>
                <a:off x="5273013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2" name="Text 133">
                <a:extLst>
                  <a:ext uri="{FF2B5EF4-FFF2-40B4-BE49-F238E27FC236}">
                    <a16:creationId xmlns:a16="http://schemas.microsoft.com/office/drawing/2014/main" id="{B9CC041F-6D44-BAA7-120E-26957E9A75A8}"/>
                  </a:ext>
                </a:extLst>
              </p:cNvPr>
              <p:cNvSpPr txBox="1"/>
              <p:nvPr/>
            </p:nvSpPr>
            <p:spPr>
              <a:xfrm>
                <a:off x="5552191" y="5546382"/>
                <a:ext cx="742494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Change Mgmt</a:t>
                </a:r>
                <a:endParaRPr lang="en-US" sz="825" dirty="0"/>
              </a:p>
            </p:txBody>
          </p:sp>
          <p:sp>
            <p:nvSpPr>
              <p:cNvPr id="143" name="Text 134">
                <a:extLst>
                  <a:ext uri="{FF2B5EF4-FFF2-40B4-BE49-F238E27FC236}">
                    <a16:creationId xmlns:a16="http://schemas.microsoft.com/office/drawing/2014/main" id="{D8245B50-3750-D6AF-28D9-34E94D2D5359}"/>
                  </a:ext>
                </a:extLst>
              </p:cNvPr>
              <p:cNvSpPr txBox="1"/>
              <p:nvPr/>
            </p:nvSpPr>
            <p:spPr>
              <a:xfrm>
                <a:off x="5348908" y="5783686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CMDB · CR history</a:t>
                </a:r>
                <a:endParaRPr lang="en-US" sz="800" dirty="0"/>
              </a:p>
            </p:txBody>
          </p:sp>
          <p:sp>
            <p:nvSpPr>
              <p:cNvPr id="144" name="Shape 135">
                <a:extLst>
                  <a:ext uri="{FF2B5EF4-FFF2-40B4-BE49-F238E27FC236}">
                    <a16:creationId xmlns:a16="http://schemas.microsoft.com/office/drawing/2014/main" id="{2BA4B986-8822-DA1A-518C-3962C43657B5}"/>
                  </a:ext>
                </a:extLst>
              </p:cNvPr>
              <p:cNvSpPr/>
              <p:nvPr/>
            </p:nvSpPr>
            <p:spPr>
              <a:xfrm>
                <a:off x="6896073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5" name="Text 136">
                <a:extLst>
                  <a:ext uri="{FF2B5EF4-FFF2-40B4-BE49-F238E27FC236}">
                    <a16:creationId xmlns:a16="http://schemas.microsoft.com/office/drawing/2014/main" id="{0CDB5AA7-3111-1EDF-8FA7-8E3FF448D8F2}"/>
                  </a:ext>
                </a:extLst>
              </p:cNvPr>
              <p:cNvSpPr txBox="1"/>
              <p:nvPr/>
            </p:nvSpPr>
            <p:spPr>
              <a:xfrm>
                <a:off x="7175251" y="5546382"/>
                <a:ext cx="742494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Tickets</a:t>
                </a:r>
                <a:endParaRPr lang="en-US" sz="825" dirty="0"/>
              </a:p>
            </p:txBody>
          </p:sp>
          <p:sp>
            <p:nvSpPr>
              <p:cNvPr id="146" name="Text 137">
                <a:extLst>
                  <a:ext uri="{FF2B5EF4-FFF2-40B4-BE49-F238E27FC236}">
                    <a16:creationId xmlns:a16="http://schemas.microsoft.com/office/drawing/2014/main" id="{9BBC3785-1E01-88B8-C18F-DBBB0D13EE1E}"/>
                  </a:ext>
                </a:extLst>
              </p:cNvPr>
              <p:cNvSpPr txBox="1"/>
              <p:nvPr/>
            </p:nvSpPr>
            <p:spPr>
              <a:xfrm>
                <a:off x="6971968" y="5783686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Incidents · SRs</a:t>
                </a:r>
                <a:endParaRPr lang="en-US" sz="800" dirty="0"/>
              </a:p>
            </p:txBody>
          </p:sp>
          <p:sp>
            <p:nvSpPr>
              <p:cNvPr id="147" name="Shape 138">
                <a:extLst>
                  <a:ext uri="{FF2B5EF4-FFF2-40B4-BE49-F238E27FC236}">
                    <a16:creationId xmlns:a16="http://schemas.microsoft.com/office/drawing/2014/main" id="{D6DD0694-CAC4-004A-85BE-64809EBF9C9E}"/>
                  </a:ext>
                </a:extLst>
              </p:cNvPr>
              <p:cNvSpPr/>
              <p:nvPr/>
            </p:nvSpPr>
            <p:spPr>
              <a:xfrm>
                <a:off x="8519133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8" name="Text 139">
                <a:extLst>
                  <a:ext uri="{FF2B5EF4-FFF2-40B4-BE49-F238E27FC236}">
                    <a16:creationId xmlns:a16="http://schemas.microsoft.com/office/drawing/2014/main" id="{40C84661-B359-E4B2-92CE-3237411CA617}"/>
                  </a:ext>
                </a:extLst>
              </p:cNvPr>
              <p:cNvSpPr txBox="1"/>
              <p:nvPr/>
            </p:nvSpPr>
            <p:spPr>
              <a:xfrm>
                <a:off x="8799225" y="5546382"/>
                <a:ext cx="742494" cy="1243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Weather</a:t>
                </a:r>
                <a:endParaRPr lang="en-US" sz="825" dirty="0"/>
              </a:p>
            </p:txBody>
          </p:sp>
          <p:sp>
            <p:nvSpPr>
              <p:cNvPr id="149" name="Text 140">
                <a:extLst>
                  <a:ext uri="{FF2B5EF4-FFF2-40B4-BE49-F238E27FC236}">
                    <a16:creationId xmlns:a16="http://schemas.microsoft.com/office/drawing/2014/main" id="{48A9EEE8-094F-7686-D1EB-967EF1C23BC4}"/>
                  </a:ext>
                </a:extLst>
              </p:cNvPr>
              <p:cNvSpPr txBox="1"/>
              <p:nvPr/>
            </p:nvSpPr>
            <p:spPr>
              <a:xfrm>
                <a:off x="8595942" y="5783686"/>
                <a:ext cx="1420063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00" dirty="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Storms · mass events</a:t>
                </a:r>
                <a:endParaRPr lang="en-US" sz="800" dirty="0"/>
              </a:p>
            </p:txBody>
          </p:sp>
          <p:sp>
            <p:nvSpPr>
              <p:cNvPr id="150" name="Shape 141">
                <a:extLst>
                  <a:ext uri="{FF2B5EF4-FFF2-40B4-BE49-F238E27FC236}">
                    <a16:creationId xmlns:a16="http://schemas.microsoft.com/office/drawing/2014/main" id="{A7133DD1-D25E-E601-3B18-55A1CAB8C6EF}"/>
                  </a:ext>
                </a:extLst>
              </p:cNvPr>
              <p:cNvSpPr/>
              <p:nvPr/>
            </p:nvSpPr>
            <p:spPr>
              <a:xfrm>
                <a:off x="10143107" y="5469132"/>
                <a:ext cx="1571854" cy="495605"/>
              </a:xfrm>
              <a:prstGeom prst="roundRect">
                <a:avLst>
                  <a:gd name="adj" fmla="val 7749"/>
                </a:avLst>
              </a:prstGeom>
              <a:solidFill>
                <a:srgbClr val="FFFFFF"/>
              </a:solidFill>
              <a:ln w="12700">
                <a:solidFill>
                  <a:srgbClr val="D9DEE0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1" name="Text 142">
                <a:extLst>
                  <a:ext uri="{FF2B5EF4-FFF2-40B4-BE49-F238E27FC236}">
                    <a16:creationId xmlns:a16="http://schemas.microsoft.com/office/drawing/2014/main" id="{C76F772A-CAA8-E9BB-BFF0-7443427E67C0}"/>
                  </a:ext>
                </a:extLst>
              </p:cNvPr>
              <p:cNvSpPr txBox="1"/>
              <p:nvPr/>
            </p:nvSpPr>
            <p:spPr>
              <a:xfrm>
                <a:off x="10443121" y="5525504"/>
                <a:ext cx="924118" cy="16868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</a:rPr>
                  <a:t>Docs</a:t>
                </a:r>
                <a:r>
                  <a:rPr lang="en-US" sz="825" b="1" dirty="0">
                    <a:solidFill>
                      <a:srgbClr val="FFFFF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825" b="1" dirty="0">
                    <a:solidFill>
                      <a:srgbClr val="231F20"/>
                    </a:solidFill>
                    <a:latin typeface="Aptos" pitchFamily="34" charset="0"/>
                  </a:rPr>
                  <a:t>runbooks</a:t>
                </a:r>
              </a:p>
            </p:txBody>
          </p:sp>
          <p:sp>
            <p:nvSpPr>
              <p:cNvPr id="152" name="Text 144">
                <a:extLst>
                  <a:ext uri="{FF2B5EF4-FFF2-40B4-BE49-F238E27FC236}">
                    <a16:creationId xmlns:a16="http://schemas.microsoft.com/office/drawing/2014/main" id="{5B3A6BA4-642F-F7DF-8CE5-179966A8E32A}"/>
                  </a:ext>
                </a:extLst>
              </p:cNvPr>
              <p:cNvSpPr txBox="1"/>
              <p:nvPr/>
            </p:nvSpPr>
            <p:spPr>
              <a:xfrm>
                <a:off x="402918" y="5278479"/>
                <a:ext cx="1610258" cy="152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050" b="1" kern="0" spc="90" dirty="0">
                    <a:solidFill>
                      <a:schemeClr val="accent4">
                        <a:lumMod val="50000"/>
                      </a:schemeClr>
                    </a:solidFill>
                    <a:latin typeface="Aptos" panose="020B0004020202020204" pitchFamily="34" charset="0"/>
                    <a:ea typeface="Inter" pitchFamily="34" charset="-122"/>
                  </a:rPr>
                  <a:t>Source</a:t>
                </a:r>
                <a:r>
                  <a:rPr lang="en-US" sz="1050" b="1" dirty="0">
                    <a:solidFill>
                      <a:schemeClr val="accent4">
                        <a:lumMod val="50000"/>
                      </a:schemeClr>
                    </a:solidFill>
                    <a:latin typeface="Aptos" panose="020B0004020202020204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1050" b="1" kern="0" spc="90" dirty="0">
                    <a:solidFill>
                      <a:schemeClr val="accent4">
                        <a:lumMod val="50000"/>
                      </a:schemeClr>
                    </a:solidFill>
                    <a:latin typeface="Aptos" panose="020B0004020202020204" pitchFamily="34" charset="0"/>
                    <a:ea typeface="Inter" pitchFamily="34" charset="-122"/>
                  </a:rPr>
                  <a:t>systems &amp; signals</a:t>
                </a:r>
              </a:p>
            </p:txBody>
          </p:sp>
          <p:sp>
            <p:nvSpPr>
              <p:cNvPr id="153" name="Text 145">
                <a:extLst>
                  <a:ext uri="{FF2B5EF4-FFF2-40B4-BE49-F238E27FC236}">
                    <a16:creationId xmlns:a16="http://schemas.microsoft.com/office/drawing/2014/main" id="{D62E6546-C8BB-E1E1-7B44-56F2D69F27D9}"/>
                  </a:ext>
                </a:extLst>
              </p:cNvPr>
              <p:cNvSpPr txBox="1"/>
              <p:nvPr/>
            </p:nvSpPr>
            <p:spPr>
              <a:xfrm>
                <a:off x="2240862" y="5297223"/>
                <a:ext cx="2165299" cy="13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900" dirty="0">
                    <a:solidFill>
                      <a:srgbClr val="7F6000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· The network, ITSM, and external context</a:t>
                </a:r>
                <a:endParaRPr lang="en-US" sz="900" dirty="0">
                  <a:solidFill>
                    <a:srgbClr val="7F6000"/>
                  </a:solidFill>
                </a:endParaRPr>
              </a:p>
            </p:txBody>
          </p:sp>
          <p:sp>
            <p:nvSpPr>
              <p:cNvPr id="154" name="Shape 146">
                <a:extLst>
                  <a:ext uri="{FF2B5EF4-FFF2-40B4-BE49-F238E27FC236}">
                    <a16:creationId xmlns:a16="http://schemas.microsoft.com/office/drawing/2014/main" id="{733A7281-7181-7EFB-3D1F-CBC3A685A769}"/>
                  </a:ext>
                </a:extLst>
              </p:cNvPr>
              <p:cNvSpPr/>
              <p:nvPr/>
            </p:nvSpPr>
            <p:spPr>
              <a:xfrm>
                <a:off x="297762" y="6079036"/>
                <a:ext cx="11491320" cy="624321"/>
              </a:xfrm>
              <a:prstGeom prst="roundRect">
                <a:avLst>
                  <a:gd name="adj" fmla="val 10080"/>
                </a:avLst>
              </a:prstGeom>
              <a:solidFill>
                <a:srgbClr val="F4F6F7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5" name="Shape 147">
                <a:extLst>
                  <a:ext uri="{FF2B5EF4-FFF2-40B4-BE49-F238E27FC236}">
                    <a16:creationId xmlns:a16="http://schemas.microsoft.com/office/drawing/2014/main" id="{E9302E9B-61A3-83D3-63EC-5B92E9EAF5A5}"/>
                  </a:ext>
                </a:extLst>
              </p:cNvPr>
              <p:cNvSpPr/>
              <p:nvPr/>
            </p:nvSpPr>
            <p:spPr>
              <a:xfrm>
                <a:off x="297762" y="6079036"/>
                <a:ext cx="47549" cy="624321"/>
              </a:xfrm>
              <a:prstGeom prst="roundRect">
                <a:avLst>
                  <a:gd name="adj" fmla="val 121153"/>
                </a:avLst>
              </a:prstGeom>
              <a:solidFill>
                <a:srgbClr val="0097AC"/>
              </a:solidFill>
              <a:ln w="12700">
                <a:solidFill>
                  <a:srgbClr val="0097AC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6" name="Text 163">
                <a:extLst>
                  <a:ext uri="{FF2B5EF4-FFF2-40B4-BE49-F238E27FC236}">
                    <a16:creationId xmlns:a16="http://schemas.microsoft.com/office/drawing/2014/main" id="{5BF3EC5B-BB80-46E1-140B-9CBE3ECA7751}"/>
                  </a:ext>
                </a:extLst>
              </p:cNvPr>
              <p:cNvSpPr txBox="1"/>
              <p:nvPr/>
            </p:nvSpPr>
            <p:spPr>
              <a:xfrm>
                <a:off x="414806" y="6120822"/>
                <a:ext cx="562356" cy="1527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050" b="1" kern="0" spc="90" dirty="0">
                    <a:solidFill>
                      <a:srgbClr val="0097AC"/>
                    </a:solidFill>
                    <a:latin typeface="Aptos" panose="020B0004020202020204" pitchFamily="34" charset="0"/>
                    <a:ea typeface="Inter" pitchFamily="34" charset="-122"/>
                  </a:rPr>
                  <a:t>Runs</a:t>
                </a:r>
                <a:r>
                  <a:rPr lang="en-US" sz="900" b="1" dirty="0">
                    <a:solidFill>
                      <a:srgbClr val="0097AC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 </a:t>
                </a:r>
                <a:r>
                  <a:rPr lang="en-US" sz="1050" b="1" kern="0" spc="90" dirty="0">
                    <a:solidFill>
                      <a:srgbClr val="0097AC"/>
                    </a:solidFill>
                    <a:latin typeface="Aptos" panose="020B0004020202020204" pitchFamily="34" charset="0"/>
                    <a:ea typeface="Inter" pitchFamily="34" charset="-122"/>
                  </a:rPr>
                  <a:t>on</a:t>
                </a:r>
              </a:p>
            </p:txBody>
          </p:sp>
          <p:sp>
            <p:nvSpPr>
              <p:cNvPr id="157" name="Text 164">
                <a:extLst>
                  <a:ext uri="{FF2B5EF4-FFF2-40B4-BE49-F238E27FC236}">
                    <a16:creationId xmlns:a16="http://schemas.microsoft.com/office/drawing/2014/main" id="{C5A7FBCB-391E-DFB9-8CDE-F6380702715C}"/>
                  </a:ext>
                </a:extLst>
              </p:cNvPr>
              <p:cNvSpPr txBox="1"/>
              <p:nvPr/>
            </p:nvSpPr>
            <p:spPr>
              <a:xfrm>
                <a:off x="1091461" y="6138258"/>
                <a:ext cx="1530706" cy="13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900" dirty="0">
                    <a:solidFill>
                      <a:srgbClr val="0097AC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· Portable · sovereign · hybrid</a:t>
                </a:r>
                <a:endParaRPr lang="en-US" sz="900" dirty="0">
                  <a:solidFill>
                    <a:srgbClr val="0097AC"/>
                  </a:solidFill>
                </a:endParaRPr>
              </a:p>
            </p:txBody>
          </p:sp>
          <p:sp>
            <p:nvSpPr>
              <p:cNvPr id="158" name="Shape 165">
                <a:extLst>
                  <a:ext uri="{FF2B5EF4-FFF2-40B4-BE49-F238E27FC236}">
                    <a16:creationId xmlns:a16="http://schemas.microsoft.com/office/drawing/2014/main" id="{E4B95784-6A90-0997-A5E4-2D6E62986782}"/>
                  </a:ext>
                </a:extLst>
              </p:cNvPr>
              <p:cNvSpPr/>
              <p:nvPr/>
            </p:nvSpPr>
            <p:spPr>
              <a:xfrm>
                <a:off x="6022821" y="1826863"/>
                <a:ext cx="19202" cy="57607"/>
              </a:xfrm>
              <a:prstGeom prst="rect">
                <a:avLst/>
              </a:prstGeom>
              <a:solidFill>
                <a:srgbClr val="0097AC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9" name="Shape 166">
                <a:extLst>
                  <a:ext uri="{FF2B5EF4-FFF2-40B4-BE49-F238E27FC236}">
                    <a16:creationId xmlns:a16="http://schemas.microsoft.com/office/drawing/2014/main" id="{4893DD6F-3D2E-F1C8-F7BE-AB13C14B76FC}"/>
                  </a:ext>
                </a:extLst>
              </p:cNvPr>
              <p:cNvSpPr/>
              <p:nvPr/>
            </p:nvSpPr>
            <p:spPr>
              <a:xfrm>
                <a:off x="6022821" y="3526032"/>
                <a:ext cx="19202" cy="57607"/>
              </a:xfrm>
              <a:prstGeom prst="rect">
                <a:avLst/>
              </a:prstGeom>
              <a:solidFill>
                <a:srgbClr val="0097AC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0" name="Shape 167">
                <a:extLst>
                  <a:ext uri="{FF2B5EF4-FFF2-40B4-BE49-F238E27FC236}">
                    <a16:creationId xmlns:a16="http://schemas.microsoft.com/office/drawing/2014/main" id="{673683C2-273E-BF3A-5DBB-0AD9B90F8C38}"/>
                  </a:ext>
                </a:extLst>
              </p:cNvPr>
              <p:cNvSpPr/>
              <p:nvPr/>
            </p:nvSpPr>
            <p:spPr>
              <a:xfrm>
                <a:off x="6022821" y="4383739"/>
                <a:ext cx="19202" cy="57607"/>
              </a:xfrm>
              <a:prstGeom prst="rect">
                <a:avLst/>
              </a:prstGeom>
              <a:solidFill>
                <a:srgbClr val="0097AC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1" name="Shape 168">
                <a:extLst>
                  <a:ext uri="{FF2B5EF4-FFF2-40B4-BE49-F238E27FC236}">
                    <a16:creationId xmlns:a16="http://schemas.microsoft.com/office/drawing/2014/main" id="{7CE3F850-325B-1E6F-A461-CDCFCBC20F58}"/>
                  </a:ext>
                </a:extLst>
              </p:cNvPr>
              <p:cNvSpPr/>
              <p:nvPr/>
            </p:nvSpPr>
            <p:spPr>
              <a:xfrm>
                <a:off x="6108774" y="5154400"/>
                <a:ext cx="19202" cy="57607"/>
              </a:xfrm>
              <a:prstGeom prst="rect">
                <a:avLst/>
              </a:prstGeom>
              <a:solidFill>
                <a:srgbClr val="0097AC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2" name="Shape 169">
                <a:extLst>
                  <a:ext uri="{FF2B5EF4-FFF2-40B4-BE49-F238E27FC236}">
                    <a16:creationId xmlns:a16="http://schemas.microsoft.com/office/drawing/2014/main" id="{5FE681F4-B1E4-2F81-B575-254C7297BB1D}"/>
                  </a:ext>
                </a:extLst>
              </p:cNvPr>
              <p:cNvSpPr/>
              <p:nvPr/>
            </p:nvSpPr>
            <p:spPr>
              <a:xfrm>
                <a:off x="6022821" y="6026519"/>
                <a:ext cx="19202" cy="57607"/>
              </a:xfrm>
              <a:prstGeom prst="rect">
                <a:avLst/>
              </a:prstGeom>
              <a:solidFill>
                <a:srgbClr val="0097AC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3" name="Shape 171">
                <a:extLst>
                  <a:ext uri="{FF2B5EF4-FFF2-40B4-BE49-F238E27FC236}">
                    <a16:creationId xmlns:a16="http://schemas.microsoft.com/office/drawing/2014/main" id="{8D7360C8-CB8A-97F0-C394-0B0BE790823F}"/>
                  </a:ext>
                </a:extLst>
              </p:cNvPr>
              <p:cNvSpPr/>
              <p:nvPr/>
            </p:nvSpPr>
            <p:spPr>
              <a:xfrm>
                <a:off x="212723" y="740555"/>
                <a:ext cx="9144" cy="5940000"/>
              </a:xfrm>
              <a:prstGeom prst="rect">
                <a:avLst/>
              </a:prstGeom>
              <a:solidFill>
                <a:srgbClr val="D9DEE0"/>
              </a:solidFill>
              <a:ln w="12700">
                <a:solidFill>
                  <a:srgbClr val="D9DEE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" name="Text 23">
                <a:extLst>
                  <a:ext uri="{FF2B5EF4-FFF2-40B4-BE49-F238E27FC236}">
                    <a16:creationId xmlns:a16="http://schemas.microsoft.com/office/drawing/2014/main" id="{87075124-C916-6240-C309-13D57E2F37D0}"/>
                  </a:ext>
                </a:extLst>
              </p:cNvPr>
              <p:cNvSpPr/>
              <p:nvPr/>
            </p:nvSpPr>
            <p:spPr>
              <a:xfrm>
                <a:off x="2339657" y="1179576"/>
                <a:ext cx="274320" cy="2403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006E74"/>
                    </a:solidFill>
                  </a:rPr>
                  <a:t>💬</a:t>
                </a:r>
                <a:endParaRPr lang="en-US" sz="1200" dirty="0"/>
              </a:p>
            </p:txBody>
          </p:sp>
          <p:sp>
            <p:nvSpPr>
              <p:cNvPr id="165" name="Text 26">
                <a:extLst>
                  <a:ext uri="{FF2B5EF4-FFF2-40B4-BE49-F238E27FC236}">
                    <a16:creationId xmlns:a16="http://schemas.microsoft.com/office/drawing/2014/main" id="{F449E1A7-F247-BDCE-F7CA-3BA5DF20EA5C}"/>
                  </a:ext>
                </a:extLst>
              </p:cNvPr>
              <p:cNvSpPr/>
              <p:nvPr/>
            </p:nvSpPr>
            <p:spPr>
              <a:xfrm>
                <a:off x="4212345" y="1170489"/>
                <a:ext cx="274320" cy="2403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006E74"/>
                    </a:solidFill>
                  </a:rPr>
                  <a:t>📈</a:t>
                </a:r>
                <a:endParaRPr lang="en-US" sz="1200" dirty="0"/>
              </a:p>
            </p:txBody>
          </p:sp>
          <p:sp>
            <p:nvSpPr>
              <p:cNvPr id="166" name="Text 29">
                <a:extLst>
                  <a:ext uri="{FF2B5EF4-FFF2-40B4-BE49-F238E27FC236}">
                    <a16:creationId xmlns:a16="http://schemas.microsoft.com/office/drawing/2014/main" id="{BB03E9EF-66FC-ABAD-BC49-D87C48CB563A}"/>
                  </a:ext>
                </a:extLst>
              </p:cNvPr>
              <p:cNvSpPr/>
              <p:nvPr/>
            </p:nvSpPr>
            <p:spPr>
              <a:xfrm>
                <a:off x="6122131" y="1179576"/>
                <a:ext cx="274320" cy="2403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006E74"/>
                    </a:solidFill>
                  </a:rPr>
                  <a:t>🎫</a:t>
                </a:r>
                <a:endParaRPr lang="en-US" sz="1200" dirty="0"/>
              </a:p>
            </p:txBody>
          </p:sp>
          <p:sp>
            <p:nvSpPr>
              <p:cNvPr id="167" name="Text 32">
                <a:extLst>
                  <a:ext uri="{FF2B5EF4-FFF2-40B4-BE49-F238E27FC236}">
                    <a16:creationId xmlns:a16="http://schemas.microsoft.com/office/drawing/2014/main" id="{C1F5B31C-5C10-A269-4AEE-24C1145EE338}"/>
                  </a:ext>
                </a:extLst>
              </p:cNvPr>
              <p:cNvSpPr/>
              <p:nvPr/>
            </p:nvSpPr>
            <p:spPr>
              <a:xfrm>
                <a:off x="8012555" y="1161619"/>
                <a:ext cx="274320" cy="2403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006E74"/>
                    </a:solidFill>
                  </a:rPr>
                  <a:t>🔔</a:t>
                </a:r>
                <a:endParaRPr lang="en-US" sz="1200" dirty="0"/>
              </a:p>
            </p:txBody>
          </p:sp>
          <p:sp>
            <p:nvSpPr>
              <p:cNvPr id="168" name="Text 35">
                <a:extLst>
                  <a:ext uri="{FF2B5EF4-FFF2-40B4-BE49-F238E27FC236}">
                    <a16:creationId xmlns:a16="http://schemas.microsoft.com/office/drawing/2014/main" id="{5B6135B4-5E42-EE33-034A-393947C4C77E}"/>
                  </a:ext>
                </a:extLst>
              </p:cNvPr>
              <p:cNvSpPr/>
              <p:nvPr/>
            </p:nvSpPr>
            <p:spPr>
              <a:xfrm>
                <a:off x="9878845" y="1146145"/>
                <a:ext cx="274320" cy="24037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006E74"/>
                    </a:solidFill>
                  </a:rPr>
                  <a:t>🔌</a:t>
                </a:r>
                <a:endParaRPr lang="en-US" sz="1200" dirty="0"/>
              </a:p>
            </p:txBody>
          </p:sp>
          <p:sp>
            <p:nvSpPr>
              <p:cNvPr id="169" name="Text 20">
                <a:extLst>
                  <a:ext uri="{FF2B5EF4-FFF2-40B4-BE49-F238E27FC236}">
                    <a16:creationId xmlns:a16="http://schemas.microsoft.com/office/drawing/2014/main" id="{7112F30F-F6DC-77A0-C553-672A2208EF92}"/>
                  </a:ext>
                </a:extLst>
              </p:cNvPr>
              <p:cNvSpPr/>
              <p:nvPr/>
            </p:nvSpPr>
            <p:spPr>
              <a:xfrm>
                <a:off x="436751" y="1179576"/>
                <a:ext cx="274320" cy="216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200" dirty="0">
                    <a:solidFill>
                      <a:srgbClr val="006E74"/>
                    </a:solidFill>
                  </a:rPr>
                  <a:t>🖥️</a:t>
                </a:r>
                <a:endParaRPr lang="en-US" sz="1200" dirty="0"/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48BAFFC0-F63D-0546-DB40-9ECDB4DB6BDA}"/>
                  </a:ext>
                </a:extLst>
              </p:cNvPr>
              <p:cNvGrpSpPr/>
              <p:nvPr/>
            </p:nvGrpSpPr>
            <p:grpSpPr>
              <a:xfrm>
                <a:off x="3739393" y="6215666"/>
                <a:ext cx="379476" cy="413170"/>
                <a:chOff x="3924874" y="6300485"/>
                <a:chExt cx="379476" cy="413170"/>
              </a:xfrm>
            </p:grpSpPr>
            <p:sp>
              <p:nvSpPr>
                <p:cNvPr id="207" name="Text 153">
                  <a:extLst>
                    <a:ext uri="{FF2B5EF4-FFF2-40B4-BE49-F238E27FC236}">
                      <a16:creationId xmlns:a16="http://schemas.microsoft.com/office/drawing/2014/main" id="{3AF6988D-2CE1-AFE7-455F-876E4FE3285D}"/>
                    </a:ext>
                  </a:extLst>
                </p:cNvPr>
                <p:cNvSpPr txBox="1"/>
                <p:nvPr/>
              </p:nvSpPr>
              <p:spPr>
                <a:xfrm>
                  <a:off x="3924874" y="6570094"/>
                  <a:ext cx="379476" cy="143561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z="825" b="1" kern="0" spc="17" dirty="0">
                      <a:solidFill>
                        <a:srgbClr val="231F20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Azure</a:t>
                  </a:r>
                  <a:endParaRPr lang="en-US" sz="825" dirty="0"/>
                </a:p>
              </p:txBody>
            </p:sp>
            <p:pic>
              <p:nvPicPr>
                <p:cNvPr id="208" name="Picture 207">
                  <a:extLst>
                    <a:ext uri="{FF2B5EF4-FFF2-40B4-BE49-F238E27FC236}">
                      <a16:creationId xmlns:a16="http://schemas.microsoft.com/office/drawing/2014/main" id="{46BD334F-93F2-5622-EE20-ADB9D0938D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92270" y="6300485"/>
                  <a:ext cx="234410" cy="218518"/>
                </a:xfrm>
                <a:prstGeom prst="rect">
                  <a:avLst/>
                </a:prstGeom>
              </p:spPr>
            </p:pic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2F530182-329E-7C52-0377-0808C5F3F815}"/>
                  </a:ext>
                </a:extLst>
              </p:cNvPr>
              <p:cNvGrpSpPr/>
              <p:nvPr/>
            </p:nvGrpSpPr>
            <p:grpSpPr>
              <a:xfrm>
                <a:off x="2872857" y="6209555"/>
                <a:ext cx="401278" cy="435732"/>
                <a:chOff x="1671523" y="6244066"/>
                <a:chExt cx="401278" cy="435732"/>
              </a:xfrm>
            </p:grpSpPr>
            <p:sp>
              <p:nvSpPr>
                <p:cNvPr id="205" name="Text 150">
                  <a:extLst>
                    <a:ext uri="{FF2B5EF4-FFF2-40B4-BE49-F238E27FC236}">
                      <a16:creationId xmlns:a16="http://schemas.microsoft.com/office/drawing/2014/main" id="{1DBE39FB-ED66-6278-3BED-D4A0D67CE982}"/>
                    </a:ext>
                  </a:extLst>
                </p:cNvPr>
                <p:cNvSpPr txBox="1"/>
                <p:nvPr/>
              </p:nvSpPr>
              <p:spPr>
                <a:xfrm>
                  <a:off x="1754734" y="6536237"/>
                  <a:ext cx="247802" cy="143561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/>
                <a:lstStyle/>
                <a:p>
                  <a:r>
                    <a:rPr lang="en-US" sz="825" b="1" kern="0" spc="17" dirty="0">
                      <a:solidFill>
                        <a:srgbClr val="231F20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AWS</a:t>
                  </a:r>
                  <a:endParaRPr lang="en-US" sz="825" dirty="0"/>
                </a:p>
              </p:txBody>
            </p:sp>
            <p:pic>
              <p:nvPicPr>
                <p:cNvPr id="206" name="Picture 205">
                  <a:extLst>
                    <a:ext uri="{FF2B5EF4-FFF2-40B4-BE49-F238E27FC236}">
                      <a16:creationId xmlns:a16="http://schemas.microsoft.com/office/drawing/2014/main" id="{C9A307F9-62D9-24B3-4001-9E16BE5CF9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71523" y="6244066"/>
                  <a:ext cx="401278" cy="282087"/>
                </a:xfrm>
                <a:prstGeom prst="rect">
                  <a:avLst/>
                </a:prstGeom>
              </p:spPr>
            </p:pic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9C61380A-2B29-5BB9-BAB1-E9717E278582}"/>
                  </a:ext>
                </a:extLst>
              </p:cNvPr>
              <p:cNvGrpSpPr/>
              <p:nvPr/>
            </p:nvGrpSpPr>
            <p:grpSpPr>
              <a:xfrm>
                <a:off x="4584580" y="6197175"/>
                <a:ext cx="305926" cy="429621"/>
                <a:chOff x="4522365" y="6250177"/>
                <a:chExt cx="305926" cy="429621"/>
              </a:xfrm>
            </p:grpSpPr>
            <p:sp>
              <p:nvSpPr>
                <p:cNvPr id="203" name="Text 156">
                  <a:extLst>
                    <a:ext uri="{FF2B5EF4-FFF2-40B4-BE49-F238E27FC236}">
                      <a16:creationId xmlns:a16="http://schemas.microsoft.com/office/drawing/2014/main" id="{3A6EB1D6-10A0-85D3-6360-F05202AC2067}"/>
                    </a:ext>
                  </a:extLst>
                </p:cNvPr>
                <p:cNvSpPr txBox="1"/>
                <p:nvPr/>
              </p:nvSpPr>
              <p:spPr>
                <a:xfrm>
                  <a:off x="4578990" y="6536237"/>
                  <a:ext cx="219456" cy="143561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/>
                <a:lstStyle/>
                <a:p>
                  <a:r>
                    <a:rPr lang="en-US" sz="825" b="1" kern="0" spc="17" dirty="0">
                      <a:solidFill>
                        <a:srgbClr val="231F20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GCP</a:t>
                  </a:r>
                  <a:endParaRPr lang="en-US" sz="825" dirty="0"/>
                </a:p>
              </p:txBody>
            </p:sp>
            <p:pic>
              <p:nvPicPr>
                <p:cNvPr id="204" name="Picture 203">
                  <a:extLst>
                    <a:ext uri="{FF2B5EF4-FFF2-40B4-BE49-F238E27FC236}">
                      <a16:creationId xmlns:a16="http://schemas.microsoft.com/office/drawing/2014/main" id="{E1BE5C4D-1C40-35E0-ADA3-3A9B05866C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22365" y="6250177"/>
                  <a:ext cx="305926" cy="286060"/>
                </a:xfrm>
                <a:prstGeom prst="rect">
                  <a:avLst/>
                </a:prstGeom>
              </p:spPr>
            </p:pic>
          </p:grp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25726359-E08E-FEBC-D661-59EABE65B9DD}"/>
                  </a:ext>
                </a:extLst>
              </p:cNvPr>
              <p:cNvGrpSpPr/>
              <p:nvPr/>
            </p:nvGrpSpPr>
            <p:grpSpPr>
              <a:xfrm>
                <a:off x="5304963" y="6220319"/>
                <a:ext cx="983733" cy="408517"/>
                <a:chOff x="4986528" y="6266331"/>
                <a:chExt cx="983733" cy="408517"/>
              </a:xfrm>
            </p:grpSpPr>
            <p:sp>
              <p:nvSpPr>
                <p:cNvPr id="201" name="Text 159">
                  <a:extLst>
                    <a:ext uri="{FF2B5EF4-FFF2-40B4-BE49-F238E27FC236}">
                      <a16:creationId xmlns:a16="http://schemas.microsoft.com/office/drawing/2014/main" id="{74ACE3DA-285C-EA6E-9D4C-0165F8EC9EF3}"/>
                    </a:ext>
                  </a:extLst>
                </p:cNvPr>
                <p:cNvSpPr txBox="1"/>
                <p:nvPr/>
              </p:nvSpPr>
              <p:spPr>
                <a:xfrm>
                  <a:off x="4986528" y="6536237"/>
                  <a:ext cx="983733" cy="138611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z="825" b="1" kern="0" spc="17" dirty="0">
                      <a:solidFill>
                        <a:srgbClr val="231F20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Private / on-prem</a:t>
                  </a:r>
                  <a:endParaRPr lang="en-US" sz="825" dirty="0"/>
                </a:p>
              </p:txBody>
            </p:sp>
            <p:pic>
              <p:nvPicPr>
                <p:cNvPr id="202" name="Picture 201">
                  <a:extLst>
                    <a:ext uri="{FF2B5EF4-FFF2-40B4-BE49-F238E27FC236}">
                      <a16:creationId xmlns:a16="http://schemas.microsoft.com/office/drawing/2014/main" id="{B59A15E4-1A77-3A34-4F0F-AAE1E0256B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3767" y="6266331"/>
                  <a:ext cx="234410" cy="222491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C63B03EA-24BB-EF56-9DA2-ED158E7BEB89}"/>
                  </a:ext>
                </a:extLst>
              </p:cNvPr>
              <p:cNvGrpSpPr/>
              <p:nvPr/>
            </p:nvGrpSpPr>
            <p:grpSpPr>
              <a:xfrm>
                <a:off x="6548143" y="6258314"/>
                <a:ext cx="1087222" cy="386973"/>
                <a:chOff x="5984676" y="6297806"/>
                <a:chExt cx="1087222" cy="386973"/>
              </a:xfrm>
            </p:grpSpPr>
            <p:sp>
              <p:nvSpPr>
                <p:cNvPr id="199" name="Text 162">
                  <a:extLst>
                    <a:ext uri="{FF2B5EF4-FFF2-40B4-BE49-F238E27FC236}">
                      <a16:creationId xmlns:a16="http://schemas.microsoft.com/office/drawing/2014/main" id="{DC645BA4-39E9-FD56-AFD5-4A552955FDCD}"/>
                    </a:ext>
                  </a:extLst>
                </p:cNvPr>
                <p:cNvSpPr txBox="1"/>
                <p:nvPr/>
              </p:nvSpPr>
              <p:spPr>
                <a:xfrm>
                  <a:off x="5984676" y="6541218"/>
                  <a:ext cx="1087222" cy="143561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sz="825" b="1" kern="0" spc="17" dirty="0">
                      <a:solidFill>
                        <a:srgbClr val="231F20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Multi-cloud · edge</a:t>
                  </a:r>
                  <a:endParaRPr lang="en-US" sz="825" dirty="0"/>
                </a:p>
              </p:txBody>
            </p:sp>
            <p:pic>
              <p:nvPicPr>
                <p:cNvPr id="200" name="Picture 199">
                  <a:extLst>
                    <a:ext uri="{FF2B5EF4-FFF2-40B4-BE49-F238E27FC236}">
                      <a16:creationId xmlns:a16="http://schemas.microsoft.com/office/drawing/2014/main" id="{935900D1-F0A9-A321-EDC5-8237B96BC1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08501" y="6297806"/>
                  <a:ext cx="238384" cy="218518"/>
                </a:xfrm>
                <a:prstGeom prst="rect">
                  <a:avLst/>
                </a:prstGeom>
              </p:spPr>
            </p:pic>
          </p:grpSp>
          <p:sp>
            <p:nvSpPr>
              <p:cNvPr id="175" name="Text 245">
                <a:extLst>
                  <a:ext uri="{FF2B5EF4-FFF2-40B4-BE49-F238E27FC236}">
                    <a16:creationId xmlns:a16="http://schemas.microsoft.com/office/drawing/2014/main" id="{9E0A330F-6784-FBA5-0064-16DF4D88494B}"/>
                  </a:ext>
                </a:extLst>
              </p:cNvPr>
              <p:cNvSpPr txBox="1"/>
              <p:nvPr/>
            </p:nvSpPr>
            <p:spPr>
              <a:xfrm>
                <a:off x="427141" y="5490875"/>
                <a:ext cx="329878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📶</a:t>
                </a:r>
                <a:endParaRPr lang="en-US" sz="1400" dirty="0"/>
              </a:p>
            </p:txBody>
          </p:sp>
          <p:sp>
            <p:nvSpPr>
              <p:cNvPr id="176" name="Text 248">
                <a:extLst>
                  <a:ext uri="{FF2B5EF4-FFF2-40B4-BE49-F238E27FC236}">
                    <a16:creationId xmlns:a16="http://schemas.microsoft.com/office/drawing/2014/main" id="{A3A043E6-7653-F8F5-695A-C31D274C9AA2}"/>
                  </a:ext>
                </a:extLst>
              </p:cNvPr>
              <p:cNvSpPr txBox="1"/>
              <p:nvPr/>
            </p:nvSpPr>
            <p:spPr>
              <a:xfrm>
                <a:off x="2039508" y="5487651"/>
                <a:ext cx="391550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🛰️</a:t>
                </a:r>
                <a:endParaRPr lang="en-US" sz="1400" dirty="0"/>
              </a:p>
            </p:txBody>
          </p:sp>
          <p:sp>
            <p:nvSpPr>
              <p:cNvPr id="177" name="Text 251">
                <a:extLst>
                  <a:ext uri="{FF2B5EF4-FFF2-40B4-BE49-F238E27FC236}">
                    <a16:creationId xmlns:a16="http://schemas.microsoft.com/office/drawing/2014/main" id="{910970DD-A8FA-9AE8-2CE8-E0D038470897}"/>
                  </a:ext>
                </a:extLst>
              </p:cNvPr>
              <p:cNvSpPr txBox="1"/>
              <p:nvPr/>
            </p:nvSpPr>
            <p:spPr>
              <a:xfrm>
                <a:off x="3649038" y="5500101"/>
                <a:ext cx="329878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💠</a:t>
                </a:r>
                <a:endParaRPr lang="en-US" sz="1400" dirty="0"/>
              </a:p>
            </p:txBody>
          </p:sp>
          <p:sp>
            <p:nvSpPr>
              <p:cNvPr id="178" name="Text 257">
                <a:extLst>
                  <a:ext uri="{FF2B5EF4-FFF2-40B4-BE49-F238E27FC236}">
                    <a16:creationId xmlns:a16="http://schemas.microsoft.com/office/drawing/2014/main" id="{41B7AF9A-8E8C-2DB1-086B-ABAEF6C7C793}"/>
                  </a:ext>
                </a:extLst>
              </p:cNvPr>
              <p:cNvSpPr txBox="1"/>
              <p:nvPr/>
            </p:nvSpPr>
            <p:spPr>
              <a:xfrm>
                <a:off x="5274197" y="5504002"/>
                <a:ext cx="329878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🔧</a:t>
                </a:r>
                <a:endParaRPr lang="en-US" sz="1400" dirty="0"/>
              </a:p>
            </p:txBody>
          </p:sp>
          <p:sp>
            <p:nvSpPr>
              <p:cNvPr id="179" name="Text 260">
                <a:extLst>
                  <a:ext uri="{FF2B5EF4-FFF2-40B4-BE49-F238E27FC236}">
                    <a16:creationId xmlns:a16="http://schemas.microsoft.com/office/drawing/2014/main" id="{22F197CD-AFA9-4AA6-71AC-6B6B58DF69C4}"/>
                  </a:ext>
                </a:extLst>
              </p:cNvPr>
              <p:cNvSpPr txBox="1"/>
              <p:nvPr/>
            </p:nvSpPr>
            <p:spPr>
              <a:xfrm>
                <a:off x="6933415" y="5507903"/>
                <a:ext cx="329878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🎫</a:t>
                </a:r>
                <a:endParaRPr lang="en-US" sz="1400" dirty="0"/>
              </a:p>
            </p:txBody>
          </p:sp>
          <p:sp>
            <p:nvSpPr>
              <p:cNvPr id="180" name="Text 266">
                <a:extLst>
                  <a:ext uri="{FF2B5EF4-FFF2-40B4-BE49-F238E27FC236}">
                    <a16:creationId xmlns:a16="http://schemas.microsoft.com/office/drawing/2014/main" id="{6B10E616-B512-60BE-91F3-B3FFB781E3BF}"/>
                  </a:ext>
                </a:extLst>
              </p:cNvPr>
              <p:cNvSpPr txBox="1"/>
              <p:nvPr/>
            </p:nvSpPr>
            <p:spPr>
              <a:xfrm>
                <a:off x="8530612" y="5532538"/>
                <a:ext cx="391550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🌦️</a:t>
                </a:r>
                <a:endParaRPr lang="en-US" sz="1400" dirty="0"/>
              </a:p>
            </p:txBody>
          </p:sp>
          <p:sp>
            <p:nvSpPr>
              <p:cNvPr id="181" name="Text 269">
                <a:extLst>
                  <a:ext uri="{FF2B5EF4-FFF2-40B4-BE49-F238E27FC236}">
                    <a16:creationId xmlns:a16="http://schemas.microsoft.com/office/drawing/2014/main" id="{B19752EB-B158-69CF-C0F8-28C679ADF935}"/>
                  </a:ext>
                </a:extLst>
              </p:cNvPr>
              <p:cNvSpPr txBox="1"/>
              <p:nvPr/>
            </p:nvSpPr>
            <p:spPr>
              <a:xfrm>
                <a:off x="10204044" y="5500101"/>
                <a:ext cx="329878" cy="21691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4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📚</a:t>
                </a:r>
                <a:endParaRPr lang="en-US" sz="1400" dirty="0"/>
              </a:p>
            </p:txBody>
          </p:sp>
          <p:sp>
            <p:nvSpPr>
              <p:cNvPr id="182" name="Shape 63">
                <a:extLst>
                  <a:ext uri="{FF2B5EF4-FFF2-40B4-BE49-F238E27FC236}">
                    <a16:creationId xmlns:a16="http://schemas.microsoft.com/office/drawing/2014/main" id="{013C42D6-0778-0374-C891-7200C7F3C29C}"/>
                  </a:ext>
                </a:extLst>
              </p:cNvPr>
              <p:cNvSpPr/>
              <p:nvPr/>
            </p:nvSpPr>
            <p:spPr>
              <a:xfrm>
                <a:off x="9878845" y="1430926"/>
                <a:ext cx="1805027" cy="161852"/>
              </a:xfrm>
              <a:prstGeom prst="roundRect">
                <a:avLst>
                  <a:gd name="adj" fmla="val 11170"/>
                </a:avLst>
              </a:prstGeom>
              <a:solidFill>
                <a:srgbClr val="E6F2F4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83" name="Text 19">
                <a:extLst>
                  <a:ext uri="{FF2B5EF4-FFF2-40B4-BE49-F238E27FC236}">
                    <a16:creationId xmlns:a16="http://schemas.microsoft.com/office/drawing/2014/main" id="{705CE0D5-287F-F000-9C96-A7C444277763}"/>
                  </a:ext>
                </a:extLst>
              </p:cNvPr>
              <p:cNvSpPr txBox="1"/>
              <p:nvPr/>
            </p:nvSpPr>
            <p:spPr>
              <a:xfrm>
                <a:off x="9915780" y="1474081"/>
                <a:ext cx="1677010" cy="11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>
                <a:lvl1pPr indent="0">
                  <a:buNone/>
                  <a:defRPr sz="800">
                    <a:solidFill>
                      <a:srgbClr val="5C5956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defRPr>
                </a:lvl1pPr>
              </a:lstStyle>
              <a:p>
                <a:r>
                  <a:rPr lang="en-US" dirty="0">
                    <a:solidFill>
                      <a:srgbClr val="3C9196"/>
                    </a:solidFill>
                  </a:rPr>
                  <a:t>+</a:t>
                </a:r>
                <a:r>
                  <a:rPr lang="en-US" dirty="0">
                    <a:solidFill>
                      <a:srgbClr val="0097AC"/>
                    </a:solidFill>
                  </a:rPr>
                  <a:t> </a:t>
                </a:r>
                <a:r>
                  <a:rPr lang="en-US" b="1" dirty="0">
                    <a:solidFill>
                      <a:srgbClr val="006E74"/>
                    </a:solidFill>
                  </a:rPr>
                  <a:t>New smart apps · partners · 3rd party</a:t>
                </a:r>
              </a:p>
            </p:txBody>
          </p:sp>
          <p:sp>
            <p:nvSpPr>
              <p:cNvPr id="184" name="Text 231">
                <a:extLst>
                  <a:ext uri="{FF2B5EF4-FFF2-40B4-BE49-F238E27FC236}">
                    <a16:creationId xmlns:a16="http://schemas.microsoft.com/office/drawing/2014/main" id="{DD7B149F-CFF0-AE8A-0B92-C7A269B92D63}"/>
                  </a:ext>
                </a:extLst>
              </p:cNvPr>
              <p:cNvSpPr txBox="1"/>
              <p:nvPr/>
            </p:nvSpPr>
            <p:spPr>
              <a:xfrm>
                <a:off x="5075925" y="4730628"/>
                <a:ext cx="284225" cy="1794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🕸️</a:t>
                </a:r>
                <a:endParaRPr lang="en-US" sz="1200" dirty="0"/>
              </a:p>
            </p:txBody>
          </p:sp>
          <p:sp>
            <p:nvSpPr>
              <p:cNvPr id="185" name="Text 240">
                <a:extLst>
                  <a:ext uri="{FF2B5EF4-FFF2-40B4-BE49-F238E27FC236}">
                    <a16:creationId xmlns:a16="http://schemas.microsoft.com/office/drawing/2014/main" id="{11BCE069-E821-B1E4-64A1-BB95D32149F5}"/>
                  </a:ext>
                </a:extLst>
              </p:cNvPr>
              <p:cNvSpPr txBox="1"/>
              <p:nvPr/>
            </p:nvSpPr>
            <p:spPr>
              <a:xfrm>
                <a:off x="7340594" y="4716596"/>
                <a:ext cx="239299" cy="1794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⏱️</a:t>
                </a:r>
                <a:endParaRPr lang="en-US" sz="1200" dirty="0"/>
              </a:p>
            </p:txBody>
          </p:sp>
          <p:sp>
            <p:nvSpPr>
              <p:cNvPr id="186" name="Text 216">
                <a:extLst>
                  <a:ext uri="{FF2B5EF4-FFF2-40B4-BE49-F238E27FC236}">
                    <a16:creationId xmlns:a16="http://schemas.microsoft.com/office/drawing/2014/main" id="{7073A96F-D314-9D7D-FA5A-6E7EEEA5B108}"/>
                  </a:ext>
                </a:extLst>
              </p:cNvPr>
              <p:cNvSpPr txBox="1"/>
              <p:nvPr/>
            </p:nvSpPr>
            <p:spPr>
              <a:xfrm>
                <a:off x="457772" y="4707258"/>
                <a:ext cx="288773" cy="2028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🔺</a:t>
                </a:r>
                <a:endParaRPr lang="en-US" dirty="0"/>
              </a:p>
            </p:txBody>
          </p:sp>
          <p:sp>
            <p:nvSpPr>
              <p:cNvPr id="187" name="Text 225">
                <a:extLst>
                  <a:ext uri="{FF2B5EF4-FFF2-40B4-BE49-F238E27FC236}">
                    <a16:creationId xmlns:a16="http://schemas.microsoft.com/office/drawing/2014/main" id="{19E78DCA-5435-8F8C-1E6F-192A2CD447C1}"/>
                  </a:ext>
                </a:extLst>
              </p:cNvPr>
              <p:cNvSpPr txBox="1"/>
              <p:nvPr/>
            </p:nvSpPr>
            <p:spPr>
              <a:xfrm>
                <a:off x="2802722" y="4716596"/>
                <a:ext cx="239299" cy="1794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🐘</a:t>
                </a:r>
                <a:endParaRPr lang="en-US" sz="1200" dirty="0"/>
              </a:p>
            </p:txBody>
          </p:sp>
          <p:pic>
            <p:nvPicPr>
              <p:cNvPr id="188" name="Picture 187" descr="File sharing - Free computer icons">
                <a:extLst>
                  <a:ext uri="{FF2B5EF4-FFF2-40B4-BE49-F238E27FC236}">
                    <a16:creationId xmlns:a16="http://schemas.microsoft.com/office/drawing/2014/main" id="{5108DAB0-5DA2-152F-6DDB-64A1A2C68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74767" y="4730628"/>
                <a:ext cx="216580" cy="202805"/>
              </a:xfrm>
              <a:prstGeom prst="rect">
                <a:avLst/>
              </a:prstGeom>
            </p:spPr>
          </p:pic>
          <p:sp>
            <p:nvSpPr>
              <p:cNvPr id="189" name="Text 190">
                <a:extLst>
                  <a:ext uri="{FF2B5EF4-FFF2-40B4-BE49-F238E27FC236}">
                    <a16:creationId xmlns:a16="http://schemas.microsoft.com/office/drawing/2014/main" id="{D4A73ACC-9536-AD5B-E58A-33A6B51B499A}"/>
                  </a:ext>
                </a:extLst>
              </p:cNvPr>
              <p:cNvSpPr txBox="1"/>
              <p:nvPr/>
            </p:nvSpPr>
            <p:spPr>
              <a:xfrm>
                <a:off x="435156" y="3872141"/>
                <a:ext cx="220045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🧭</a:t>
                </a:r>
                <a:endParaRPr lang="en-US" sz="1200" dirty="0"/>
              </a:p>
            </p:txBody>
          </p:sp>
          <p:sp>
            <p:nvSpPr>
              <p:cNvPr id="190" name="Text 193">
                <a:extLst>
                  <a:ext uri="{FF2B5EF4-FFF2-40B4-BE49-F238E27FC236}">
                    <a16:creationId xmlns:a16="http://schemas.microsoft.com/office/drawing/2014/main" id="{DF006345-429E-7C84-E70C-C467A97C9A84}"/>
                  </a:ext>
                </a:extLst>
              </p:cNvPr>
              <p:cNvSpPr txBox="1"/>
              <p:nvPr/>
            </p:nvSpPr>
            <p:spPr>
              <a:xfrm>
                <a:off x="2076596" y="3872141"/>
                <a:ext cx="220045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📇</a:t>
                </a:r>
                <a:endParaRPr lang="en-US" sz="1200" dirty="0"/>
              </a:p>
            </p:txBody>
          </p:sp>
          <p:sp>
            <p:nvSpPr>
              <p:cNvPr id="191" name="Text 196">
                <a:extLst>
                  <a:ext uri="{FF2B5EF4-FFF2-40B4-BE49-F238E27FC236}">
                    <a16:creationId xmlns:a16="http://schemas.microsoft.com/office/drawing/2014/main" id="{BE8BC65E-4AFE-005B-46E3-3B9175F397F0}"/>
                  </a:ext>
                </a:extLst>
              </p:cNvPr>
              <p:cNvSpPr txBox="1"/>
              <p:nvPr/>
            </p:nvSpPr>
            <p:spPr>
              <a:xfrm>
                <a:off x="3682560" y="3879950"/>
                <a:ext cx="262220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🛠️</a:t>
                </a:r>
                <a:endParaRPr lang="en-US" sz="1200" dirty="0"/>
              </a:p>
            </p:txBody>
          </p:sp>
          <p:sp>
            <p:nvSpPr>
              <p:cNvPr id="192" name="Text 199">
                <a:extLst>
                  <a:ext uri="{FF2B5EF4-FFF2-40B4-BE49-F238E27FC236}">
                    <a16:creationId xmlns:a16="http://schemas.microsoft.com/office/drawing/2014/main" id="{744636BE-A40C-AFCE-44E0-0B26C3E1CBC6}"/>
                  </a:ext>
                </a:extLst>
              </p:cNvPr>
              <p:cNvSpPr txBox="1"/>
              <p:nvPr/>
            </p:nvSpPr>
            <p:spPr>
              <a:xfrm>
                <a:off x="5332146" y="3879950"/>
                <a:ext cx="220045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🧠</a:t>
                </a:r>
                <a:endParaRPr lang="en-US" sz="1200" dirty="0"/>
              </a:p>
            </p:txBody>
          </p:sp>
          <p:sp>
            <p:nvSpPr>
              <p:cNvPr id="193" name="Text 202">
                <a:extLst>
                  <a:ext uri="{FF2B5EF4-FFF2-40B4-BE49-F238E27FC236}">
                    <a16:creationId xmlns:a16="http://schemas.microsoft.com/office/drawing/2014/main" id="{7AA6BFA2-CF64-2C9D-C939-464A461B5144}"/>
                  </a:ext>
                </a:extLst>
              </p:cNvPr>
              <p:cNvSpPr txBox="1"/>
              <p:nvPr/>
            </p:nvSpPr>
            <p:spPr>
              <a:xfrm>
                <a:off x="6933415" y="3879950"/>
                <a:ext cx="220045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🌐 </a:t>
                </a:r>
                <a:endParaRPr lang="en-US" sz="1200" dirty="0"/>
              </a:p>
            </p:txBody>
          </p:sp>
          <p:sp>
            <p:nvSpPr>
              <p:cNvPr id="194" name="Text 208">
                <a:extLst>
                  <a:ext uri="{FF2B5EF4-FFF2-40B4-BE49-F238E27FC236}">
                    <a16:creationId xmlns:a16="http://schemas.microsoft.com/office/drawing/2014/main" id="{519FE129-B91A-E0A0-75C5-43F915806E28}"/>
                  </a:ext>
                </a:extLst>
              </p:cNvPr>
              <p:cNvSpPr txBox="1"/>
              <p:nvPr/>
            </p:nvSpPr>
            <p:spPr>
              <a:xfrm>
                <a:off x="8547337" y="3872141"/>
                <a:ext cx="220045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 dirty="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📋</a:t>
                </a:r>
                <a:endParaRPr lang="en-US" sz="1200" dirty="0"/>
              </a:p>
            </p:txBody>
          </p:sp>
          <p:sp>
            <p:nvSpPr>
              <p:cNvPr id="195" name="Text 211">
                <a:extLst>
                  <a:ext uri="{FF2B5EF4-FFF2-40B4-BE49-F238E27FC236}">
                    <a16:creationId xmlns:a16="http://schemas.microsoft.com/office/drawing/2014/main" id="{BBE58AED-DA44-A3DF-738C-7E7CA8F542F9}"/>
                  </a:ext>
                </a:extLst>
              </p:cNvPr>
              <p:cNvSpPr txBox="1"/>
              <p:nvPr/>
            </p:nvSpPr>
            <p:spPr>
              <a:xfrm>
                <a:off x="10169126" y="3879950"/>
                <a:ext cx="220045" cy="16140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r>
                  <a:rPr lang="en-US" sz="1200">
                    <a:solidFill>
                      <a:srgbClr val="000000"/>
                    </a:solidFill>
                    <a:ea typeface="Inter" pitchFamily="34" charset="-122"/>
                    <a:cs typeface="Inter" pitchFamily="34" charset="-120"/>
                  </a:rPr>
                  <a:t>📦</a:t>
                </a:r>
                <a:endParaRPr lang="en-US" sz="1200"/>
              </a:p>
            </p:txBody>
          </p: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827C4DCD-0CE7-2C20-D442-F55CE5C09B55}"/>
                  </a:ext>
                </a:extLst>
              </p:cNvPr>
              <p:cNvGrpSpPr/>
              <p:nvPr/>
            </p:nvGrpSpPr>
            <p:grpSpPr>
              <a:xfrm>
                <a:off x="10219002" y="5765755"/>
                <a:ext cx="1252850" cy="190016"/>
                <a:chOff x="10219002" y="5765755"/>
                <a:chExt cx="1252850" cy="190016"/>
              </a:xfrm>
            </p:grpSpPr>
            <p:sp>
              <p:nvSpPr>
                <p:cNvPr id="197" name="Shape 63">
                  <a:extLst>
                    <a:ext uri="{FF2B5EF4-FFF2-40B4-BE49-F238E27FC236}">
                      <a16:creationId xmlns:a16="http://schemas.microsoft.com/office/drawing/2014/main" id="{52B0C8ED-ED46-556D-3DB9-A8668C3CA083}"/>
                    </a:ext>
                  </a:extLst>
                </p:cNvPr>
                <p:cNvSpPr/>
                <p:nvPr/>
              </p:nvSpPr>
              <p:spPr>
                <a:xfrm>
                  <a:off x="10219002" y="5765755"/>
                  <a:ext cx="1252850" cy="171907"/>
                </a:xfrm>
                <a:prstGeom prst="roundRect">
                  <a:avLst>
                    <a:gd name="adj" fmla="val 11170"/>
                  </a:avLst>
                </a:prstGeom>
                <a:solidFill>
                  <a:srgbClr val="E6F2F4"/>
                </a:solidFill>
                <a:ln w="12700">
                  <a:solidFill>
                    <a:srgbClr val="FFFFFF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98" name="Text 143">
                  <a:extLst>
                    <a:ext uri="{FF2B5EF4-FFF2-40B4-BE49-F238E27FC236}">
                      <a16:creationId xmlns:a16="http://schemas.microsoft.com/office/drawing/2014/main" id="{20A5BDDB-C526-B6A2-F043-B8322A6D629A}"/>
                    </a:ext>
                  </a:extLst>
                </p:cNvPr>
                <p:cNvSpPr txBox="1"/>
                <p:nvPr/>
              </p:nvSpPr>
              <p:spPr>
                <a:xfrm>
                  <a:off x="10305907" y="5774720"/>
                  <a:ext cx="977906" cy="181051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ctr"/>
                <a:lstStyle/>
                <a:p>
                  <a:r>
                    <a:rPr lang="en-US" sz="800" b="1" dirty="0">
                      <a:solidFill>
                        <a:srgbClr val="0097AC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+ New</a:t>
                  </a:r>
                  <a:r>
                    <a:rPr lang="en-US" sz="800" dirty="0">
                      <a:solidFill>
                        <a:srgbClr val="9DC3C7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 </a:t>
                  </a:r>
                  <a:r>
                    <a:rPr lang="en-US" sz="800" dirty="0">
                      <a:solidFill>
                        <a:srgbClr val="0097AC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via IHUB / RHUB</a:t>
                  </a:r>
                  <a:endParaRPr lang="en-US" sz="800" dirty="0">
                    <a:solidFill>
                      <a:srgbClr val="0097AC"/>
                    </a:solidFill>
                  </a:endParaRPr>
                </a:p>
              </p:txBody>
            </p:sp>
          </p:grp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0BA211-68A0-48D6-9E7F-4E1EB4D31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/>
              <a:t>st</a:t>
            </a:r>
            <a:r>
              <a:rPr lang="en-US" dirty="0"/>
              <a:t>.com/</a:t>
            </a:r>
            <a:r>
              <a:rPr lang="en-US" dirty="0" err="1"/>
              <a:t>smartops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62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ST 2025 Q1 Aptos">
  <a:themeElements>
    <a:clrScheme name="UST Colors">
      <a:dk1>
        <a:srgbClr val="231F20"/>
      </a:dk1>
      <a:lt1>
        <a:srgbClr val="FFFFFF"/>
      </a:lt1>
      <a:dk2>
        <a:srgbClr val="006E74"/>
      </a:dk2>
      <a:lt2>
        <a:srgbClr val="ECECE1"/>
      </a:lt2>
      <a:accent1>
        <a:srgbClr val="0097AC"/>
      </a:accent1>
      <a:accent2>
        <a:srgbClr val="881E87"/>
      </a:accent2>
      <a:accent3>
        <a:srgbClr val="01B27C"/>
      </a:accent3>
      <a:accent4>
        <a:srgbClr val="003C51"/>
      </a:accent4>
      <a:accent5>
        <a:srgbClr val="7A7480"/>
      </a:accent5>
      <a:accent6>
        <a:srgbClr val="FC6A59"/>
      </a:accent6>
      <a:hlink>
        <a:srgbClr val="006E74"/>
      </a:hlink>
      <a:folHlink>
        <a:srgbClr val="006E74"/>
      </a:folHlink>
    </a:clrScheme>
    <a:fontScheme name="UST Template Aptos Light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UST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bg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bg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lnSpc>
            <a:spcPct val="100000"/>
          </a:lnSpc>
          <a:spcBef>
            <a:spcPts val="1200"/>
          </a:spcBef>
          <a:buSzPct val="100000"/>
          <a:buFont typeface="Arial" panose="020B0604020202020204" pitchFamily="34" charset="0"/>
          <a:buNone/>
          <a:defRPr sz="1800" dirty="0"/>
        </a:defPPr>
      </a:lstStyle>
    </a:txDef>
  </a:objectDefaults>
  <a:extraClrSchemeLst/>
  <a:custClrLst>
    <a:custClr name="Dark Teal">
      <a:srgbClr val="006E74"/>
    </a:custClr>
    <a:custClr name="Light Teal">
      <a:srgbClr val="0097AC"/>
    </a:custClr>
    <a:custClr name="Soft Black">
      <a:srgbClr val="231F20"/>
    </a:custClr>
    <a:custClr name="White">
      <a:srgbClr val="FFFFFF"/>
    </a:custClr>
    <a:custClr name="Purple">
      <a:srgbClr val="881E87"/>
    </a:custClr>
    <a:custClr name="Green">
      <a:srgbClr val="01B27C"/>
    </a:custClr>
    <a:custClr name="Petrol">
      <a:srgbClr val="003C51"/>
    </a:custClr>
    <a:custClr name="Dark Gray">
      <a:srgbClr val="7A7480"/>
    </a:custClr>
    <a:custClr name="Orange">
      <a:srgbClr val="FC6A59"/>
    </a:custClr>
    <a:custClr name="Dark Sand">
      <a:srgbClr val="DBD3BD"/>
    </a:custClr>
    <a:custClr name="Light Gray Wash">
      <a:srgbClr val="F2F7F8"/>
    </a:custClr>
    <a:custClr name="Mid Gray Wash">
      <a:srgbClr val="D7E0E3"/>
    </a:custClr>
    <a:custClr name="Dark Gray Wash">
      <a:srgbClr val="C2BCBE"/>
    </a:custClr>
    <a:custClr name="Sand">
      <a:srgbClr val="ECECE1"/>
    </a:custClr>
  </a:custClrLst>
  <a:extLst>
    <a:ext uri="{05A4C25C-085E-4340-85A3-A5531E510DB2}">
      <thm15:themeFamily xmlns:thm15="http://schemas.microsoft.com/office/thememl/2012/main" name="UST_PowerPoint_16x9_21Oct2020" id="{2FCFBAFE-DAA5-46BD-B8DC-04E9DEE71F3A}" vid="{90151F41-C9BF-4400-9ABD-DB0CFDBABE13}"/>
    </a:ext>
  </a:extLst>
</a:theme>
</file>

<file path=ppt/theme/theme3.xml><?xml version="1.0" encoding="utf-8"?>
<a:theme xmlns:a="http://schemas.openxmlformats.org/drawingml/2006/main" name="1_UST 2025 Q1 Aptos">
  <a:themeElements>
    <a:clrScheme name="UST Colors">
      <a:dk1>
        <a:srgbClr val="231F20"/>
      </a:dk1>
      <a:lt1>
        <a:srgbClr val="FFFFFF"/>
      </a:lt1>
      <a:dk2>
        <a:srgbClr val="006E74"/>
      </a:dk2>
      <a:lt2>
        <a:srgbClr val="ECECE1"/>
      </a:lt2>
      <a:accent1>
        <a:srgbClr val="0097AC"/>
      </a:accent1>
      <a:accent2>
        <a:srgbClr val="881E87"/>
      </a:accent2>
      <a:accent3>
        <a:srgbClr val="01B27C"/>
      </a:accent3>
      <a:accent4>
        <a:srgbClr val="003C51"/>
      </a:accent4>
      <a:accent5>
        <a:srgbClr val="7A7480"/>
      </a:accent5>
      <a:accent6>
        <a:srgbClr val="FC6A59"/>
      </a:accent6>
      <a:hlink>
        <a:srgbClr val="006E74"/>
      </a:hlink>
      <a:folHlink>
        <a:srgbClr val="006E74"/>
      </a:folHlink>
    </a:clrScheme>
    <a:fontScheme name="UST Template Aptos Light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UST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8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bg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bg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lnSpc>
            <a:spcPct val="100000"/>
          </a:lnSpc>
          <a:spcBef>
            <a:spcPts val="1200"/>
          </a:spcBef>
          <a:buSzPct val="100000"/>
          <a:buFont typeface="Arial" panose="020B0604020202020204" pitchFamily="34" charset="0"/>
          <a:buNone/>
          <a:defRPr sz="1800" dirty="0"/>
        </a:defPPr>
      </a:lstStyle>
    </a:txDef>
  </a:objectDefaults>
  <a:extraClrSchemeLst/>
  <a:custClrLst>
    <a:custClr name="Dark Teal">
      <a:srgbClr val="006E74"/>
    </a:custClr>
    <a:custClr name="Light Teal">
      <a:srgbClr val="0097AC"/>
    </a:custClr>
    <a:custClr name="Soft Black">
      <a:srgbClr val="231F20"/>
    </a:custClr>
    <a:custClr name="White">
      <a:srgbClr val="FFFFFF"/>
    </a:custClr>
    <a:custClr name="Purple">
      <a:srgbClr val="881E87"/>
    </a:custClr>
    <a:custClr name="Green">
      <a:srgbClr val="01B27C"/>
    </a:custClr>
    <a:custClr name="Petrol">
      <a:srgbClr val="003C51"/>
    </a:custClr>
    <a:custClr name="Dark Gray">
      <a:srgbClr val="7A7480"/>
    </a:custClr>
    <a:custClr name="Orange">
      <a:srgbClr val="FC6A59"/>
    </a:custClr>
    <a:custClr name="Dark Sand">
      <a:srgbClr val="DBD3BD"/>
    </a:custClr>
    <a:custClr name="Light Gray Wash">
      <a:srgbClr val="F2F7F8"/>
    </a:custClr>
    <a:custClr name="Mid Gray Wash">
      <a:srgbClr val="D7E0E3"/>
    </a:custClr>
    <a:custClr name="Dark Gray Wash">
      <a:srgbClr val="C2BCBE"/>
    </a:custClr>
    <a:custClr name="Sand">
      <a:srgbClr val="ECECE1"/>
    </a:custClr>
  </a:custClrLst>
  <a:extLst>
    <a:ext uri="{05A4C25C-085E-4340-85A3-A5531E510DB2}">
      <thm15:themeFamily xmlns:thm15="http://schemas.microsoft.com/office/thememl/2012/main" name="UST_PowerPoint_16x9_21Oct2020" id="{2FCFBAFE-DAA5-46BD-B8DC-04E9DEE71F3A}" vid="{90151F41-C9BF-4400-9ABD-DB0CFDBABE1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2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3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4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5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6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7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8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9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10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ppt/theme/themeOverride11.xml><?xml version="1.0" encoding="utf-8"?>
<a:themeOverride xmlns:a="http://schemas.openxmlformats.org/drawingml/2006/main">
  <a:clrScheme name="UST Colors">
    <a:dk1>
      <a:srgbClr val="231F20"/>
    </a:dk1>
    <a:lt1>
      <a:srgbClr val="FFFFFF"/>
    </a:lt1>
    <a:dk2>
      <a:srgbClr val="006E74"/>
    </a:dk2>
    <a:lt2>
      <a:srgbClr val="ECECE1"/>
    </a:lt2>
    <a:accent1>
      <a:srgbClr val="0097AC"/>
    </a:accent1>
    <a:accent2>
      <a:srgbClr val="881E87"/>
    </a:accent2>
    <a:accent3>
      <a:srgbClr val="01B27C"/>
    </a:accent3>
    <a:accent4>
      <a:srgbClr val="003C51"/>
    </a:accent4>
    <a:accent5>
      <a:srgbClr val="7A7480"/>
    </a:accent5>
    <a:accent6>
      <a:srgbClr val="FC6A59"/>
    </a:accent6>
    <a:hlink>
      <a:srgbClr val="006E74"/>
    </a:hlink>
    <a:folHlink>
      <a:srgbClr val="006E7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1520</Words>
  <Application>Microsoft Office PowerPoint</Application>
  <PresentationFormat>Widescreen</PresentationFormat>
  <Paragraphs>397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Light</vt:lpstr>
      <vt:lpstr>Arial</vt:lpstr>
      <vt:lpstr>Calibri</vt:lpstr>
      <vt:lpstr>Cambria</vt:lpstr>
      <vt:lpstr>Inter</vt:lpstr>
      <vt:lpstr>Office Theme</vt:lpstr>
      <vt:lpstr>UST 2025 Q1 Aptos</vt:lpstr>
      <vt:lpstr>1_UST 2025 Q1 Aptos</vt:lpstr>
      <vt:lpstr>SmartOps TelcoOps - DarkNOC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Sandeep Ramkumar(UST,IN)</cp:lastModifiedBy>
  <cp:revision>1</cp:revision>
  <dcterms:created xsi:type="dcterms:W3CDTF">2026-08-26T04:07:05Z</dcterms:created>
  <dcterms:modified xsi:type="dcterms:W3CDTF">2026-08-26T04:20:10Z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2026-08-26T04:10:11Z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310e8d77-f4bb-4871-9205-f7797740f52d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